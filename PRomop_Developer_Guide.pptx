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6" r:id="rId17"/>
    <p:sldId id="267" r:id="rId18"/>
    <p:sldId id="268" r:id="rId19"/>
    <p:sldId id="269" r:id="rId20"/>
    <p:sldId id="270" r:id="rId21"/>
    <p:sldId id="271" r:id="rId22"/>
    <p:sldId id="282" r:id="rId16"/>
    <p:sldId id="283" r:id="rId33"/>
    <p:sldId id="284" r:id="rId34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26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7.xml"/><Relationship Id="rId34" Type="http://schemas.openxmlformats.org/officeDocument/2006/relationships/slide" Target="slides/slide2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bg>
    <p:bgPr>
      <a:solidFill>
        <a:srgbClr val="1A1A2E"/>
      </a:solidFill>
      <a:effectLst/>
    </p:bgPr>
  </p:bg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64592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FFFFFF"/>
                </a:solidFill>
                <a:latin typeface="Calibri"/>
              </a:defRPr>
            </a:pPr>
            <a:r>
              <a:t>PRomop Developer Guide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92608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AACCEE"/>
                </a:solidFill>
                <a:latin typeface="Calibri"/>
              </a:defRPr>
            </a:pPr>
            <a:r>
              <a:t>Populating and Using Clinical Oncology Data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3840480"/>
            <a:ext cx="10515600" cy="25400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43891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BBBBBB"/>
                </a:solidFill>
                <a:latin typeface="Calibri"/>
              </a:defRPr>
            </a:pPr>
            <a:r>
              <a:t>OMOP CDM  |  FHIR R4  |  Django + React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bg>
    <p:bgPr>
      <a:solidFill>
        <a:srgbClr val="1A1A2E"/>
      </a:solidFill>
      <a:effectLst/>
    </p:bgPr>
  </p:bg>
  <p:cSld>
    <p:spTree>
      <p:nvGrpSpPr>
        <p:cNvPr id="1" name=""/>
        <p:cNvGrpSpPr/>
        <p:nvPr/>
      </p:nvGrpSpPr>
      <p:grpSpPr/>
      <p:sp>
        <p:nvSpPr>
          <p:cNvPr id="2" name="TB2"/>
          <p:cNvSpPr txBox="1"/>
          <p:nvPr/>
        </p:nvSpPr>
        <p:spPr>
          <a:xfrm>
            <a:off x="731520" y="3657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096D6"/>
                </a:solidFill>
                <a:latin typeface="Calibri"/>
              </a:defRPr>
            </a:pPr>
            <a:r>
              <a:rPr lang="en-US" sz="3200">
                <a:solidFill>
                  <a:srgbClr val="0096D6"/>
                </a:solidFill>
                <a:latin typeface="Calibri"/>
              </a:rPr>
              <a:t>Why Build PRomop?</a:t>
            </a:r>
          </a:p>
        </p:txBody>
      </p:sp>
      <p:sp>
        <p:nvSpPr>
          <p:cNvPr id="3" name="TB3"/>
          <p:cNvSpPr txBox="1"/>
          <p:nvPr/>
        </p:nvSpPr>
        <p:spPr>
          <a:xfrm>
            <a:off x="731520" y="1280160"/>
            <a:ext cx="100584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2000" b="1">
                <a:solidFill>
                  <a:srgbClr val="0096D6"/>
                </a:solidFill>
                <a:latin typeface="Calibri"/>
              </a:defRPr>
            </a:pPr>
            <a:r>
              <a:rPr lang="en-US" sz="2000">
                <a:solidFill>
                  <a:srgbClr val="0096D6"/>
                </a:solidFill>
                <a:latin typeface="Calibri"/>
              </a:rPr>
              <a:t>The Gap in Health Data Infrastructure</a:t>
            </a:r>
          </a:p>
          <a:p>
            <a:pPr>
              <a:spcAft>
                <a:spcPts val="200"/>
              </a:spcAft>
              <a:defRPr sz="1600">
                <a:solidFill>
                  <a:srgbClr val="E8E8E8"/>
                </a:solidFill>
                <a:latin typeface="Calibri"/>
              </a:defRPr>
            </a:pPr>
            <a:r>
              <a:rPr lang="en-US" sz="1600">
                <a:solidFill>
                  <a:srgbClr val="E8E8E8"/>
                </a:solidFill>
                <a:latin typeface="Calibri"/>
              </a:rPr>
              <a:t>Three approaches exist today — none serve the individual patient:</a:t>
            </a:r>
          </a:p>
          <a:p>
            <a:pPr>
              <a:spcBef>
                <a:spcPts val="400"/>
              </a:spcBef>
              <a:spcAft>
                <a:spcPts val="200"/>
              </a:spcAft>
              <a:defRPr sz="1500">
                <a:solidFill>
                  <a:srgbClr val="E8E8E8"/>
                </a:solidFill>
                <a:latin typeface="Calibri"/>
              </a:defRPr>
            </a:pPr>
            <a:r>
              <a:rPr lang="en-US" sz="1500" b="1">
                <a:solidFill>
                  <a:srgbClr val="0096D6"/>
                </a:solidFill>
                <a:latin typeface="Calibri"/>
              </a:rPr>
              <a:t>•  OHDSI research data lakes  —  </a:t>
            </a:r>
            <a:r>
              <a:rPr lang="en-US" sz="1500">
                <a:solidFill>
                  <a:srgbClr val="E8E8E8"/>
                </a:solidFill>
                <a:latin typeface="Calibri"/>
              </a:rPr>
              <a:t>optimized for population studies across institutions; deliberately exclude columns needed for individual clinical service</a:t>
            </a:r>
          </a:p>
          <a:p>
            <a:pPr>
              <a:spcBef>
                <a:spcPts val="400"/>
              </a:spcBef>
              <a:spcAft>
                <a:spcPts val="200"/>
              </a:spcAft>
              <a:defRPr sz="1500">
                <a:solidFill>
                  <a:srgbClr val="E8E8E8"/>
                </a:solidFill>
                <a:latin typeface="Calibri"/>
              </a:defRPr>
            </a:pPr>
            <a:r>
              <a:rPr lang="en-US" sz="1500" b="1">
                <a:solidFill>
                  <a:srgbClr val="0096D6"/>
                </a:solidFill>
                <a:latin typeface="Calibri"/>
              </a:rPr>
              <a:t>•  EHR-tethered PHR add-ons  —  </a:t>
            </a:r>
            <a:r>
              <a:rPr lang="en-US" sz="1500">
                <a:solidFill>
                  <a:srgbClr val="E8E8E8"/>
                </a:solidFill>
                <a:latin typeface="Calibri"/>
              </a:rPr>
              <a:t>provider-controlled portals; patients can view but don't own or control their data</a:t>
            </a:r>
          </a:p>
          <a:p>
            <a:pPr>
              <a:spcBef>
                <a:spcPts val="400"/>
              </a:spcBef>
              <a:spcAft>
                <a:spcPts val="200"/>
              </a:spcAft>
              <a:defRPr sz="1500">
                <a:solidFill>
                  <a:srgbClr val="E8E8E8"/>
                </a:solidFill>
                <a:latin typeface="Calibri"/>
              </a:defRPr>
            </a:pPr>
            <a:r>
              <a:rPr lang="en-US" sz="1500" b="1">
                <a:solidFill>
                  <a:srgbClr val="0096D6"/>
                </a:solidFill>
                <a:latin typeface="Calibri"/>
              </a:rPr>
              <a:t>•  Closed commercial platforms  —  </a:t>
            </a:r>
            <a:r>
              <a:rPr lang="en-US" sz="1500">
                <a:solidFill>
                  <a:srgbClr val="E8E8E8"/>
                </a:solidFill>
                <a:latin typeface="Calibri"/>
              </a:rPr>
              <a:t>proprietary, limited interoperability, no guaranteed data portability</a:t>
            </a:r>
          </a:p>
          <a:p>
            <a:pPr>
              <a:spcBef>
                <a:spcPts val="800"/>
              </a:spcBef>
              <a:spcAft>
                <a:spcPts val="200"/>
              </a:spcAft>
              <a:defRPr sz="1800" b="1">
                <a:solidFill>
                  <a:srgbClr val="0096D6"/>
                </a:solidFill>
                <a:latin typeface="Calibri"/>
              </a:defRPr>
            </a:pPr>
            <a:r>
              <a:rPr lang="en-US" sz="1800">
                <a:solidFill>
                  <a:srgbClr val="0096D6"/>
                </a:solidFill>
                <a:latin typeface="Calibri"/>
              </a:rPr>
              <a:t>What's missing:</a:t>
            </a:r>
          </a:p>
          <a:p>
            <a:pPr>
              <a:spcBef>
                <a:spcPts val="200"/>
              </a:spcBef>
              <a:defRPr sz="1600">
                <a:solidFill>
                  <a:srgbClr val="E8E8E8"/>
                </a:solidFill>
                <a:latin typeface="Calibri"/>
              </a:defRPr>
            </a:pPr>
            <a:r>
              <a:rPr lang="en-US" sz="1600">
                <a:solidFill>
                  <a:srgbClr val="E8E8E8"/>
                </a:solidFill>
                <a:latin typeface="Calibri"/>
              </a:rPr>
              <a:t>A </a:t>
            </a:r>
            <a:r>
              <a:rPr lang="en-US" sz="1600" b="1">
                <a:solidFill>
                  <a:srgbClr val="4EC9B0"/>
                </a:solidFill>
                <a:latin typeface="Calibri"/>
              </a:rPr>
              <a:t>patient-custodied</a:t>
            </a:r>
            <a:r>
              <a:rPr lang="en-US" sz="1600">
                <a:solidFill>
                  <a:srgbClr val="E8E8E8"/>
                </a:solidFill>
                <a:latin typeface="Calibri"/>
              </a:rPr>
              <a:t> longitudinal health record that integrates clinical data, wearables, and patient-reported outcomes — built on open standards, with guaranteed portability.</a:t>
            </a:r>
          </a:p>
          <a:p>
            <a:pPr>
              <a:spcBef>
                <a:spcPts val="600"/>
              </a:spcBef>
              <a:defRPr sz="1400" i="1">
                <a:solidFill>
                  <a:srgbClr val="999999"/>
                </a:solidFill>
                <a:latin typeface="Calibri"/>
              </a:defRPr>
            </a:pPr>
            <a:r>
              <a:rPr lang="en-US" sz="1400" i="1">
                <a:solidFill>
                  <a:srgbClr val="999999"/>
                </a:solidFill>
                <a:latin typeface="Calibri"/>
              </a:rPr>
              <a:t>Validated with 14,000+ oncology patients and a decade of longitudinal follow-up at HealthTree Foundation.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bg>
    <p:bgPr>
      <a:solidFill>
        <a:srgbClr val="1A1A2E"/>
      </a:solidFill>
      <a:effectLst/>
    </p:bgPr>
  </p:bg>
  <p:cSld>
    <p:spTree>
      <p:nvGrpSpPr>
        <p:cNvPr id="1" name=""/>
        <p:cNvGrpSpPr/>
        <p:nvPr/>
      </p:nvGrpSpPr>
      <p:grpSpPr/>
      <p:sp>
        <p:nvSpPr>
          <p:cNvPr id="2" name="TB2"/>
          <p:cNvSpPr txBox="1"/>
          <p:nvPr/>
        </p:nvSpPr>
        <p:spPr>
          <a:xfrm>
            <a:off x="731520" y="3657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096D6"/>
                </a:solidFill>
                <a:latin typeface="Calibri"/>
              </a:defRPr>
            </a:pPr>
            <a:r>
              <a:rPr lang="en-US" sz="3200">
                <a:solidFill>
                  <a:srgbClr val="0096D6"/>
                </a:solidFill>
                <a:latin typeface="Calibri"/>
              </a:rPr>
              <a:t>PRomop in the PHRAME Stack</a:t>
            </a:r>
          </a:p>
        </p:txBody>
      </p:sp>
      <p:sp>
        <p:nvSpPr>
          <p:cNvPr id="3" name="TB3"/>
          <p:cNvSpPr txBox="1"/>
          <p:nvPr/>
        </p:nvSpPr>
        <p:spPr>
          <a:xfrm>
            <a:off x="731520" y="10972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i="1">
                <a:solidFill>
                  <a:srgbClr val="999999"/>
                </a:solidFill>
                <a:latin typeface="Calibri"/>
              </a:defRPr>
            </a:pPr>
            <a:r>
              <a:rPr lang="en-US" sz="1400" i="1">
                <a:solidFill>
                  <a:srgbClr val="999999"/>
                </a:solidFill>
                <a:latin typeface="Calibri"/>
              </a:rPr>
              <a:t>PHRAME  =  Personal Health Record Architecture for Modular Extension</a:t>
            </a:r>
          </a:p>
        </p:txBody>
      </p:sp>
      <p:sp>
        <p:nvSpPr>
          <p:cNvPr id="10" name="T10"/>
          <p:cNvSpPr/>
          <p:nvPr/>
        </p:nvSpPr>
        <p:spPr>
          <a:xfrm>
            <a:off x="731520" y="1554480"/>
            <a:ext cx="10515600" cy="1097280"/>
          </a:xfrm>
          <a:prstGeom prst="roundRect">
            <a:avLst/>
          </a:prstGeom>
          <a:solidFill>
            <a:srgbClr val="0A3D62"/>
          </a:solidFill>
          <a:ln w="12700">
            <a:solidFill>
              <a:srgbClr val="2C3E50"/>
            </a:solidFill>
          </a:ln>
        </p:spPr>
        <p:txBody>
          <a:bodyPr wrap="square" lIns="182880" tIns="91440" rIns="182880" bIns="91440"/>
          <a:lstStyle/>
          <a:p>
            <a:pPr>
              <a:defRPr sz="1600" b="1">
                <a:solidFill>
                  <a:srgbClr val="0096D6"/>
                </a:solidFill>
                <a:latin typeface="Calibri"/>
              </a:defRPr>
            </a:pPr>
            <a:r>
              <a:rPr lang="en-US" sz="1600" b="1">
                <a:solidFill>
                  <a:srgbClr val="0096D6"/>
                </a:solidFill>
                <a:latin typeface="Calibri"/>
              </a:rPr>
              <a:t>SERVE    </a:t>
            </a:r>
            <a:r>
              <a:rPr lang="en-US" sz="1400">
                <a:solidFill>
                  <a:srgbClr val="999999"/>
                </a:solidFill>
                <a:latin typeface="Calibri"/>
              </a:rPr>
              <a:t>Applications that consume patient data</a:t>
            </a:r>
          </a:p>
          <a:p>
            <a:pPr>
              <a:spcBef>
                <a:spcPts val="200"/>
              </a:spcBef>
              <a:defRPr sz="1200">
                <a:solidFill>
                  <a:srgbClr val="999999"/>
                </a:solidFill>
                <a:latin typeface="Calibri"/>
              </a:defRPr>
            </a:pPr>
            <a:r>
              <a:rPr lang="en-US" sz="1200">
                <a:solidFill>
                  <a:srgbClr val="999999"/>
                </a:solidFill>
                <a:latin typeface="Calibri"/>
              </a:rPr>
              <a:t>EXACT (trial matching)   |   SoC Service (decision support)   |   PRism (analytics)   |   Patient Portal</a:t>
            </a:r>
          </a:p>
        </p:txBody>
      </p:sp>
      <p:sp>
        <p:nvSpPr>
          <p:cNvPr id="11" name="T11"/>
          <p:cNvSpPr/>
          <p:nvPr/>
        </p:nvSpPr>
        <p:spPr>
          <a:xfrm>
            <a:off x="731520" y="2743200"/>
            <a:ext cx="10515600" cy="1097280"/>
          </a:xfrm>
          <a:prstGeom prst="roundRect">
            <a:avLst/>
          </a:prstGeom>
          <a:solidFill>
            <a:srgbClr val="0D4F8B"/>
          </a:solidFill>
          <a:ln w="28575">
            <a:solidFill>
              <a:srgbClr val="0096D6"/>
            </a:solidFill>
          </a:ln>
        </p:spPr>
        <p:txBody>
          <a:bodyPr wrap="square" lIns="182880" tIns="91440" rIns="182880" bIns="91440"/>
          <a:lstStyle/>
          <a:p>
            <a:pPr>
              <a:defRPr sz="1800" b="1">
                <a:solidFill>
                  <a:srgbClr val="4EC9B0"/>
                </a:solidFill>
                <a:latin typeface="Calibri"/>
              </a:defRPr>
            </a:pPr>
            <a:r>
              <a:rPr lang="en-US" sz="1800" b="1">
                <a:solidFill>
                  <a:srgbClr val="4EC9B0"/>
                </a:solidFill>
                <a:latin typeface="Calibri"/>
              </a:rPr>
              <a:t>▶  STORE    </a:t>
            </a:r>
            <a:r>
              <a:rPr lang="en-US" sz="1400">
                <a:solidFill>
                  <a:srgbClr val="E8E8E8"/>
                </a:solidFill>
                <a:latin typeface="Calibri"/>
              </a:rPr>
              <a:t>PRomop — the longitudinal patient store</a:t>
            </a:r>
          </a:p>
          <a:p>
            <a:pPr>
              <a:spcBef>
                <a:spcPts val="200"/>
              </a:spcBef>
              <a:defRPr sz="1200">
                <a:solidFill>
                  <a:srgbClr val="999999"/>
                </a:solidFill>
                <a:latin typeface="Calibri"/>
              </a:defRPr>
            </a:pPr>
            <a:r>
              <a:rPr lang="en-US" sz="1200">
                <a:solidFill>
                  <a:srgbClr val="999999"/>
                </a:solidFill>
                <a:latin typeface="Calibri"/>
              </a:rPr>
              <a:t>OMOP CDM v5.4   |   Django + DRF   |   PostgreSQL   |   Derived read model   |   Bulk upsert API</a:t>
            </a:r>
          </a:p>
        </p:txBody>
      </p:sp>
      <p:sp>
        <p:nvSpPr>
          <p:cNvPr id="12" name="T12"/>
          <p:cNvSpPr/>
          <p:nvPr/>
        </p:nvSpPr>
        <p:spPr>
          <a:xfrm>
            <a:off x="731520" y="3931920"/>
            <a:ext cx="10515600" cy="1097280"/>
          </a:xfrm>
          <a:prstGeom prst="roundRect">
            <a:avLst/>
          </a:prstGeom>
          <a:solidFill>
            <a:srgbClr val="0A3D62"/>
          </a:solidFill>
          <a:ln w="12700">
            <a:solidFill>
              <a:srgbClr val="2C3E50"/>
            </a:solidFill>
          </a:ln>
        </p:spPr>
        <p:txBody>
          <a:bodyPr wrap="square" lIns="182880" tIns="91440" rIns="182880" bIns="91440"/>
          <a:lstStyle/>
          <a:p>
            <a:pPr>
              <a:defRPr sz="1600" b="1">
                <a:solidFill>
                  <a:srgbClr val="0096D6"/>
                </a:solidFill>
                <a:latin typeface="Calibri"/>
              </a:defRPr>
            </a:pPr>
            <a:r>
              <a:rPr lang="en-US" sz="1600" b="1">
                <a:solidFill>
                  <a:srgbClr val="0096D6"/>
                </a:solidFill>
                <a:latin typeface="Calibri"/>
              </a:rPr>
              <a:t>ETL    </a:t>
            </a:r>
            <a:r>
              <a:rPr lang="en-US" sz="1400">
                <a:solidFill>
                  <a:srgbClr val="999999"/>
                </a:solidFill>
                <a:latin typeface="Calibri"/>
              </a:rPr>
              <a:t>Transform and reconcile incoming data</a:t>
            </a:r>
          </a:p>
          <a:p>
            <a:pPr>
              <a:spcBef>
                <a:spcPts val="200"/>
              </a:spcBef>
              <a:defRPr sz="1200">
                <a:solidFill>
                  <a:srgbClr val="999999"/>
                </a:solidFill>
                <a:latin typeface="Calibri"/>
              </a:defRPr>
            </a:pPr>
            <a:r>
              <a:rPr lang="en-US" sz="1200">
                <a:solidFill>
                  <a:srgbClr val="999999"/>
                </a:solidFill>
                <a:latin typeface="Calibri"/>
              </a:rPr>
              <a:t>PRofile (FHIR characterization)   |   PRogram (vocab mapping)   |   PResolution (conflict adjudication)</a:t>
            </a:r>
          </a:p>
        </p:txBody>
      </p:sp>
      <p:sp>
        <p:nvSpPr>
          <p:cNvPr id="13" name="T13"/>
          <p:cNvSpPr/>
          <p:nvPr/>
        </p:nvSpPr>
        <p:spPr>
          <a:xfrm>
            <a:off x="731520" y="5120640"/>
            <a:ext cx="10515600" cy="1097280"/>
          </a:xfrm>
          <a:prstGeom prst="roundRect">
            <a:avLst/>
          </a:prstGeom>
          <a:solidFill>
            <a:srgbClr val="0A3D62"/>
          </a:solidFill>
          <a:ln w="12700">
            <a:solidFill>
              <a:srgbClr val="2C3E50"/>
            </a:solidFill>
          </a:ln>
        </p:spPr>
        <p:txBody>
          <a:bodyPr wrap="square" lIns="182880" tIns="91440" rIns="182880" bIns="91440"/>
          <a:lstStyle/>
          <a:p>
            <a:pPr>
              <a:defRPr sz="1600" b="1">
                <a:solidFill>
                  <a:srgbClr val="0096D6"/>
                </a:solidFill>
                <a:latin typeface="Calibri"/>
              </a:defRPr>
            </a:pPr>
            <a:r>
              <a:rPr lang="en-US" sz="1600" b="1">
                <a:solidFill>
                  <a:srgbClr val="0096D6"/>
                </a:solidFill>
                <a:latin typeface="Calibri"/>
              </a:rPr>
              <a:t>INGEST    </a:t>
            </a:r>
            <a:r>
              <a:rPr lang="en-US" sz="1400">
                <a:solidFill>
                  <a:srgbClr val="999999"/>
                </a:solidFill>
                <a:latin typeface="Calibri"/>
              </a:rPr>
              <a:t>Accept data from any source</a:t>
            </a:r>
          </a:p>
          <a:p>
            <a:pPr>
              <a:spcBef>
                <a:spcPts val="200"/>
              </a:spcBef>
              <a:defRPr sz="1200">
                <a:solidFill>
                  <a:srgbClr val="999999"/>
                </a:solidFill>
                <a:latin typeface="Calibri"/>
              </a:defRPr>
            </a:pPr>
            <a:r>
              <a:rPr lang="en-US" sz="1200">
                <a:solidFill>
                  <a:srgbClr val="999999"/>
                </a:solidFill>
                <a:latin typeface="Calibri"/>
              </a:rPr>
              <a:t>FHIR R4 Bundles   |   PDF / paper (OCR)   |   Wearables (Apple Health, Garmin)   |   Patient-reported</a:t>
            </a:r>
          </a:p>
        </p:txBody>
      </p:sp>
      <p:sp>
        <p:nvSpPr>
          <p:cNvPr id="50" name="TB50"/>
          <p:cNvSpPr txBox="1"/>
          <p:nvPr/>
        </p:nvSpPr>
        <p:spPr>
          <a:xfrm>
            <a:off x="731520" y="630936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i="1">
                <a:solidFill>
                  <a:srgbClr val="999999"/>
                </a:solidFill>
                <a:latin typeface="Calibri"/>
              </a:defRPr>
            </a:pPr>
            <a:r>
              <a:rPr lang="en-US" sz="1100" i="1">
                <a:solidFill>
                  <a:srgbClr val="999999"/>
                </a:solidFill>
                <a:latin typeface="Calibri"/>
              </a:rPr>
              <a:t>All components Apache 2.0   |   phrame.org   |   github.com/healthkey-ai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bg>
    <p:bgPr>
      <a:solidFill>
        <a:srgbClr val="1A1A2E"/>
      </a:solidFill>
      <a:effectLst/>
    </p:bgPr>
  </p:bg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096D6"/>
                </a:solidFill>
                <a:latin typeface="Calibri"/>
              </a:defRPr>
            </a:pPr>
            <a:r>
              <a:t>What is PRomop?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28016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400"/>
              </a:spcAft>
              <a:defRPr sz="1800">
                <a:solidFill>
                  <a:srgbClr val="E8E8E8"/>
                </a:solidFill>
                <a:latin typeface="Calibri"/>
              </a:defRPr>
            </a:pPr>
            <a:r>
              <a:t>Clinical oncology patient data platform</a:t>
            </a:r>
          </a:p>
          <a:p>
            <a:pPr>
              <a:spcBef>
                <a:spcPts val="600"/>
              </a:spcBef>
              <a:spcAft>
                <a:spcPts val="400"/>
              </a:spcAft>
              <a:defRPr sz="1800">
                <a:solidFill>
                  <a:srgbClr val="E8E8E8"/>
                </a:solidFill>
                <a:latin typeface="Calibri"/>
              </a:defRPr>
            </a:pPr>
            <a:r>
              <a:t>Stores data in OMOP CDM v5.4 (standard clinical schema)</a:t>
            </a:r>
          </a:p>
          <a:p>
            <a:pPr>
              <a:spcBef>
                <a:spcPts val="600"/>
              </a:spcBef>
              <a:spcAft>
                <a:spcPts val="400"/>
              </a:spcAft>
              <a:defRPr sz="1800">
                <a:solidFill>
                  <a:srgbClr val="E8E8E8"/>
                </a:solidFill>
                <a:latin typeface="Calibri"/>
              </a:defRPr>
            </a:pPr>
            <a:r>
              <a:t>Accepts FHIR R4 Bundles as the primary ingest format</a:t>
            </a:r>
          </a:p>
          <a:p>
            <a:pPr>
              <a:spcBef>
                <a:spcPts val="600"/>
              </a:spcBef>
              <a:spcAft>
                <a:spcPts val="400"/>
              </a:spcAft>
              <a:defRPr sz="1800">
                <a:solidFill>
                  <a:srgbClr val="E8E8E8"/>
                </a:solidFill>
                <a:latin typeface="Calibri"/>
              </a:defRPr>
            </a:pPr>
            <a:r>
              <a:t>Django 5 + DRF backend, React 18 + TypeScript frontend</a:t>
            </a:r>
          </a:p>
          <a:p>
            <a:pPr>
              <a:spcBef>
                <a:spcPts val="600"/>
              </a:spcBef>
              <a:spcAft>
                <a:spcPts val="400"/>
              </a:spcAft>
              <a:defRPr sz="1800">
                <a:solidFill>
                  <a:srgbClr val="E8E8E8"/>
                </a:solidFill>
                <a:latin typeface="Calibri"/>
              </a:defRPr>
            </a:pPr>
            <a:r>
              <a:t>PostgreSQL for all persistence</a:t>
            </a:r>
          </a:p>
          <a:p>
            <a:pPr>
              <a:spcBef>
                <a:spcPts val="600"/>
              </a:spcBef>
              <a:spcAft>
                <a:spcPts val="400"/>
              </a:spcAft>
              <a:defRPr sz="1800">
                <a:solidFill>
                  <a:srgbClr val="E8E8E8"/>
                </a:solidFill>
                <a:latin typeface="Calibri"/>
              </a:defRPr>
            </a:pPr>
            <a:r>
              <a:t>Deployed to Render (backend) and GCP Cloud Run (federation)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0" y="1280160"/>
            <a:ext cx="5029200" cy="4389120"/>
          </a:xfrm>
          <a:prstGeom prst="roundRect">
            <a:avLst/>
          </a:prstGeom>
          <a:solidFill>
            <a:srgbClr val="2D2D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spcBef>
                <a:spcPts val="0"/>
              </a:spcBef>
              <a:spcAft>
                <a:spcPts val="0"/>
              </a:spcAft>
              <a:defRPr sz="1300">
                <a:solidFill>
                  <a:srgbClr val="D4D4D4"/>
                </a:solidFill>
                <a:latin typeface="Courier New"/>
              </a:defRPr>
            </a:pPr>
            <a:r>
              <a:t>          Data Flow Overview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300">
                <a:solidFill>
                  <a:srgbClr val="D4D4D4"/>
                </a:solidFill>
                <a:latin typeface="Courier New"/>
              </a:defRPr>
            </a:pPr>
          </a:p>
          <a:p>
            <a:pPr>
              <a:spcBef>
                <a:spcPts val="0"/>
              </a:spcBef>
              <a:spcAft>
                <a:spcPts val="0"/>
              </a:spcAft>
              <a:defRPr sz="1300">
                <a:solidFill>
                  <a:srgbClr val="D4D4D4"/>
                </a:solidFill>
                <a:latin typeface="Courier New"/>
              </a:defRPr>
            </a:pPr>
            <a:r>
              <a:t>  FHIR Bundle (.json)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300">
                <a:solidFill>
                  <a:srgbClr val="D4D4D4"/>
                </a:solidFill>
                <a:latin typeface="Courier New"/>
              </a:defRPr>
            </a:pPr>
            <a:r>
              <a:t>        |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300">
                <a:solidFill>
                  <a:srgbClr val="D4D4D4"/>
                </a:solidFill>
                <a:latin typeface="Courier New"/>
              </a:defRPr>
            </a:pPr>
            <a:r>
              <a:t>        v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300">
                <a:solidFill>
                  <a:srgbClr val="D4D4D4"/>
                </a:solidFill>
                <a:latin typeface="Courier New"/>
              </a:defRPr>
            </a:pPr>
            <a:r>
              <a:t>  Upload Endpoint (/api/v1/.../upload_fhir)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300">
                <a:solidFill>
                  <a:srgbClr val="D4D4D4"/>
                </a:solidFill>
                <a:latin typeface="Courier New"/>
              </a:defRPr>
            </a:pPr>
            <a:r>
              <a:t>        |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300">
                <a:solidFill>
                  <a:srgbClr val="D4D4D4"/>
                </a:solidFill>
                <a:latin typeface="Courier New"/>
              </a:defRPr>
            </a:pPr>
            <a:r>
              <a:t>        v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300">
                <a:solidFill>
                  <a:srgbClr val="D4D4D4"/>
                </a:solidFill>
                <a:latin typeface="Courier New"/>
              </a:defRPr>
            </a:pPr>
            <a:r>
              <a:t>  OMOP Tables (Person, Measurement,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300">
                <a:solidFill>
                  <a:srgbClr val="D4D4D4"/>
                </a:solidFill>
                <a:latin typeface="Courier New"/>
              </a:defRPr>
            </a:pPr>
            <a:r>
              <a:t>    ConditionOccurrence, DrugExposure,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300">
                <a:solidFill>
                  <a:srgbClr val="D4D4D4"/>
                </a:solidFill>
                <a:latin typeface="Courier New"/>
              </a:defRPr>
            </a:pPr>
            <a:r>
              <a:t>    Observation, ProcedureOccurrence)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300">
                <a:solidFill>
                  <a:srgbClr val="D4D4D4"/>
                </a:solidFill>
                <a:latin typeface="Courier New"/>
              </a:defRPr>
            </a:pPr>
            <a:r>
              <a:t>        |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300">
                <a:solidFill>
                  <a:srgbClr val="D4D4D4"/>
                </a:solidFill>
                <a:latin typeface="Courier New"/>
              </a:defRPr>
            </a:pPr>
            <a:r>
              <a:t>        v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300">
                <a:solidFill>
                  <a:srgbClr val="D4D4D4"/>
                </a:solidFill>
                <a:latin typeface="Courier New"/>
              </a:defRPr>
            </a:pPr>
            <a:r>
              <a:t>  refresh_patient_record(person)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300">
                <a:solidFill>
                  <a:srgbClr val="D4D4D4"/>
                </a:solidFill>
                <a:latin typeface="Courier New"/>
              </a:defRPr>
            </a:pPr>
            <a:r>
              <a:t>        |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300">
                <a:solidFill>
                  <a:srgbClr val="D4D4D4"/>
                </a:solidFill>
                <a:latin typeface="Courier New"/>
              </a:defRPr>
            </a:pPr>
            <a:r>
              <a:t>        v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300">
                <a:solidFill>
                  <a:srgbClr val="D4D4D4"/>
                </a:solidFill>
                <a:latin typeface="Courier New"/>
              </a:defRPr>
            </a:pPr>
            <a:r>
              <a:t>  PatientRecord (derived read model)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300">
                <a:solidFill>
                  <a:srgbClr val="D4D4D4"/>
                </a:solidFill>
                <a:latin typeface="Courier New"/>
              </a:defRPr>
            </a:pPr>
            <a:r>
              <a:t>        |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300">
                <a:solidFill>
                  <a:srgbClr val="D4D4D4"/>
                </a:solidFill>
                <a:latin typeface="Courier New"/>
              </a:defRPr>
            </a:pPr>
            <a:r>
              <a:t>        v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300">
                <a:solidFill>
                  <a:srgbClr val="D4D4D4"/>
                </a:solidFill>
                <a:latin typeface="Courier New"/>
              </a:defRPr>
            </a:pPr>
            <a:r>
              <a:t>  REST API --&gt; React Frontend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bg>
    <p:bgPr>
      <a:solidFill>
        <a:srgbClr val="1A1A2E"/>
      </a:solidFill>
      <a:effectLst/>
    </p:bgPr>
  </p:bg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096D6"/>
                </a:solidFill>
                <a:latin typeface="Calibri"/>
              </a:defRPr>
            </a:pPr>
            <a:r>
              <a:t>The OMOP CDM Layer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1887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BBBBB"/>
                </a:solidFill>
                <a:latin typeface="Calibri"/>
              </a:defRPr>
            </a:pPr>
            <a:r>
              <a:t>All clinical data lives in standard OMOP tables — never written directly to PatientRecord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828800"/>
            <a:ext cx="5303520" cy="4389120"/>
          </a:xfrm>
          <a:prstGeom prst="roundRect">
            <a:avLst/>
          </a:prstGeom>
          <a:solidFill>
            <a:srgbClr val="2D2D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spcBef>
                <a:spcPts val="0"/>
              </a:spcBef>
              <a:spcAft>
                <a:spcPts val="0"/>
              </a:spcAft>
              <a:defRPr sz="1300">
                <a:solidFill>
                  <a:srgbClr val="D4D4D4"/>
                </a:solidFill>
                <a:latin typeface="Courier New"/>
              </a:defRPr>
            </a:pPr>
            <a:r>
              <a:t>Core OMOP Tables in omop_core/models.py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300">
                <a:solidFill>
                  <a:srgbClr val="D4D4D4"/>
                </a:solidFill>
                <a:latin typeface="Courier New"/>
              </a:defRPr>
            </a:pPr>
            <a:r>
              <a:t>─────────────────────────────────────────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300">
                <a:solidFill>
                  <a:srgbClr val="D4D4D4"/>
                </a:solidFill>
                <a:latin typeface="Courier New"/>
              </a:defRPr>
            </a:pPr>
            <a:r>
              <a:t>Person              # patient identity (name, DOB, gender)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300">
                <a:solidFill>
                  <a:srgbClr val="D4D4D4"/>
                </a:solidFill>
                <a:latin typeface="Courier New"/>
              </a:defRPr>
            </a:pPr>
            <a:r>
              <a:t>Measurement         # labs, vitals (LOINC-coded)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300">
                <a:solidFill>
                  <a:srgbClr val="D4D4D4"/>
                </a:solidFill>
                <a:latin typeface="Courier New"/>
              </a:defRPr>
            </a:pPr>
            <a:r>
              <a:t>ConditionOccurrence # diagnoses (ICD/SNOMED-coded)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300">
                <a:solidFill>
                  <a:srgbClr val="D4D4D4"/>
                </a:solidFill>
                <a:latin typeface="Courier New"/>
              </a:defRPr>
            </a:pPr>
            <a:r>
              <a:t>DrugExposure        # medications, regimens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300">
                <a:solidFill>
                  <a:srgbClr val="D4D4D4"/>
                </a:solidFill>
                <a:latin typeface="Courier New"/>
              </a:defRPr>
            </a:pPr>
            <a:r>
              <a:t>Observation         # clinical facts (biomarkers, status)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300">
                <a:solidFill>
                  <a:srgbClr val="D4D4D4"/>
                </a:solidFill>
                <a:latin typeface="Courier New"/>
              </a:defRPr>
            </a:pPr>
            <a:r>
              <a:t>ProcedureOccurrence # surgeries, radiation, procedures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300">
                <a:solidFill>
                  <a:srgbClr val="D4D4D4"/>
                </a:solidFill>
                <a:latin typeface="Courier New"/>
              </a:defRPr>
            </a:pPr>
          </a:p>
          <a:p>
            <a:pPr>
              <a:spcBef>
                <a:spcPts val="0"/>
              </a:spcBef>
              <a:spcAft>
                <a:spcPts val="0"/>
              </a:spcAft>
              <a:defRPr sz="1300">
                <a:solidFill>
                  <a:srgbClr val="D4D4D4"/>
                </a:solidFill>
                <a:latin typeface="Courier New"/>
              </a:defRPr>
            </a:pPr>
            <a:r>
              <a:t>Shared patterns: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300">
                <a:solidFill>
                  <a:srgbClr val="D4D4D4"/>
                </a:solidFill>
                <a:latin typeface="Courier New"/>
              </a:defRPr>
            </a:pPr>
            <a:r>
              <a:t>  - BigIntegerField primary key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300">
                <a:solidFill>
                  <a:srgbClr val="D4D4D4"/>
                </a:solidFill>
                <a:latin typeface="Courier New"/>
              </a:defRPr>
            </a:pPr>
            <a:r>
              <a:t>  - ForeignKey to Person (patient identity)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300">
                <a:solidFill>
                  <a:srgbClr val="D4D4D4"/>
                </a:solidFill>
                <a:latin typeface="Courier New"/>
              </a:defRPr>
            </a:pPr>
            <a:r>
              <a:t>  - ForeignKey to Concept (standard vocabulary)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300">
                <a:solidFill>
                  <a:srgbClr val="D4D4D4"/>
                </a:solidFill>
                <a:latin typeface="Courier New"/>
              </a:defRPr>
            </a:pPr>
            <a:r>
              <a:t>  - source_value for raw/original coding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300">
                <a:solidFill>
                  <a:srgbClr val="D4D4D4"/>
                </a:solidFill>
                <a:latin typeface="Courier New"/>
              </a:defRPr>
            </a:pPr>
            <a:r>
              <a:t>  - is_erroneous flag for entered-in-error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0" y="1828800"/>
            <a:ext cx="5029200" cy="4389120"/>
          </a:xfrm>
          <a:prstGeom prst="roundRect">
            <a:avLst/>
          </a:prstGeom>
          <a:solidFill>
            <a:srgbClr val="2D2D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spcBef>
                <a:spcPts val="0"/>
              </a:spcBef>
              <a:spcAft>
                <a:spcPts val="0"/>
              </a:spcAft>
              <a:defRPr sz="1300">
                <a:solidFill>
                  <a:srgbClr val="D4D4D4"/>
                </a:solidFill>
                <a:latin typeface="Courier New"/>
              </a:defRPr>
            </a:pPr>
            <a:r>
              <a:t>PatientRecord — Derived Read Model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300">
                <a:solidFill>
                  <a:srgbClr val="D4D4D4"/>
                </a:solidFill>
                <a:latin typeface="Courier New"/>
              </a:defRPr>
            </a:pPr>
            <a:r>
              <a:t>─────────────────────────────────────────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300">
                <a:solidFill>
                  <a:srgbClr val="D4D4D4"/>
                </a:solidFill>
                <a:latin typeface="Courier New"/>
              </a:defRPr>
            </a:pPr>
            <a:r>
              <a:t>class PatientRecord(models.Model):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300">
                <a:solidFill>
                  <a:srgbClr val="D4D4D4"/>
                </a:solidFill>
                <a:latin typeface="Courier New"/>
              </a:defRPr>
            </a:pPr>
            <a:r>
              <a:t>    person = OneToOneField(Person)  # anchor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300">
                <a:solidFill>
                  <a:srgbClr val="D4D4D4"/>
                </a:solidFill>
                <a:latin typeface="Courier New"/>
              </a:defRPr>
            </a:pPr>
          </a:p>
          <a:p>
            <a:pPr>
              <a:spcBef>
                <a:spcPts val="0"/>
              </a:spcBef>
              <a:spcAft>
                <a:spcPts val="0"/>
              </a:spcAft>
              <a:defRPr sz="1300">
                <a:solidFill>
                  <a:srgbClr val="D4D4D4"/>
                </a:solidFill>
                <a:latin typeface="Courier New"/>
              </a:defRPr>
            </a:pPr>
            <a:r>
              <a:t>    # Derived from OMOP tables: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300">
                <a:solidFill>
                  <a:srgbClr val="D4D4D4"/>
                </a:solidFill>
                <a:latin typeface="Courier New"/>
              </a:defRPr>
            </a:pPr>
            <a:r>
              <a:t>    patient_age, gender, weight_kg, height_cm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300">
                <a:solidFill>
                  <a:srgbClr val="D4D4D4"/>
                </a:solidFill>
                <a:latin typeface="Courier New"/>
              </a:defRPr>
            </a:pPr>
            <a:r>
              <a:t>    disease, stage, ecog_performance_status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300">
                <a:solidFill>
                  <a:srgbClr val="D4D4D4"/>
                </a:solidFill>
                <a:latin typeface="Courier New"/>
              </a:defRPr>
            </a:pPr>
            <a:r>
              <a:t>    hemoglobin, wbc, platelets, ldh, ...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300">
                <a:solidFill>
                  <a:srgbClr val="D4D4D4"/>
                </a:solidFill>
                <a:latin typeface="Courier New"/>
              </a:defRPr>
            </a:pPr>
            <a:r>
              <a:t>    first_line_therapy, second_line_therapy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300">
                <a:solidFill>
                  <a:srgbClr val="D4D4D4"/>
                </a:solidFill>
                <a:latin typeface="Courier New"/>
              </a:defRPr>
            </a:pPr>
          </a:p>
          <a:p>
            <a:pPr>
              <a:spcBef>
                <a:spcPts val="0"/>
              </a:spcBef>
              <a:spcAft>
                <a:spcPts val="0"/>
              </a:spcAft>
              <a:defRPr sz="1300">
                <a:solidFill>
                  <a:srgbClr val="D4D4D4"/>
                </a:solidFill>
                <a:latin typeface="Courier New"/>
              </a:defRPr>
            </a:pPr>
            <a:r>
              <a:t>    # Key rule: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300">
                <a:solidFill>
                  <a:srgbClr val="D4D4D4"/>
                </a:solidFill>
                <a:latin typeface="Courier New"/>
              </a:defRPr>
            </a:pPr>
            <a:r>
              <a:t>    # NEVER write PatientRecord directly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300">
                <a:solidFill>
                  <a:srgbClr val="D4D4D4"/>
                </a:solidFill>
                <a:latin typeface="Courier New"/>
              </a:defRPr>
            </a:pPr>
            <a:r>
              <a:t>    # Always write OMOP rows, then call: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300">
                <a:solidFill>
                  <a:srgbClr val="D4D4D4"/>
                </a:solidFill>
                <a:latin typeface="Courier New"/>
              </a:defRPr>
            </a:pPr>
            <a:r>
              <a:t>    #   refresh_patient_record(person)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300">
                <a:solidFill>
                  <a:srgbClr val="D4D4D4"/>
                </a:solidFill>
                <a:latin typeface="Courier New"/>
              </a:defRPr>
            </a:pPr>
            <a:r>
              <a:t>    # which rebuilds this from OMOP data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300">
                <a:solidFill>
                  <a:srgbClr val="D4D4D4"/>
                </a:solidFill>
                <a:latin typeface="Courier New"/>
              </a:defRPr>
            </a:pPr>
          </a:p>
          <a:p>
            <a:pPr>
              <a:spcBef>
                <a:spcPts val="0"/>
              </a:spcBef>
              <a:spcAft>
                <a:spcPts val="0"/>
              </a:spcAft>
              <a:defRPr sz="1300">
                <a:solidFill>
                  <a:srgbClr val="D4D4D4"/>
                </a:solidFill>
                <a:latin typeface="Courier New"/>
              </a:defRPr>
            </a:pPr>
            <a:r>
              <a:t>    # 80+ fields spanning demographics,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300">
                <a:solidFill>
                  <a:srgbClr val="D4D4D4"/>
                </a:solidFill>
                <a:latin typeface="Courier New"/>
              </a:defRPr>
            </a:pPr>
            <a:r>
              <a:t>    # labs, biomarkers, disease staging,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300">
                <a:solidFill>
                  <a:srgbClr val="D4D4D4"/>
                </a:solidFill>
                <a:latin typeface="Courier New"/>
              </a:defRPr>
            </a:pPr>
            <a:r>
              <a:t>    # treatment lines, and outcomes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bg>
    <p:bgPr>
      <a:solidFill>
        <a:srgbClr val="1A1A2E"/>
      </a:solidFill>
      <a:effectLst/>
    </p:bgPr>
  </p:bg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096D6"/>
                </a:solidFill>
                <a:latin typeface="Calibri"/>
              </a:defRPr>
            </a:pPr>
            <a:r>
              <a:t>Populating PRomop — Three Ingest Paths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ECC71"/>
                </a:solidFill>
                <a:latin typeface="Calibri"/>
              </a:defRPr>
            </a:pPr>
            <a:r>
              <a:t>1. FHIR Bundle Upload (Primary)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920240"/>
            <a:ext cx="3291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400"/>
              </a:spcAft>
              <a:defRPr sz="1400">
                <a:solidFill>
                  <a:srgbClr val="E8E8E8"/>
                </a:solidFill>
                <a:latin typeface="Calibri"/>
              </a:defRPr>
            </a:pPr>
            <a:r>
              <a:t>POST /api/v1/patient-records/upload_fhir/</a:t>
            </a:r>
          </a:p>
          <a:p>
            <a:pPr>
              <a:spcBef>
                <a:spcPts val="600"/>
              </a:spcBef>
              <a:spcAft>
                <a:spcPts val="400"/>
              </a:spcAft>
              <a:defRPr sz="1400">
                <a:solidFill>
                  <a:srgbClr val="E8E8E8"/>
                </a:solidFill>
                <a:latin typeface="Calibri"/>
              </a:defRPr>
            </a:pPr>
            <a:r>
              <a:t>Parses Bundle entries by resourceType</a:t>
            </a:r>
          </a:p>
          <a:p>
            <a:pPr>
              <a:spcBef>
                <a:spcPts val="600"/>
              </a:spcBef>
              <a:spcAft>
                <a:spcPts val="400"/>
              </a:spcAft>
              <a:defRPr sz="1400">
                <a:solidFill>
                  <a:srgbClr val="E8E8E8"/>
                </a:solidFill>
                <a:latin typeface="Calibri"/>
              </a:defRPr>
            </a:pPr>
            <a:r>
              <a:t>Writes OMOP rows, then derives PatientRecord</a:t>
            </a:r>
          </a:p>
          <a:p>
            <a:pPr>
              <a:spcBef>
                <a:spcPts val="600"/>
              </a:spcBef>
              <a:spcAft>
                <a:spcPts val="400"/>
              </a:spcAft>
              <a:defRPr sz="1400">
                <a:solidFill>
                  <a:srgbClr val="E8E8E8"/>
                </a:solidFill>
                <a:latin typeface="Calibri"/>
              </a:defRPr>
            </a:pPr>
            <a:r>
              <a:t>Supports bulk + per-patient files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89120" y="137160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ECC71"/>
                </a:solidFill>
                <a:latin typeface="Calibri"/>
              </a:defRPr>
            </a:pPr>
            <a:r>
              <a:t>2. OMOP CRUD API (Direct)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0" y="1920240"/>
            <a:ext cx="3291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400"/>
              </a:spcAft>
              <a:defRPr sz="1400">
                <a:solidFill>
                  <a:srgbClr val="E8E8E8"/>
                </a:solidFill>
                <a:latin typeface="Calibri"/>
              </a:defRPr>
            </a:pPr>
            <a:r>
              <a:t>POST/PATCH to /api/v1/measurements/</a:t>
            </a:r>
          </a:p>
          <a:p>
            <a:pPr>
              <a:spcBef>
                <a:spcPts val="600"/>
              </a:spcBef>
              <a:spcAft>
                <a:spcPts val="400"/>
              </a:spcAft>
              <a:defRPr sz="1400">
                <a:solidFill>
                  <a:srgbClr val="E8E8E8"/>
                </a:solidFill>
                <a:latin typeface="Calibri"/>
              </a:defRPr>
            </a:pPr>
            <a:r>
              <a:t>POST/PATCH to /api/v1/conditions/</a:t>
            </a:r>
          </a:p>
          <a:p>
            <a:pPr>
              <a:spcBef>
                <a:spcPts val="600"/>
              </a:spcBef>
              <a:spcAft>
                <a:spcPts val="400"/>
              </a:spcAft>
              <a:defRPr sz="1400">
                <a:solidFill>
                  <a:srgbClr val="E8E8E8"/>
                </a:solidFill>
                <a:latin typeface="Calibri"/>
              </a:defRPr>
            </a:pPr>
            <a:r>
              <a:t>POST/PATCH to /api/v1/drug-exposures/</a:t>
            </a:r>
          </a:p>
          <a:p>
            <a:pPr>
              <a:spcBef>
                <a:spcPts val="600"/>
              </a:spcBef>
              <a:spcAft>
                <a:spcPts val="400"/>
              </a:spcAft>
              <a:defRPr sz="1400">
                <a:solidFill>
                  <a:srgbClr val="E8E8E8"/>
                </a:solidFill>
                <a:latin typeface="Calibri"/>
              </a:defRPr>
            </a:pPr>
            <a:r>
              <a:t>Bulk arrays (up to 1000 rows) supported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0" y="1371600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ECC71"/>
                </a:solidFill>
                <a:latin typeface="Calibri"/>
              </a:defRPr>
            </a:pPr>
            <a:r>
              <a:t>3. Synthetic Generator (Dev/Test)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0" y="1920240"/>
            <a:ext cx="34747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400"/>
              </a:spcAft>
              <a:defRPr sz="1400">
                <a:solidFill>
                  <a:srgbClr val="E8E8E8"/>
                </a:solidFill>
                <a:latin typeface="Calibri"/>
              </a:defRPr>
            </a:pPr>
            <a:r>
              <a:t>manage.py generate_fhir_bundle</a:t>
            </a:r>
          </a:p>
          <a:p>
            <a:pPr>
              <a:spcBef>
                <a:spcPts val="600"/>
              </a:spcBef>
              <a:spcAft>
                <a:spcPts val="400"/>
              </a:spcAft>
              <a:defRPr sz="1400">
                <a:solidFill>
                  <a:srgbClr val="E8E8E8"/>
                </a:solidFill>
                <a:latin typeface="Calibri"/>
              </a:defRPr>
            </a:pPr>
            <a:r>
              <a:t>Breast cancer, MM, FL disease profiles</a:t>
            </a:r>
          </a:p>
          <a:p>
            <a:pPr>
              <a:spcBef>
                <a:spcPts val="600"/>
              </a:spcBef>
              <a:spcAft>
                <a:spcPts val="400"/>
              </a:spcAft>
              <a:defRPr sz="1400">
                <a:solidFill>
                  <a:srgbClr val="E8E8E8"/>
                </a:solidFill>
                <a:latin typeface="Calibri"/>
              </a:defRPr>
            </a:pPr>
            <a:r>
              <a:t>Realistic random clinical values</a:t>
            </a:r>
          </a:p>
          <a:p>
            <a:pPr>
              <a:spcBef>
                <a:spcPts val="600"/>
              </a:spcBef>
              <a:spcAft>
                <a:spcPts val="400"/>
              </a:spcAft>
              <a:defRPr sz="1400">
                <a:solidFill>
                  <a:srgbClr val="E8E8E8"/>
                </a:solidFill>
                <a:latin typeface="Calibri"/>
              </a:defRPr>
            </a:pPr>
            <a:r>
              <a:t>Then import via import_fhir_bundle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840480"/>
            <a:ext cx="10698480" cy="2560320"/>
          </a:xfrm>
          <a:prstGeom prst="roundRect">
            <a:avLst/>
          </a:prstGeom>
          <a:solidFill>
            <a:srgbClr val="2D2D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# Generate and import synthetic data (typical dev workflow)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# Step 1: Generate a FHIR bundle with 50 multiple myeloma patients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.venv/bin/python manage.py generate_fhir_bundle --disease mm --count 50 --output data/mm_test.json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# Step 2: Import the bundle into local dev database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DATABASE_URL="postgresql://postgres@localhost:5432/promop_dev" \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.venv/bin/python manage.py import_fhir_bundle --file data/mm_test.json --batch-size 5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# Or upload via API (curl)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curl -X POST http://localhost:8000/api/v1/patient-records/upload_fhir/ \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-H "Authorization: Bearer $TOKEN" -F "file=@data/mm_test.json"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bg>
    <p:bgPr>
      <a:solidFill>
        <a:srgbClr val="1A1A2E"/>
      </a:solidFill>
      <a:effectLst/>
    </p:bgPr>
  </p:bg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096D6"/>
                </a:solidFill>
                <a:latin typeface="Calibri"/>
              </a:defRPr>
            </a:pPr>
            <a:r>
              <a:t>FHIR Upload — Under the Hood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1887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BBBBB"/>
                </a:solidFill>
                <a:latin typeface="Calibri"/>
              </a:defRPr>
            </a:pPr>
            <a:r>
              <a:t>patient_portal/api/views.py — upload_fhir action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828800"/>
            <a:ext cx="5303520" cy="4572000"/>
          </a:xfrm>
          <a:prstGeom prst="roundRect">
            <a:avLst/>
          </a:prstGeom>
          <a:solidFill>
            <a:srgbClr val="2D2D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# Simplified flow inside upload_fhir: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# 1. Group FHIR resources by Patient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for patient_id, resources in grouped.items():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  patient_res = resources['Patient']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  observations = resources['Observation']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  conditions = resources['Condition']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  meds = resources['MedicationRequest']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  # 2. Create/update Person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  person = Person.objects.update_or_create(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      actor_sub=...,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      defaults={'given_name': ..., ...}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  )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  # 3. Write OMOP rows (Measurement, etc.)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  for obs in observations: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      Measurement.objects.create(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          person=person,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          measurement_concept=concept, ...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      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0" y="1828800"/>
            <a:ext cx="5029200" cy="4572000"/>
          </a:xfrm>
          <a:prstGeom prst="roundRect">
            <a:avLst/>
          </a:prstGeom>
          <a:solidFill>
            <a:srgbClr val="2D2D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  # 4. Write Conditions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  for cond in conditions: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      ConditionOccurrence.objects.create(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          person=person,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          condition_concept=concept,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          condition_start_date=...,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      )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  # 5. Write Drug Exposures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  for med in meds: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      DrugExposure.objects.create(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          person=person,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          drug_concept=concept,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          drug_exposure_start_date=...,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      )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  # 6. Rebuild the read model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  refresh_patient_record(person)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  # 7. Infer lines of therapy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  infer_lot_for_person(person)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# Key: PatientRecord is DERIVED, never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# written directly from FHIR data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bg>
    <p:bgPr>
      <a:solidFill>
        <a:srgbClr val="1A1A2E"/>
      </a:solidFill>
      <a:effectLst/>
    </p:bgPr>
  </p:bg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096D6"/>
                </a:solidFill>
                <a:latin typeface="Calibri"/>
              </a:defRPr>
            </a:pPr>
            <a:r>
              <a:t>OMOP CRUD API — Direct Clinical Writes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1887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BBBBB"/>
                </a:solidFill>
                <a:latin typeface="Calibri"/>
              </a:defRPr>
            </a:pPr>
            <a:r>
              <a:t>Five OMOP endpoints accept single-row or bulk (array) POST — all under /api/v1/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828800"/>
            <a:ext cx="5303520" cy="2377440"/>
          </a:xfrm>
          <a:prstGeom prst="roundRect">
            <a:avLst/>
          </a:prstGeom>
          <a:solidFill>
            <a:srgbClr val="2D2D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# Single-row POST (create one measurement)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curl -X POST /api/v1/measurements/ \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-H "Content-Type: application/json" \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-d '{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  "person": 12345,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  "measurement_concept": 3006322,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  "measurement_date": "2025-03-15",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  "value_as_number": 12.5,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  "measurement_source_value": "718-7"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}'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0" y="1828800"/>
            <a:ext cx="5029200" cy="2377440"/>
          </a:xfrm>
          <a:prstGeom prst="roundRect">
            <a:avLst/>
          </a:prstGeom>
          <a:solidFill>
            <a:srgbClr val="2D2D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# Bulk POST (array of rows, max 1000)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curl -X POST /api/v1/measurements/ \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-H "Content-Type: application/json" \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-d '[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  {"person": 12345, "measurement_concept": 3006322,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   "measurement_date": "2025-03-15",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   "value_as_number": 12.5, ...},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  {"person": 12345, "measurement_concept": 3019550,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   "measurement_date": "2025-03-15",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   "value_as_number": 7.2, ...}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]'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# Response: {created: 2, updated: 0, ids: [...]}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4572000"/>
            <a:ext cx="10698480" cy="1828800"/>
          </a:xfrm>
          <a:prstGeom prst="roundRect">
            <a:avLst/>
          </a:prstGeom>
          <a:solidFill>
            <a:srgbClr val="2D2D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Bulk Write Contract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────────────────────────────────────────────────────────────────────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- One transaction, all-or-nothing              - Max 1,000 rows (413 if exceeded)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- One batch = one person (400 if mixed)        - Server assigns PKs (400 if client sends)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- Idempotent upsert by default                 - ?upsert=false for append-only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- Upsert key: (source_value, date)             - Measurement adds (datetime, value_as_number)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- Only concept column rewritten on match        - Provenance via X-Provenance-Source header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- bulk_create skips post_save signals           - Must call refresh_patient_record() explicitly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bg>
    <p:bgPr>
      <a:solidFill>
        <a:srgbClr val="1A1A2E"/>
      </a:solidFill>
      <a:effectLst/>
    </p:bgPr>
  </p:bg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900" b="1">
                <a:solidFill>
                  <a:srgbClr val="F8FAFC"/>
                </a:solidFill>
                <a:latin typeface="Aptos"/>
              </a:defRPr>
            </a:pPr>
            <a:r>
              <a:t>Add and Map Fields in the Field Mappings UI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896112"/>
            <a:ext cx="109728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0">
                <a:solidFill>
                  <a:srgbClr val="CBD5E1"/>
                </a:solidFill>
                <a:latin typeface="Aptos"/>
              </a:defRPr>
            </a:pPr>
            <a:r>
              <a:t>Administrators can create a runtime patient field and its approved OMOP mapping together — no model, migration, serializer, or frontend change required.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417320"/>
            <a:ext cx="5440680" cy="640080"/>
          </a:xfrm>
          <a:prstGeom prst="roundRect">
            <a:avLst/>
          </a:prstGeom>
          <a:solidFill>
            <a:srgbClr val="E8F1FF"/>
          </a:solidFill>
          <a:ln>
            <a:solidFill>
              <a:srgbClr val="A7C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500" b="1">
                <a:solidFill>
                  <a:srgbClr val="1E5AA0"/>
                </a:solidFill>
                <a:latin typeface="Aptos"/>
              </a:defRPr>
            </a:pPr>
            <a:r>
              <a:t>Field Mappings is the curation layer between a patient field and the OMOP fact that supplies it.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286000"/>
            <a:ext cx="539496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900">
                <a:solidFill>
                  <a:srgbClr val="E2E8F0"/>
                </a:solidFill>
                <a:latin typeface="Aptos"/>
              </a:defRPr>
            </a:pPr>
            <a:r>
              <a:t>Define the field name, type, and patient-view tab.</a:t>
            </a:r>
          </a:p>
          <a:p>
            <a:pPr>
              <a:spcAft>
                <a:spcPts val="1200"/>
              </a:spcAft>
              <a:defRPr sz="1900">
                <a:solidFill>
                  <a:srgbClr val="E2E8F0"/>
                </a:solidFill>
                <a:latin typeface="Aptos"/>
              </a:defRPr>
            </a:pPr>
            <a:r>
              <a:t>Search the loaded vocabulary and select the clinical concept.</a:t>
            </a:r>
          </a:p>
          <a:p>
            <a:pPr>
              <a:spcAft>
                <a:spcPts val="1200"/>
              </a:spcAft>
              <a:defRPr sz="1900">
                <a:solidFill>
                  <a:srgbClr val="E2E8F0"/>
                </a:solidFill>
                <a:latin typeface="Aptos"/>
              </a:defRPr>
            </a:pPr>
            <a:r>
              <a:t>Set the OMOP table, source value, and unit where applicable.</a:t>
            </a:r>
          </a:p>
          <a:p>
            <a:pPr>
              <a:spcAft>
                <a:spcPts val="1200"/>
              </a:spcAft>
              <a:defRPr sz="1900">
                <a:solidFill>
                  <a:srgbClr val="E2E8F0"/>
                </a:solidFill>
                <a:latin typeface="Aptos"/>
              </a:defRPr>
            </a:pPr>
            <a:r>
              <a:t>Approve the mapping to make the field available for structured writes.</a:t>
            </a:r>
          </a:p>
        </p:txBody>
      </p:sp>
      <p:pic>
        <p:nvPicPr>
          <p:cNvPr id="6" name="Picture 5" descr="concept_mapping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417320"/>
            <a:ext cx="5257800" cy="49834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5650992"/>
            <a:ext cx="54406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0">
                <a:solidFill>
                  <a:srgbClr val="CBD5E1"/>
                </a:solidFill>
                <a:latin typeface="Aptos"/>
              </a:defRPr>
            </a:pPr>
            <a:r>
              <a:t>Existing mappings remain reviewable; synonyms make source fields easier to find and map consistently.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bg>
    <p:bgPr>
      <a:solidFill>
        <a:srgbClr val="1A1A2E"/>
      </a:solidFill>
      <a:effectLst/>
    </p:bgPr>
  </p:bg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096D6"/>
                </a:solidFill>
                <a:latin typeface="Calibri"/>
              </a:defRPr>
            </a:pPr>
            <a:r>
              <a:t>Using Data — API Endpoints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1887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BBBBB"/>
                </a:solidFill>
                <a:latin typeface="Calibri"/>
              </a:defRPr>
            </a:pPr>
            <a:r>
              <a:t>All current endpoints under /api/v1/ — legacy /api/patient-info/ is frozen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828800"/>
            <a:ext cx="6400800" cy="4572000"/>
          </a:xfrm>
          <a:prstGeom prst="roundRect">
            <a:avLst/>
          </a:prstGeom>
          <a:solidFill>
            <a:srgbClr val="2D2D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GET /api/v1/patient-records/                     # List/search patient records (read model)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GET /api/v1/patient-records/{person_id}/         # Single patient detail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GET /api/v1/measurements/?person={id}            # Lab results for a patient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GET /api/v1/conditions/?person={id}              # Diagnoses for a patient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GET /api/v1/drug-exposures/?person={id}          # Medications for a patient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GET /api/v1/observations/?person={id}            # Clinical observations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GET /api/v1/procedures/?person={id}              # Procedures performed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GET /api/v1/episodes/?person={id}                # Treatment episodes / lines of therapy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GET /api/v1/concepts/search/?q=...               # Search OMOP concept vocabulary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GET /api/v1/vocabularies/{name}/                 # Controlled vocabulary lookup values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498079" y="1828800"/>
            <a:ext cx="3931920" cy="4572000"/>
          </a:xfrm>
          <a:prstGeom prst="roundRect">
            <a:avLst/>
          </a:prstGeom>
          <a:solidFill>
            <a:srgbClr val="2D2D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# Example: fetch patient list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curl /api/v1/patient-records/ \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-H "Authorization: Bearer $T"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# Filter by disease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curl "/api/v1/patient-records/\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?disease=multiple+myeloma"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# Get labs for patient 42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curl "/api/v1/measurements/\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?person=42&amp;ordering=-date"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# Search concepts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curl "/api/v1/concepts/search/\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?q=hemoglobin&amp;domain=Measurement"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bg>
    <p:bgPr>
      <a:solidFill>
        <a:srgbClr val="1A1A2E"/>
      </a:solidFill>
      <a:effectLst/>
    </p:bgPr>
  </p:bg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096D6"/>
                </a:solidFill>
                <a:latin typeface="Calibri"/>
              </a:defRPr>
            </a:pPr>
            <a:r>
              <a:t>React Frontend — Component Pattern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280160"/>
            <a:ext cx="5303520" cy="5029200"/>
          </a:xfrm>
          <a:prstGeom prst="roundRect">
            <a:avLst/>
          </a:prstGeom>
          <a:solidFill>
            <a:srgbClr val="2D2D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// GeneralTab.tsx — typical tab structure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export default function GeneralTab({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formData, onChange, diseaseType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}: Props) {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// Vocabulary from API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const { source: ecogSource } =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  useVocabulary('ecog-status', 'code');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const { source: diseaseSource } =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  useVocabulary('disease', 'title');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return (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  &lt;Section title="Patient Details"&gt;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    &lt;Field label="Disease" name="disease"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      type="select" value={formData?.disease}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      options={diseaseSource}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      onChange={onChange} /&gt;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    &lt;Field label="ECOG Status"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      name="ecog_performance_status"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      type="select" value={formData?.ecog_...}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      options={ecogSource}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      onChange={onChange} /&gt;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    &lt;Field label="Date of Birth"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      name="date_of_birth" type="date"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      value={formData?.date_of_birth}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      onChange={onChange} /&gt;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  &lt;/Section&gt;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);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}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0" y="1280160"/>
            <a:ext cx="5029200" cy="2560320"/>
          </a:xfrm>
          <a:prstGeom prst="roundRect">
            <a:avLst/>
          </a:prstGeom>
          <a:solidFill>
            <a:srgbClr val="2D2D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spcBef>
                <a:spcPts val="0"/>
              </a:spcBef>
              <a:spcAft>
                <a:spcPts val="0"/>
              </a:spcAft>
              <a:defRPr sz="1300">
                <a:solidFill>
                  <a:srgbClr val="D4D4D4"/>
                </a:solidFill>
                <a:latin typeface="Courier New"/>
              </a:defRPr>
            </a:pPr>
            <a:r>
              <a:t>// Tab organization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300">
                <a:solidFill>
                  <a:srgbClr val="D4D4D4"/>
                </a:solidFill>
                <a:latin typeface="Courier New"/>
              </a:defRPr>
            </a:pPr>
            <a:r>
              <a:t>//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300">
                <a:solidFill>
                  <a:srgbClr val="D4D4D4"/>
                </a:solidFill>
                <a:latin typeface="Courier New"/>
              </a:defRPr>
            </a:pPr>
            <a:r>
              <a:t>// GeneralTab     — demographics, vitals, staging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300">
                <a:solidFill>
                  <a:srgbClr val="D4D4D4"/>
                </a:solidFill>
                <a:latin typeface="Courier New"/>
              </a:defRPr>
            </a:pPr>
            <a:r>
              <a:t>// LabsTab        — blood counts, chemistry, biomarkers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300">
                <a:solidFill>
                  <a:srgbClr val="D4D4D4"/>
                </a:solidFill>
                <a:latin typeface="Courier New"/>
              </a:defRPr>
            </a:pPr>
            <a:r>
              <a:t>// MultipleMyelomaTab  — MM-specific fields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300">
                <a:solidFill>
                  <a:srgbClr val="D4D4D4"/>
                </a:solidFill>
                <a:latin typeface="Courier New"/>
              </a:defRPr>
            </a:pPr>
            <a:r>
              <a:t>// FollicularLymphomaTab — FL-specific fields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300">
                <a:solidFill>
                  <a:srgbClr val="D4D4D4"/>
                </a:solidFill>
                <a:latin typeface="Courier New"/>
              </a:defRPr>
            </a:pPr>
            <a:r>
              <a:t>// WearableTab    — device data upload + 30d summaries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300">
                <a:solidFill>
                  <a:srgbClr val="D4D4D4"/>
                </a:solidFill>
                <a:latin typeface="Courier New"/>
              </a:defRPr>
            </a:pPr>
            <a:r>
              <a:t>//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300">
                <a:solidFill>
                  <a:srgbClr val="D4D4D4"/>
                </a:solidFill>
                <a:latin typeface="Courier New"/>
              </a:defRPr>
            </a:pPr>
            <a:r>
              <a:t>// UI primitives: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300">
                <a:solidFill>
                  <a:srgbClr val="D4D4D4"/>
                </a:solidFill>
                <a:latin typeface="Courier New"/>
              </a:defRPr>
            </a:pPr>
            <a:r>
              <a:t>//   &lt;Section&gt;  — labeled group with description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300">
                <a:solidFill>
                  <a:srgbClr val="D4D4D4"/>
                </a:solidFill>
                <a:latin typeface="Courier New"/>
              </a:defRPr>
            </a:pPr>
            <a:r>
              <a:t>//   &lt;Field&gt;    — label + input/select wrapper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300">
                <a:solidFill>
                  <a:srgbClr val="D4D4D4"/>
                </a:solidFill>
                <a:latin typeface="Courier New"/>
              </a:defRPr>
            </a:pPr>
            <a:r>
              <a:t>//   &lt;Input&gt;    — raw input (for special cases)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300">
                <a:solidFill>
                  <a:srgbClr val="D4D4D4"/>
                </a:solidFill>
                <a:latin typeface="Courier New"/>
              </a:defRPr>
            </a:pPr>
            <a:r>
              <a:t>//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300">
                <a:solidFill>
                  <a:srgbClr val="D4D4D4"/>
                </a:solidFill>
                <a:latin typeface="Courier New"/>
              </a:defRPr>
            </a:pPr>
            <a:r>
              <a:t>// Vocabularies loaded via useVocabulary() hook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300">
                <a:solidFill>
                  <a:srgbClr val="D4D4D4"/>
                </a:solidFill>
                <a:latin typeface="Courier New"/>
              </a:defRPr>
            </a:pPr>
            <a:r>
              <a:t>// from /api/v1/vocabularies/{name}/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0" y="4114800"/>
            <a:ext cx="5029200" cy="2194560"/>
          </a:xfrm>
          <a:prstGeom prst="roundRect">
            <a:avLst/>
          </a:prstGeom>
          <a:solidFill>
            <a:srgbClr val="2D2D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spcBef>
                <a:spcPts val="0"/>
              </a:spcBef>
              <a:spcAft>
                <a:spcPts val="0"/>
              </a:spcAft>
              <a:defRPr sz="1300">
                <a:solidFill>
                  <a:srgbClr val="D4D4D4"/>
                </a:solidFill>
                <a:latin typeface="Courier New"/>
              </a:defRPr>
            </a:pPr>
            <a:r>
              <a:t>// PatientDetail.tsx — wires tabs together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300">
                <a:solidFill>
                  <a:srgbClr val="D4D4D4"/>
                </a:solidFill>
                <a:latin typeface="Courier New"/>
              </a:defRPr>
            </a:pPr>
          </a:p>
          <a:p>
            <a:pPr>
              <a:spcBef>
                <a:spcPts val="0"/>
              </a:spcBef>
              <a:spcAft>
                <a:spcPts val="0"/>
              </a:spcAft>
              <a:defRPr sz="1300">
                <a:solidFill>
                  <a:srgbClr val="D4D4D4"/>
                </a:solidFill>
                <a:latin typeface="Courier New"/>
              </a:defRPr>
            </a:pPr>
            <a:r>
              <a:t>const tabs = [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300">
                <a:solidFill>
                  <a:srgbClr val="D4D4D4"/>
                </a:solidFill>
                <a:latin typeface="Courier New"/>
              </a:defRPr>
            </a:pPr>
            <a:r>
              <a:t>  { key: "general", label: "General",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300">
                <a:solidFill>
                  <a:srgbClr val="D4D4D4"/>
                </a:solidFill>
                <a:latin typeface="Courier New"/>
              </a:defRPr>
            </a:pPr>
            <a:r>
              <a:t>    component: GeneralTab },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300">
                <a:solidFill>
                  <a:srgbClr val="D4D4D4"/>
                </a:solidFill>
                <a:latin typeface="Courier New"/>
              </a:defRPr>
            </a:pPr>
            <a:r>
              <a:t>  { key: "labs", label: "Labs",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300">
                <a:solidFill>
                  <a:srgbClr val="D4D4D4"/>
                </a:solidFill>
                <a:latin typeface="Courier New"/>
              </a:defRPr>
            </a:pPr>
            <a:r>
              <a:t>    component: LabsTab },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300">
                <a:solidFill>
                  <a:srgbClr val="D4D4D4"/>
                </a:solidFill>
                <a:latin typeface="Courier New"/>
              </a:defRPr>
            </a:pPr>
            <a:r>
              <a:t>  // disease-specific tabs shown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300">
                <a:solidFill>
                  <a:srgbClr val="D4D4D4"/>
                </a:solidFill>
                <a:latin typeface="Courier New"/>
              </a:defRPr>
            </a:pPr>
            <a:r>
              <a:t>  // conditionally based on disease type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300">
                <a:solidFill>
                  <a:srgbClr val="D4D4D4"/>
                </a:solidFill>
                <a:latin typeface="Courier New"/>
              </a:defRPr>
            </a:pPr>
            <a:r>
              <a:t>];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300">
                <a:solidFill>
                  <a:srgbClr val="D4D4D4"/>
                </a:solidFill>
                <a:latin typeface="Courier New"/>
              </a:defRPr>
            </a:pPr>
          </a:p>
          <a:p>
            <a:pPr>
              <a:spcBef>
                <a:spcPts val="0"/>
              </a:spcBef>
              <a:spcAft>
                <a:spcPts val="0"/>
              </a:spcAft>
              <a:defRPr sz="1300">
                <a:solidFill>
                  <a:srgbClr val="D4D4D4"/>
                </a:solidFill>
                <a:latin typeface="Courier New"/>
              </a:defRPr>
            </a:pPr>
            <a:r>
              <a:t>// onUpdate triggers PATCH to API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bg>
    <p:bgPr>
      <a:solidFill>
        <a:srgbClr val="1A1A2E"/>
      </a:solidFill>
      <a:effectLst/>
    </p:bgPr>
  </p:bg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096D6"/>
                </a:solidFill>
                <a:latin typeface="Calibri"/>
              </a:defRPr>
            </a:pPr>
            <a:r>
              <a:t>Testing — Two Backend Suites + Frontend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280160"/>
            <a:ext cx="5303520" cy="2377440"/>
          </a:xfrm>
          <a:prstGeom prst="roundRect">
            <a:avLst/>
          </a:prstGeom>
          <a:solidFill>
            <a:srgbClr val="2D2D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# Suite 1: Django test runner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# (omop_core/tests.py + patient_portal/tests.py)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DATABASE_URL="postgresql://postgres@localhost\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:5432/promop_test" \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.venv/bin/python manage.py test \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  omop_core patient_portal \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  --verbosity=2 --noinput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# Suite 2: pytest (tests/ package — 166+ tests)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DATABASE_URL="postgresql://postgres@localhost\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:5432/promop_test" DEBUG=True \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.venv/bin/python -m pytest -q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0" y="1280160"/>
            <a:ext cx="5029200" cy="2377440"/>
          </a:xfrm>
          <a:prstGeom prst="roundRect">
            <a:avLst/>
          </a:prstGeom>
          <a:solidFill>
            <a:srgbClr val="2D2D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# Suite 3: Frontend (Vitest)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cd frontend &amp;&amp; npm test -- --run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# Run everything before pushing: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DATABASE_URL="postgresql://postgres@localhost\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:5432/promop_test" \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.venv/bin/python manage.py test \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  omop_core patient_portal \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  --verbosity=2 --noinput \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&amp;&amp; cd frontend &amp;&amp; npm test -- --run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# BOTH backend suites must pass before push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4023360"/>
            <a:ext cx="10698480" cy="2560320"/>
          </a:xfrm>
          <a:prstGeom prst="roundRect">
            <a:avLst/>
          </a:prstGeom>
          <a:solidFill>
            <a:srgbClr val="2D2D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# Example test: new field exposed via API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class SerumFerritinAPITest(APITestCase):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  def setUp(self):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      self.user = User.objects.create_user('testuser', password='pass')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      self.client.force_authenticate(user=self.user)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      self.person = Person.objects.create(person_id=9997)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      self.record = PatientRecord.objects.create(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          person=self.person, serum_ferritin=Decimal('245.50'))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  def test_field_in_api_response(self):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      response = self.client.get(f'/api/v1/patient-records/{self.person.person_id}/')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      self.assertEqual(response.status_code, 200)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      self.assertEqual(response.data['serum_ferritin'], '245.50')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bg>
    <p:bgPr>
      <a:solidFill>
        <a:srgbClr val="1A1A2E"/>
      </a:solidFill>
      <a:effectLst/>
    </p:bgPr>
  </p:bg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096D6"/>
                </a:solidFill>
                <a:latin typeface="Calibri"/>
              </a:defRPr>
            </a:pPr>
            <a:r>
              <a:t>Git &amp; Deployment Workflow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280160"/>
            <a:ext cx="5303520" cy="3840480"/>
          </a:xfrm>
          <a:prstGeom prst="roundRect">
            <a:avLst/>
          </a:prstGeom>
          <a:solidFill>
            <a:srgbClr val="2D2D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# Developer workflow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# 1. Create feature branch off dev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git checkout dev &amp;&amp; git pull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git checkout -b feat/add-serum-ferritin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# 2. Make changes across all layers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#    (model, migration, serializer, UI, tests)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# 3. Run tests locally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DATABASE_URL="postgresql://postgres@localhost\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:5432/promop_test" \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.venv/bin/python manage.py test \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omop_core patient_portal --noinput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# 4. Push + open PR targeting dev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git push -u origin feat/add-serum-ferritin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gh pr create --base dev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0" y="1280160"/>
            <a:ext cx="5029200" cy="3840480"/>
          </a:xfrm>
          <a:prstGeom prst="roundRect">
            <a:avLst/>
          </a:prstGeom>
          <a:solidFill>
            <a:srgbClr val="2D2D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# Branch strategy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feature branch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     |              # work happens here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     v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PR --&gt; dev          # code review + CI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            |       # integration testing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            v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       PR --&gt; main  # release merge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                 |  # auto-deploys to Render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                 v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            production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Rules: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- Never commit directly to dev or main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- Feature branches branch from dev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- Delete branch after merge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- start.sh runs migrate on every deploy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39496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39C12"/>
                </a:solidFill>
                <a:latin typeface="Calibri"/>
              </a:defRPr>
            </a:pPr>
            <a:r>
              <a:t>Database rule: Use local PostgreSQL (promop_test) for tests. Staging DB for migration verification only. Never run tests against remote DBs.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bg>
    <p:bgPr>
      <a:solidFill>
        <a:srgbClr val="1A1A2E"/>
      </a:solidFill>
      <a:effectLst/>
    </p:bgPr>
  </p:bg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096D6"/>
                </a:solidFill>
                <a:latin typeface="Calibri"/>
              </a:defRPr>
            </a:pPr>
            <a:r>
              <a:t>Key Architecture Rules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28016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ECC71"/>
                </a:solidFill>
                <a:latin typeface="Calibri"/>
              </a:defRPr>
            </a:pPr>
            <a:r>
              <a:t>Write OMOP, Read PatientRecord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0" y="1280160"/>
            <a:ext cx="6858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8E8E8"/>
                </a:solidFill>
                <a:latin typeface="Calibri"/>
              </a:defRPr>
            </a:pPr>
            <a:r>
              <a:t>All clinical data enters through OMOP tables. PatientRecord is rebuilt by refresh_patient_record() — never write it directly from ingest paths.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0574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ECC71"/>
                </a:solidFill>
                <a:latin typeface="Calibri"/>
              </a:defRPr>
            </a:pPr>
            <a:r>
              <a:t>Upsert by Default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0" y="2057400"/>
            <a:ext cx="6858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8E8E8"/>
                </a:solidFill>
                <a:latin typeface="Calibri"/>
              </a:defRPr>
            </a:pPr>
            <a:r>
              <a:t>Bulk writes use idempotent upsert on (source_value, date). Measurement adds (datetime, value_as_number) to the key. Re-runs converge, not duplicate.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83464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ECC71"/>
                </a:solidFill>
                <a:latin typeface="Calibri"/>
              </a:defRPr>
            </a:pPr>
            <a:r>
              <a:t>bulk_create Skips Signals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2834640"/>
            <a:ext cx="6858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8E8E8"/>
                </a:solidFill>
                <a:latin typeface="Calibri"/>
              </a:defRPr>
            </a:pPr>
            <a:r>
              <a:t>Django's bulk_create() does not fire post_save signals. Bulk write paths must call refresh_patient_record() explicitly after the batch.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61188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ECC71"/>
                </a:solidFill>
                <a:latin typeface="Calibri"/>
              </a:defRPr>
            </a:pPr>
            <a:r>
              <a:t>Vocabulary-Controlled Fields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3611880"/>
            <a:ext cx="6858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8E8E8"/>
                </a:solidFill>
                <a:latin typeface="Calibri"/>
              </a:defRPr>
            </a:pPr>
            <a:r>
              <a:t>JSONField lists (e.g. sct_eligibility, preexisting_conditions) are validated against live vocabulary tables. Unrecognized values are discarded on ingest.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438912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ECC71"/>
                </a:solidFill>
                <a:latin typeface="Calibri"/>
              </a:defRPr>
            </a:pPr>
            <a:r>
              <a:t>Patient Access Isolation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4389120"/>
            <a:ext cx="6858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8E8E8"/>
                </a:solidFill>
                <a:latin typeface="Calibri"/>
              </a:defRPr>
            </a:pPr>
            <a:r>
              <a:t>Patients see only their own record. get_admin_orgs() excludes patient-role grants from org trust expansion. 7 dedicated isolation tests enforce this.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516636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ECC71"/>
                </a:solidFill>
                <a:latin typeface="Calibri"/>
              </a:defRPr>
            </a:pPr>
            <a:r>
              <a:t>API Versioning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5166360"/>
            <a:ext cx="6858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8E8E8"/>
                </a:solidFill>
                <a:latin typeface="Calibri"/>
              </a:defRPr>
            </a:pPr>
            <a:r>
              <a:t>/api/patient-info/ is frozen legacy. All new work uses /api/v1/ endpoints. Both route to the same ViewSet.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bg>
    <p:bgPr>
      <a:solidFill>
        <a:srgbClr val="1A1A2E"/>
      </a:solidFill>
      <a:effectLst/>
    </p:bgPr>
  </p:bg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096D6"/>
                </a:solidFill>
                <a:latin typeface="Calibri"/>
              </a:defRPr>
            </a:pPr>
            <a:r>
              <a:t>Summary — Developer Quick Reference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280160"/>
            <a:ext cx="5303520" cy="5029200"/>
          </a:xfrm>
          <a:prstGeom prst="roundRect">
            <a:avLst/>
          </a:prstGeom>
          <a:solidFill>
            <a:srgbClr val="2D2D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Populate Data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─────────────────────────────────────────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# Generate synthetic patients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manage.py generate_fhir_bundle \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--disease mm --count 50 -o data/mm.json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# Import into local DB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manage.py import_fhir_bundle \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--file data/mm.json --batch-size 5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# Or POST OMOP rows directly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POST /api/v1/measurements/  [{...}, ...]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POST /api/v1/conditions/    [{...}, ...]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Read Data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─────────────────────────────────────────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GET /api/v1/patient-records/     # list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GET /api/v1/patient-records/42/  # detail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GET /api/v1/measurements/?person=42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GET /api/v1/conditions/?person=42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GET /api/v1/concepts/search/?q=...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0" y="1280160"/>
            <a:ext cx="5029200" cy="5029200"/>
          </a:xfrm>
          <a:prstGeom prst="roundRect">
            <a:avLst/>
          </a:prstGeom>
          <a:solidFill>
            <a:srgbClr val="2D2D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Add a New Field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─────────────────────────────────────────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1. models.py      — add to PatientRecord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2. makemigrations  — generate migration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3. serializer      — auto-included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4. views.py        — FHIR mapping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5. patient.ts      — TypeScript type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6. *Tab.tsx        — React UI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7. generator       — synthetic FHIR data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8. tests           — all layers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Run Tests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─────────────────────────────────────────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# Django suite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manage.py test omop_core patient_portal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# Pytest suite (166+ tests)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python -m pytest -q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# Frontend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cd frontend &amp;&amp; npm test -- --run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bg>
    <p:bgPr>
      <a:solidFill>
        <a:srgbClr val="1A1A2E"/>
      </a:solidFill>
      <a:effectLst/>
    </p:bgPr>
  </p:bg>
  <p:cSld>
    <p:spTree>
      <p:nvGrpSpPr>
        <p:cNvPr id="1" name=""/>
        <p:cNvGrpSpPr/>
        <p:nvPr/>
      </p:nvGrpSpPr>
      <p:grpSpPr/>
      <p:sp>
        <p:nvSpPr>
          <p:cNvPr id="2" name="TB2"/>
          <p:cNvSpPr txBox="1"/>
          <p:nvPr/>
        </p:nvSpPr>
        <p:spPr>
          <a:xfrm>
            <a:off x="0" y="2743200"/>
            <a:ext cx="12192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0096D6"/>
                </a:solidFill>
                <a:latin typeface="Calibri"/>
              </a:defRPr>
            </a:pPr>
            <a:r>
              <a:rPr lang="en-US" sz="4400">
                <a:solidFill>
                  <a:srgbClr val="0096D6"/>
                </a:solidFill>
                <a:latin typeface="Calibri"/>
              </a:rPr>
              <a:t>BACKUP</a:t>
            </a:r>
          </a:p>
          <a:p>
            <a:pPr algn="ctr">
              <a:spcBef>
                <a:spcPts val="400"/>
              </a:spcBef>
              <a:defRPr sz="2000">
                <a:solidFill>
                  <a:srgbClr val="999999"/>
                </a:solidFill>
                <a:latin typeface="Calibri"/>
              </a:defRPr>
            </a:pPr>
            <a:r>
              <a:rPr lang="en-US" sz="2000">
                <a:solidFill>
                  <a:srgbClr val="999999"/>
                </a:solidFill>
                <a:latin typeface="Calibri"/>
              </a:rPr>
              <a:t>Supplementary Material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bg>
    <p:bgPr>
      <a:solidFill>
        <a:srgbClr val="1A1A2E"/>
      </a:solidFill>
      <a:effectLst/>
    </p:bgPr>
  </p:bg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FFFFFF"/>
                </a:solidFill>
                <a:latin typeface="Calibri"/>
              </a:defRPr>
            </a:pPr>
            <a:r>
              <a:t>Wearable Health Data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5661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AACCEE"/>
                </a:solidFill>
                <a:latin typeface="Calibri"/>
              </a:defRPr>
            </a:pPr>
            <a:r>
              <a:t>Ingesting Device Data from Garmin, Apple Health, and Beyond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4480560"/>
            <a:ext cx="10515600" cy="25400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48463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BBBBBB"/>
                </a:solidFill>
                <a:latin typeface="Calibri"/>
              </a:defRPr>
            </a:pPr>
            <a:r>
              <a:t>Upload  |  Parse  |  OMOP Measurement/Observation  |  30-Day Summaries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bg>
    <p:bgPr>
      <a:solidFill>
        <a:srgbClr val="1A1A2E"/>
      </a:solidFill>
      <a:effectLst/>
    </p:bgPr>
  </p:bg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096D6"/>
                </a:solidFill>
                <a:latin typeface="Calibri"/>
              </a:defRPr>
            </a:pPr>
            <a:r>
              <a:t>Wearable Data — Architecture Overview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280160"/>
            <a:ext cx="5303520" cy="5029200"/>
          </a:xfrm>
          <a:prstGeom prst="roundRect">
            <a:avLst/>
          </a:prstGeom>
          <a:solidFill>
            <a:srgbClr val="2D2D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Wearable File (.fit or .zip)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      |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      v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POST /api/v1/patient-records/upload-wearable/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      |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      v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Parser (Garmin FIT or Apple Health XML)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  -&gt; list of WearableSample(metric, date, value)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      |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      v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Artifact filter (WEARABLE_ARTIFACT_BOUNDS)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Dedup against existing OMOP rows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      |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      v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Concept resolution: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  metric_key -&gt; (vocabulary_id, concept_code)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  -&gt; Concept.objects.filter(vocab, code).first()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  -&gt; integer OMOP concept_id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      |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      v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bulk_create -&gt; Measurement or Observation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  (routed by concept.domain_id)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      |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      v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refresh_patient_record(person)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  -&gt; 22+ 30-day summary fields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      |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      v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WearableUpload history record created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0" y="1280160"/>
            <a:ext cx="5029200" cy="2377440"/>
          </a:xfrm>
          <a:prstGeom prst="roundRect">
            <a:avLst/>
          </a:prstGeom>
          <a:solidFill>
            <a:srgbClr val="2D2D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spcBef>
                <a:spcPts val="0"/>
              </a:spcBef>
              <a:spcAft>
                <a:spcPts val="0"/>
              </a:spcAft>
              <a:defRPr sz="1300">
                <a:solidFill>
                  <a:srgbClr val="D4D4D4"/>
                </a:solidFill>
                <a:latin typeface="Courier New"/>
              </a:defRPr>
            </a:pPr>
            <a:r>
              <a:t>Currently Supported Devices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300">
                <a:solidFill>
                  <a:srgbClr val="D4D4D4"/>
                </a:solidFill>
                <a:latin typeface="Courier New"/>
              </a:defRPr>
            </a:pPr>
            <a:r>
              <a:t>─────────────────────────────────────────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300">
                <a:solidFill>
                  <a:srgbClr val="D4D4D4"/>
                </a:solidFill>
                <a:latin typeface="Courier New"/>
              </a:defRPr>
            </a:pPr>
            <a:r>
              <a:t>Garmin    .fit files    HRV = RMSSD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300">
                <a:solidFill>
                  <a:srgbClr val="D4D4D4"/>
                </a:solidFill>
                <a:latin typeface="Courier New"/>
              </a:defRPr>
            </a:pPr>
            <a:r>
              <a:t>  (MARQ 2, Fenix 7+, Venu, etc.)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300">
                <a:solidFill>
                  <a:srgbClr val="D4D4D4"/>
                </a:solidFill>
                <a:latin typeface="Courier New"/>
              </a:defRPr>
            </a:pPr>
          </a:p>
          <a:p>
            <a:pPr>
              <a:spcBef>
                <a:spcPts val="0"/>
              </a:spcBef>
              <a:spcAft>
                <a:spcPts val="0"/>
              </a:spcAft>
              <a:defRPr sz="1300">
                <a:solidFill>
                  <a:srgbClr val="D4D4D4"/>
                </a:solidFill>
                <a:latin typeface="Courier New"/>
              </a:defRPr>
            </a:pPr>
            <a:r>
              <a:t>Apple     .zip export   HRV = SDNN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300">
                <a:solidFill>
                  <a:srgbClr val="D4D4D4"/>
                </a:solidFill>
                <a:latin typeface="Courier New"/>
              </a:defRPr>
            </a:pPr>
            <a:r>
              <a:t>  (Health app export.xml inside zip)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300">
                <a:solidFill>
                  <a:srgbClr val="D4D4D4"/>
                </a:solidFill>
                <a:latin typeface="Courier New"/>
              </a:defRPr>
            </a:pPr>
          </a:p>
          <a:p>
            <a:pPr>
              <a:spcBef>
                <a:spcPts val="0"/>
              </a:spcBef>
              <a:spcAft>
                <a:spcPts val="0"/>
              </a:spcAft>
              <a:defRPr sz="1300">
                <a:solidFill>
                  <a:srgbClr val="D4D4D4"/>
                </a:solidFill>
                <a:latin typeface="Courier New"/>
              </a:defRPr>
            </a:pPr>
            <a:r>
              <a:t>Not yet:  Whoop, Oura, Fitbit, Samsung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0" y="3931920"/>
            <a:ext cx="5029200" cy="2377440"/>
          </a:xfrm>
          <a:prstGeom prst="roundRect">
            <a:avLst/>
          </a:prstGeom>
          <a:solidFill>
            <a:srgbClr val="2D2D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spcBef>
                <a:spcPts val="0"/>
              </a:spcBef>
              <a:spcAft>
                <a:spcPts val="0"/>
              </a:spcAft>
              <a:defRPr sz="1300">
                <a:solidFill>
                  <a:srgbClr val="D4D4D4"/>
                </a:solidFill>
                <a:latin typeface="Courier New"/>
              </a:defRPr>
            </a:pPr>
            <a:r>
              <a:t>Key Design Decisions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300">
                <a:solidFill>
                  <a:srgbClr val="D4D4D4"/>
                </a:solidFill>
                <a:latin typeface="Courier New"/>
              </a:defRPr>
            </a:pPr>
            <a:r>
              <a:t>─────────────────────────────────────────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300">
                <a:solidFill>
                  <a:srgbClr val="D4D4D4"/>
                </a:solidFill>
                <a:latin typeface="Courier New"/>
              </a:defRPr>
            </a:pPr>
            <a:r>
              <a:t>- HRV intentionally split: SDNN vs RMSSD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300">
                <a:solidFill>
                  <a:srgbClr val="D4D4D4"/>
                </a:solidFill>
                <a:latin typeface="Courier New"/>
              </a:defRPr>
            </a:pPr>
            <a:r>
              <a:t>  are different statistics, never combined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300">
                <a:solidFill>
                  <a:srgbClr val="D4D4D4"/>
                </a:solidFill>
                <a:latin typeface="Courier New"/>
              </a:defRPr>
            </a:pPr>
            <a:r>
              <a:t>- Resting HR: dedicated field or p10 fallback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300">
                <a:solidFill>
                  <a:srgbClr val="D4D4D4"/>
                </a:solidFill>
                <a:latin typeface="Courier New"/>
              </a:defRPr>
            </a:pPr>
            <a:r>
              <a:t>- Activity metrics -&gt; Observation table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300">
                <a:solidFill>
                  <a:srgbClr val="D4D4D4"/>
                </a:solidFill>
                <a:latin typeface="Courier New"/>
              </a:defRPr>
            </a:pPr>
            <a:r>
              <a:t>  Physiological metrics -&gt; Measurement table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300">
                <a:solidFill>
                  <a:srgbClr val="D4D4D4"/>
                </a:solidFill>
                <a:latin typeface="Courier New"/>
              </a:defRPr>
            </a:pPr>
            <a:r>
              <a:t>- All wearable 30d fields are read-only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300">
                <a:solidFill>
                  <a:srgbClr val="D4D4D4"/>
                </a:solidFill>
                <a:latin typeface="Courier New"/>
              </a:defRPr>
            </a:pPr>
            <a:r>
              <a:t>  (protected from PATCH by serializer)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bg>
    <p:bgPr>
      <a:solidFill>
        <a:srgbClr val="1A1A2E"/>
      </a:solidFill>
      <a:effectLst/>
    </p:bgPr>
  </p:bg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096D6"/>
                </a:solidFill>
                <a:latin typeface="Calibri"/>
              </a:defRPr>
            </a:pPr>
            <a:r>
              <a:t>Writing Wearable Metrics via the OMOP API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5156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BBBBB"/>
                </a:solidFill>
                <a:latin typeface="Calibri"/>
              </a:defRPr>
            </a:pPr>
            <a:r>
              <a:t>You can write wearable data directly as Measurement or Observation rows — PRomop resolves concepts for you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303520" cy="1828800"/>
          </a:xfrm>
          <a:prstGeom prst="roundRect">
            <a:avLst/>
          </a:prstGeom>
          <a:solidFill>
            <a:srgbClr val="2D2D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spcBef>
                <a:spcPts val="0"/>
              </a:spcBef>
              <a:spcAft>
                <a:spcPts val="0"/>
              </a:spcAft>
              <a:defRPr sz="1100">
                <a:solidFill>
                  <a:srgbClr val="D4D4D4"/>
                </a:solidFill>
                <a:latin typeface="Courier New"/>
              </a:defRPr>
            </a:pPr>
            <a:r>
              <a:t>Step 0: Look up OMOP concept_ids from vocabulary codes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100">
                <a:solidFill>
                  <a:srgbClr val="D4D4D4"/>
                </a:solidFill>
                <a:latin typeface="Courier New"/>
              </a:defRPr>
            </a:pPr>
            <a:r>
              <a:t># GET /api/v1/concepts/lookup/ resolves (vocabulary, code) -&gt; concept_id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100">
                <a:solidFill>
                  <a:srgbClr val="D4D4D4"/>
                </a:solidFill>
                <a:latin typeface="Courier New"/>
              </a:defRPr>
            </a:pPr>
          </a:p>
          <a:p>
            <a:pPr>
              <a:spcBef>
                <a:spcPts val="0"/>
              </a:spcBef>
              <a:spcAft>
                <a:spcPts val="0"/>
              </a:spcAft>
              <a:defRPr sz="1100">
                <a:solidFill>
                  <a:srgbClr val="D4D4D4"/>
                </a:solidFill>
                <a:latin typeface="Courier New"/>
              </a:defRPr>
            </a:pPr>
            <a:r>
              <a:t>curl "/api/v1/concepts/lookup/\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100">
                <a:solidFill>
                  <a:srgbClr val="D4D4D4"/>
                </a:solidFill>
                <a:latin typeface="Courier New"/>
              </a:defRPr>
            </a:pPr>
            <a:r>
              <a:t>  ?lookup=LOINC:40443-4\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100">
                <a:solidFill>
                  <a:srgbClr val="D4D4D4"/>
                </a:solidFill>
                <a:latin typeface="Courier New"/>
              </a:defRPr>
            </a:pPr>
            <a:r>
              <a:t>  &amp;lookup=LOINC:55423-8\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100">
                <a:solidFill>
                  <a:srgbClr val="D4D4D4"/>
                </a:solidFill>
                <a:latin typeface="Courier New"/>
              </a:defRPr>
            </a:pPr>
            <a:r>
              <a:t>  &amp;lookup=HK-Wearable:HK-WEAR-HRV-RMSSD"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100">
                <a:solidFill>
                  <a:srgbClr val="D4D4D4"/>
                </a:solidFill>
                <a:latin typeface="Courier New"/>
              </a:defRPr>
            </a:pPr>
          </a:p>
          <a:p>
            <a:pPr>
              <a:spcBef>
                <a:spcPts val="0"/>
              </a:spcBef>
              <a:spcAft>
                <a:spcPts val="0"/>
              </a:spcAft>
              <a:defRPr sz="1100">
                <a:solidFill>
                  <a:srgbClr val="D4D4D4"/>
                </a:solidFill>
                <a:latin typeface="Courier New"/>
              </a:defRPr>
            </a:pPr>
            <a:r>
              <a:t># Response:  { "LOINC":       { "40443-4": 3027018, "55423-8": 40771152 },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100">
                <a:solidFill>
                  <a:srgbClr val="D4D4D4"/>
                </a:solidFill>
                <a:latin typeface="Courier New"/>
              </a:defRPr>
            </a:pPr>
            <a:r>
              <a:t>#              "HK-Wearable": { "HK-WEAR-HRV-RMSSD": 2029606354 } }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3749039"/>
            <a:ext cx="5303520" cy="2926080"/>
          </a:xfrm>
          <a:prstGeom prst="roundRect">
            <a:avLst/>
          </a:prstGeom>
          <a:solidFill>
            <a:srgbClr val="2D2D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spcBef>
                <a:spcPts val="0"/>
              </a:spcBef>
              <a:spcAft>
                <a:spcPts val="0"/>
              </a:spcAft>
              <a:defRPr sz="1000">
                <a:solidFill>
                  <a:srgbClr val="D4D4D4"/>
                </a:solidFill>
                <a:latin typeface="Courier New"/>
              </a:defRPr>
            </a:pPr>
            <a:r>
              <a:t>Example 1: Resting Heart Rate (LOINC -&gt; Measurement)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000">
                <a:solidFill>
                  <a:srgbClr val="D4D4D4"/>
                </a:solidFill>
                <a:latin typeface="Courier New"/>
              </a:defRPr>
            </a:pPr>
            <a:r>
              <a:t># LOINC 40443-4 = Heart rate --resting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000">
                <a:solidFill>
                  <a:srgbClr val="D4D4D4"/>
                </a:solidFill>
                <a:latin typeface="Courier New"/>
              </a:defRPr>
            </a:pPr>
          </a:p>
          <a:p>
            <a:pPr>
              <a:spcBef>
                <a:spcPts val="0"/>
              </a:spcBef>
              <a:spcAft>
                <a:spcPts val="0"/>
              </a:spcAft>
              <a:defRPr sz="1000">
                <a:solidFill>
                  <a:srgbClr val="D4D4D4"/>
                </a:solidFill>
                <a:latin typeface="Courier New"/>
              </a:defRPr>
            </a:pPr>
            <a:r>
              <a:t>curl -X POST /api/v1/measurements/ \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000">
                <a:solidFill>
                  <a:srgbClr val="D4D4D4"/>
                </a:solidFill>
                <a:latin typeface="Courier New"/>
              </a:defRPr>
            </a:pPr>
            <a:r>
              <a:t>  -H "Authorization: Bearer $TOKEN" \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000">
                <a:solidFill>
                  <a:srgbClr val="D4D4D4"/>
                </a:solidFill>
                <a:latin typeface="Courier New"/>
              </a:defRPr>
            </a:pPr>
            <a:r>
              <a:t>  -H "Content-Type: application/json" \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000">
                <a:solidFill>
                  <a:srgbClr val="D4D4D4"/>
                </a:solidFill>
                <a:latin typeface="Courier New"/>
              </a:defRPr>
            </a:pPr>
            <a:r>
              <a:t>  -d '[                                       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000">
                <a:solidFill>
                  <a:srgbClr val="D4D4D4"/>
                </a:solidFill>
                <a:latin typeface="Courier New"/>
              </a:defRPr>
            </a:pPr>
            <a:r>
              <a:t>    { "person": 42,                           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000">
                <a:solidFill>
                  <a:srgbClr val="D4D4D4"/>
                </a:solidFill>
                <a:latin typeface="Courier New"/>
              </a:defRPr>
            </a:pPr>
            <a:r>
              <a:t>      "measurement_concept": 3027018,         # &lt;-- concept_id from lookup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000">
                <a:solidFill>
                  <a:srgbClr val="D4D4D4"/>
                </a:solidFill>
                <a:latin typeface="Courier New"/>
              </a:defRPr>
            </a:pPr>
            <a:r>
              <a:t>      "measurement_date": "2025-06-01",       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000">
                <a:solidFill>
                  <a:srgbClr val="D4D4D4"/>
                </a:solidFill>
                <a:latin typeface="Courier New"/>
              </a:defRPr>
            </a:pPr>
            <a:r>
              <a:t>      "value_as_number": 58,                  # bpm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000">
                <a:solidFill>
                  <a:srgbClr val="D4D4D4"/>
                </a:solidFill>
                <a:latin typeface="Courier New"/>
              </a:defRPr>
            </a:pPr>
            <a:r>
              <a:t>      "measurement_source_value": "40443-4",  # store the LOINC code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000">
                <a:solidFill>
                  <a:srgbClr val="D4D4D4"/>
                </a:solidFill>
                <a:latin typeface="Courier New"/>
              </a:defRPr>
            </a:pPr>
            <a:r>
              <a:t>      "measurement_type_concept": 32865 },    # Patient self-report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000">
                <a:solidFill>
                  <a:srgbClr val="D4D4D4"/>
                </a:solidFill>
                <a:latin typeface="Courier New"/>
              </a:defRPr>
            </a:pPr>
            <a:r>
              <a:t>    { "person": 42,                           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000">
                <a:solidFill>
                  <a:srgbClr val="D4D4D4"/>
                </a:solidFill>
                <a:latin typeface="Courier New"/>
              </a:defRPr>
            </a:pPr>
            <a:r>
              <a:t>      "measurement_concept": 3027018,         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000">
                <a:solidFill>
                  <a:srgbClr val="D4D4D4"/>
                </a:solidFill>
                <a:latin typeface="Courier New"/>
              </a:defRPr>
            </a:pPr>
            <a:r>
              <a:t>      "measurement_date": "2025-06-02",       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000">
                <a:solidFill>
                  <a:srgbClr val="D4D4D4"/>
                </a:solidFill>
                <a:latin typeface="Courier New"/>
              </a:defRPr>
            </a:pPr>
            <a:r>
              <a:t>      "value_as_number": 61,                  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000">
                <a:solidFill>
                  <a:srgbClr val="D4D4D4"/>
                </a:solidFill>
                <a:latin typeface="Courier New"/>
              </a:defRPr>
            </a:pPr>
            <a:r>
              <a:t>      "measurement_source_value": "40443-4",  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000">
                <a:solidFill>
                  <a:srgbClr val="D4D4D4"/>
                </a:solidFill>
                <a:latin typeface="Courier New"/>
              </a:defRPr>
            </a:pPr>
            <a:r>
              <a:t>      "measurement_type_concept": 32865 }     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000">
                <a:solidFill>
                  <a:srgbClr val="D4D4D4"/>
                </a:solidFill>
                <a:latin typeface="Courier New"/>
              </a:defRPr>
            </a:pPr>
            <a:r>
              <a:t>  ]'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0" y="1645920"/>
            <a:ext cx="5029200" cy="2286000"/>
          </a:xfrm>
          <a:prstGeom prst="roundRect">
            <a:avLst/>
          </a:prstGeom>
          <a:solidFill>
            <a:srgbClr val="2D2D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spcBef>
                <a:spcPts val="0"/>
              </a:spcBef>
              <a:spcAft>
                <a:spcPts val="0"/>
              </a:spcAft>
              <a:defRPr sz="1000">
                <a:solidFill>
                  <a:srgbClr val="D4D4D4"/>
                </a:solidFill>
                <a:latin typeface="Courier New"/>
              </a:defRPr>
            </a:pPr>
            <a:r>
              <a:t>Example 2: Daily Steps (LOINC -&gt; Observation)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000">
                <a:solidFill>
                  <a:srgbClr val="D4D4D4"/>
                </a:solidFill>
                <a:latin typeface="Courier New"/>
              </a:defRPr>
            </a:pPr>
            <a:r>
              <a:t># LOINC 55423-8 = Steps (pedometer)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000">
                <a:solidFill>
                  <a:srgbClr val="D4D4D4"/>
                </a:solidFill>
                <a:latin typeface="Courier New"/>
              </a:defRPr>
            </a:pPr>
            <a:r>
              <a:t># Steps go to Observation, not Measurement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000">
                <a:solidFill>
                  <a:srgbClr val="D4D4D4"/>
                </a:solidFill>
                <a:latin typeface="Courier New"/>
              </a:defRPr>
            </a:pPr>
          </a:p>
          <a:p>
            <a:pPr>
              <a:spcBef>
                <a:spcPts val="0"/>
              </a:spcBef>
              <a:spcAft>
                <a:spcPts val="0"/>
              </a:spcAft>
              <a:defRPr sz="1000">
                <a:solidFill>
                  <a:srgbClr val="D4D4D4"/>
                </a:solidFill>
                <a:latin typeface="Courier New"/>
              </a:defRPr>
            </a:pPr>
            <a:r>
              <a:t>curl -X POST /api/v1/observations/ \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000">
                <a:solidFill>
                  <a:srgbClr val="D4D4D4"/>
                </a:solidFill>
                <a:latin typeface="Courier New"/>
              </a:defRPr>
            </a:pPr>
            <a:r>
              <a:t>  -H "Authorization: Bearer $TOKEN" \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000">
                <a:solidFill>
                  <a:srgbClr val="D4D4D4"/>
                </a:solidFill>
                <a:latin typeface="Courier New"/>
              </a:defRPr>
            </a:pPr>
            <a:r>
              <a:t>  -H "Content-Type: application/json" \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000">
                <a:solidFill>
                  <a:srgbClr val="D4D4D4"/>
                </a:solidFill>
                <a:latin typeface="Courier New"/>
              </a:defRPr>
            </a:pPr>
            <a:r>
              <a:t>  -d '[                                       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000">
                <a:solidFill>
                  <a:srgbClr val="D4D4D4"/>
                </a:solidFill>
                <a:latin typeface="Courier New"/>
              </a:defRPr>
            </a:pPr>
            <a:r>
              <a:t>    { "person": 42,                           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000">
                <a:solidFill>
                  <a:srgbClr val="D4D4D4"/>
                </a:solidFill>
                <a:latin typeface="Courier New"/>
              </a:defRPr>
            </a:pPr>
            <a:r>
              <a:t>      "observation_concept": 40771152,        # &lt;-- from lookup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000">
                <a:solidFill>
                  <a:srgbClr val="D4D4D4"/>
                </a:solidFill>
                <a:latin typeface="Courier New"/>
              </a:defRPr>
            </a:pPr>
            <a:r>
              <a:t>      "observation_date": "2025-06-01",       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000">
                <a:solidFill>
                  <a:srgbClr val="D4D4D4"/>
                </a:solidFill>
                <a:latin typeface="Courier New"/>
              </a:defRPr>
            </a:pPr>
            <a:r>
              <a:t>      "value_as_number": 8432,                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000">
                <a:solidFill>
                  <a:srgbClr val="D4D4D4"/>
                </a:solidFill>
                <a:latin typeface="Courier New"/>
              </a:defRPr>
            </a:pPr>
            <a:r>
              <a:t>      "observation_source_value": "55423-8",  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000">
                <a:solidFill>
                  <a:srgbClr val="D4D4D4"/>
                </a:solidFill>
                <a:latin typeface="Courier New"/>
              </a:defRPr>
            </a:pPr>
            <a:r>
              <a:t>      "observation_type_concept": 32865 }     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000">
                <a:solidFill>
                  <a:srgbClr val="D4D4D4"/>
                </a:solidFill>
                <a:latin typeface="Courier New"/>
              </a:defRPr>
            </a:pPr>
            <a:r>
              <a:t>  ]'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0" y="4206240"/>
            <a:ext cx="5029200" cy="2468880"/>
          </a:xfrm>
          <a:prstGeom prst="roundRect">
            <a:avLst/>
          </a:prstGeom>
          <a:solidFill>
            <a:srgbClr val="2D2D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spcBef>
                <a:spcPts val="0"/>
              </a:spcBef>
              <a:spcAft>
                <a:spcPts val="0"/>
              </a:spcAft>
              <a:defRPr sz="1000">
                <a:solidFill>
                  <a:srgbClr val="D4D4D4"/>
                </a:solidFill>
                <a:latin typeface="Courier New"/>
              </a:defRPr>
            </a:pPr>
            <a:r>
              <a:t>Example 3: HRV RMSSD (HK-Wearable -&gt; Measurement)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000">
                <a:solidFill>
                  <a:srgbClr val="D4D4D4"/>
                </a:solidFill>
                <a:latin typeface="Courier New"/>
              </a:defRPr>
            </a:pPr>
            <a:r>
              <a:t># No LOINC exists — uses locally-minted concept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000">
                <a:solidFill>
                  <a:srgbClr val="D4D4D4"/>
                </a:solidFill>
                <a:latin typeface="Courier New"/>
              </a:defRPr>
            </a:pPr>
            <a:r>
              <a:t># HK-Wearable:HK-WEAR-HRV-RMSSD = 2029606354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000">
                <a:solidFill>
                  <a:srgbClr val="D4D4D4"/>
                </a:solidFill>
                <a:latin typeface="Courier New"/>
              </a:defRPr>
            </a:pPr>
          </a:p>
          <a:p>
            <a:pPr>
              <a:spcBef>
                <a:spcPts val="0"/>
              </a:spcBef>
              <a:spcAft>
                <a:spcPts val="0"/>
              </a:spcAft>
              <a:defRPr sz="1000">
                <a:solidFill>
                  <a:srgbClr val="D4D4D4"/>
                </a:solidFill>
                <a:latin typeface="Courier New"/>
              </a:defRPr>
            </a:pPr>
            <a:r>
              <a:t>curl -X POST /api/v1/measurements/ \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000">
                <a:solidFill>
                  <a:srgbClr val="D4D4D4"/>
                </a:solidFill>
                <a:latin typeface="Courier New"/>
              </a:defRPr>
            </a:pPr>
            <a:r>
              <a:t>  -H "Authorization: Bearer $TOKEN" \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000">
                <a:solidFill>
                  <a:srgbClr val="D4D4D4"/>
                </a:solidFill>
                <a:latin typeface="Courier New"/>
              </a:defRPr>
            </a:pPr>
            <a:r>
              <a:t>  -H "Content-Type: application/json" \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000">
                <a:solidFill>
                  <a:srgbClr val="D4D4D4"/>
                </a:solidFill>
                <a:latin typeface="Courier New"/>
              </a:defRPr>
            </a:pPr>
            <a:r>
              <a:t>  -d '[                                              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000">
                <a:solidFill>
                  <a:srgbClr val="D4D4D4"/>
                </a:solidFill>
                <a:latin typeface="Courier New"/>
              </a:defRPr>
            </a:pPr>
            <a:r>
              <a:t>    { "person": 42,                                  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000">
                <a:solidFill>
                  <a:srgbClr val="D4D4D4"/>
                </a:solidFill>
                <a:latin typeface="Courier New"/>
              </a:defRPr>
            </a:pPr>
            <a:r>
              <a:t>      "measurement_concept": 2029606354,             # fixed ID (seeded)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000">
                <a:solidFill>
                  <a:srgbClr val="D4D4D4"/>
                </a:solidFill>
                <a:latin typeface="Courier New"/>
              </a:defRPr>
            </a:pPr>
            <a:r>
              <a:t>      "measurement_date": "2025-06-01",              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000">
                <a:solidFill>
                  <a:srgbClr val="D4D4D4"/>
                </a:solidFill>
                <a:latin typeface="Courier New"/>
              </a:defRPr>
            </a:pPr>
            <a:r>
              <a:t>      "value_as_number": 45.2,                       # ms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000">
                <a:solidFill>
                  <a:srgbClr val="D4D4D4"/>
                </a:solidFill>
                <a:latin typeface="Courier New"/>
              </a:defRPr>
            </a:pPr>
            <a:r>
              <a:t>      "measurement_source_value": "HK-WEAR-HRV-RMSSD",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000">
                <a:solidFill>
                  <a:srgbClr val="D4D4D4"/>
                </a:solidFill>
                <a:latin typeface="Courier New"/>
              </a:defRPr>
            </a:pPr>
            <a:r>
              <a:t>      "measurement_type_concept": 32865 }            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000">
                <a:solidFill>
                  <a:srgbClr val="D4D4D4"/>
                </a:solidFill>
                <a:latin typeface="Courier New"/>
              </a:defRPr>
            </a:pPr>
            <a:r>
              <a:t>  ]'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bg>
    <p:bgPr>
      <a:solidFill>
        <a:srgbClr val="1A1A2E"/>
      </a:solidFill>
      <a:effectLst/>
    </p:bgPr>
  </p:bg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096D6"/>
                </a:solidFill>
                <a:latin typeface="Calibri"/>
              </a:defRPr>
            </a:pPr>
            <a:r>
              <a:t>Wearable Metrics — Concept Resolution Reference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5156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F39C12"/>
                </a:solidFill>
                <a:latin typeface="Calibri"/>
              </a:defRPr>
            </a:pPr>
            <a:r>
              <a:t>LOINC codes are NOT OMOP concept IDs. Resolution: metric_key -&gt; (vocabulary_id, concept_code) -&gt; concept_id (integer)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7132320" cy="4754880"/>
          </a:xfrm>
          <a:prstGeom prst="roundRect">
            <a:avLst/>
          </a:prstGeom>
          <a:solidFill>
            <a:srgbClr val="2D2D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spcBef>
                <a:spcPts val="0"/>
              </a:spcBef>
              <a:spcAft>
                <a:spcPts val="0"/>
              </a:spcAft>
              <a:defRPr sz="1000">
                <a:solidFill>
                  <a:srgbClr val="D4D4D4"/>
                </a:solidFill>
                <a:latin typeface="Courier New"/>
              </a:defRPr>
            </a:pPr>
            <a:r>
              <a:t>Metric              Vocabulary    Code               OMOP Table     Example concept_id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000">
                <a:solidFill>
                  <a:srgbClr val="D4D4D4"/>
                </a:solidFill>
                <a:latin typeface="Courier New"/>
              </a:defRPr>
            </a:pPr>
            <a:r>
              <a:t>─────────────────────────────────────────────────────────────────────────────────────────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000">
                <a:solidFill>
                  <a:srgbClr val="D4D4D4"/>
                </a:solidFill>
                <a:latin typeface="Courier New"/>
              </a:defRPr>
            </a:pPr>
            <a:r>
              <a:t>steps               LOINC         55423-8            Observation    (resolved at runtime)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000">
                <a:solidFill>
                  <a:srgbClr val="D4D4D4"/>
                </a:solidFill>
                <a:latin typeface="Courier New"/>
              </a:defRPr>
            </a:pPr>
            <a:r>
              <a:t>active_minutes       LOINC         55411-3            Observation    (resolved at runtime)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000">
                <a:solidFill>
                  <a:srgbClr val="D4D4D4"/>
                </a:solidFill>
                <a:latin typeface="Courier New"/>
              </a:defRPr>
            </a:pPr>
            <a:r>
              <a:t>resting_hr           LOINC         40443-4            Measurement    (resolved at runtime)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000">
                <a:solidFill>
                  <a:srgbClr val="D4D4D4"/>
                </a:solidFill>
                <a:latin typeface="Courier New"/>
              </a:defRPr>
            </a:pPr>
            <a:r>
              <a:t>hrv_sdnn             LOINC         80404-7            Measurement    (resolved at runtime)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000">
                <a:solidFill>
                  <a:srgbClr val="D4D4D4"/>
                </a:solidFill>
                <a:latin typeface="Courier New"/>
              </a:defRPr>
            </a:pPr>
            <a:r>
              <a:t>hrv_rmssd            HK-Wearable   HK-WEAR-HRV-RMSSD Measurement    2029606354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000">
                <a:solidFill>
                  <a:srgbClr val="D4D4D4"/>
                </a:solidFill>
                <a:latin typeface="Courier New"/>
              </a:defRPr>
            </a:pPr>
            <a:r>
              <a:t>spo2                 LOINC         59408-5            Measurement    (resolved at runtime)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000">
                <a:solidFill>
                  <a:srgbClr val="D4D4D4"/>
                </a:solidFill>
                <a:latin typeface="Courier New"/>
              </a:defRPr>
            </a:pPr>
            <a:r>
              <a:t>respiratory_rate     LOINC         9279-1             Measurement    (resolved at runtime)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000">
                <a:solidFill>
                  <a:srgbClr val="D4D4D4"/>
                </a:solidFill>
                <a:latin typeface="Courier New"/>
              </a:defRPr>
            </a:pPr>
            <a:r>
              <a:t>sleep_duration       LOINC         93832-4            Observation    (resolved at runtime)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000">
                <a:solidFill>
                  <a:srgbClr val="D4D4D4"/>
                </a:solidFill>
                <a:latin typeface="Courier New"/>
              </a:defRPr>
            </a:pPr>
            <a:r>
              <a:t>vo2_max              LOINC         94122-9            Measurement    (resolved at runtime)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000">
                <a:solidFill>
                  <a:srgbClr val="D4D4D4"/>
                </a:solidFill>
                <a:latin typeface="Courier New"/>
              </a:defRPr>
            </a:pPr>
            <a:r>
              <a:t>distance             LOINC         41953-1            Measurement    (resolved at runtime)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000">
                <a:solidFill>
                  <a:srgbClr val="D4D4D4"/>
                </a:solidFill>
                <a:latin typeface="Courier New"/>
              </a:defRPr>
            </a:pPr>
            <a:r>
              <a:t>walking_speed        LOINC         41957-2            Measurement    (resolved at runtime)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000">
                <a:solidFill>
                  <a:srgbClr val="D4D4D4"/>
                </a:solidFill>
                <a:latin typeface="Courier New"/>
              </a:defRPr>
            </a:pPr>
            <a:r>
              <a:t>walking_step_length  HK-Wearable   HK-WEAR-STEP-LENGTH Measurement  2029606350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000">
                <a:solidFill>
                  <a:srgbClr val="D4D4D4"/>
                </a:solidFill>
                <a:latin typeface="Courier New"/>
              </a:defRPr>
            </a:pPr>
            <a:r>
              <a:t>walking_dbl_support  HK-Wearable   HK-WEAR-DBL-SUPPORT Measurement  2029606351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000">
                <a:solidFill>
                  <a:srgbClr val="D4D4D4"/>
                </a:solidFill>
                <a:latin typeface="Courier New"/>
              </a:defRPr>
            </a:pPr>
            <a:r>
              <a:t>walking_hr_avg       HK-Wearable   HK-WEAR-WALK-HR    Measurement   2029606352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000">
                <a:solidFill>
                  <a:srgbClr val="D4D4D4"/>
                </a:solidFill>
                <a:latin typeface="Courier New"/>
              </a:defRPr>
            </a:pPr>
            <a:r>
              <a:t>active_energy        LOINC         93819-1            Measurement    (resolved at runtime)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000">
                <a:solidFill>
                  <a:srgbClr val="D4D4D4"/>
                </a:solidFill>
                <a:latin typeface="Courier New"/>
              </a:defRPr>
            </a:pPr>
            <a:r>
              <a:t>basal_energy         HK-Wearable   HK-WEAR-BASAL-ENERGY Measurement 2029606353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000">
                <a:solidFill>
                  <a:srgbClr val="D4D4D4"/>
                </a:solidFill>
                <a:latin typeface="Courier New"/>
              </a:defRPr>
            </a:pPr>
            <a:r>
              <a:t>body_mass            LOINC         29463-7            Measurement    (resolved at runtime)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000">
                <a:solidFill>
                  <a:srgbClr val="D4D4D4"/>
                </a:solidFill>
                <a:latin typeface="Courier New"/>
              </a:defRPr>
            </a:pPr>
            <a:r>
              <a:t>flights_climbed      LOINC         100304-5           Observation    (resolved at runtime)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0" y="1645920"/>
            <a:ext cx="3200400" cy="4754880"/>
          </a:xfrm>
          <a:prstGeom prst="roundRect">
            <a:avLst/>
          </a:prstGeom>
          <a:solidFill>
            <a:srgbClr val="2D2D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spcBef>
                <a:spcPts val="0"/>
              </a:spcBef>
              <a:spcAft>
                <a:spcPts val="0"/>
              </a:spcAft>
              <a:defRPr sz="1000">
                <a:solidFill>
                  <a:srgbClr val="D4D4D4"/>
                </a:solidFill>
                <a:latin typeface="Courier New"/>
              </a:defRPr>
            </a:pPr>
            <a:r>
              <a:t>How Resolution Works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000">
                <a:solidFill>
                  <a:srgbClr val="D4D4D4"/>
                </a:solidFill>
                <a:latin typeface="Courier New"/>
              </a:defRPr>
            </a:pPr>
            <a:r>
              <a:t>─────────────────────────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000">
                <a:solidFill>
                  <a:srgbClr val="D4D4D4"/>
                </a:solidFill>
                <a:latin typeface="Courier New"/>
              </a:defRPr>
            </a:pPr>
          </a:p>
          <a:p>
            <a:pPr>
              <a:spcBef>
                <a:spcPts val="0"/>
              </a:spcBef>
              <a:spcAft>
                <a:spcPts val="0"/>
              </a:spcAft>
              <a:defRPr sz="1000">
                <a:solidFill>
                  <a:srgbClr val="D4D4D4"/>
                </a:solidFill>
                <a:latin typeface="Courier New"/>
              </a:defRPr>
            </a:pPr>
            <a:r>
              <a:t># mappings.py stores: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000">
                <a:solidFill>
                  <a:srgbClr val="D4D4D4"/>
                </a:solidFill>
                <a:latin typeface="Courier New"/>
              </a:defRPr>
            </a:pPr>
            <a:r>
              <a:t>WEARABLE_CONCEPT_CODE = {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000">
                <a:solidFill>
                  <a:srgbClr val="D4D4D4"/>
                </a:solidFill>
                <a:latin typeface="Courier New"/>
              </a:defRPr>
            </a:pPr>
            <a:r>
              <a:t>  'resting_hr': '40443-4',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000">
                <a:solidFill>
                  <a:srgbClr val="D4D4D4"/>
                </a:solidFill>
                <a:latin typeface="Courier New"/>
              </a:defRPr>
            </a:pPr>
            <a:r>
              <a:t>  ...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000">
                <a:solidFill>
                  <a:srgbClr val="D4D4D4"/>
                </a:solidFill>
                <a:latin typeface="Courier New"/>
              </a:defRPr>
            </a:pPr>
            <a:r>
              <a:t>}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000">
                <a:solidFill>
                  <a:srgbClr val="D4D4D4"/>
                </a:solidFill>
                <a:latin typeface="Courier New"/>
              </a:defRPr>
            </a:pPr>
            <a:r>
              <a:t>WEARABLE_CONCEPT_VOCAB = {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000">
                <a:solidFill>
                  <a:srgbClr val="D4D4D4"/>
                </a:solidFill>
                <a:latin typeface="Courier New"/>
              </a:defRPr>
            </a:pPr>
            <a:r>
              <a:t>  'resting_hr': 'LOINC',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000">
                <a:solidFill>
                  <a:srgbClr val="D4D4D4"/>
                </a:solidFill>
                <a:latin typeface="Courier New"/>
              </a:defRPr>
            </a:pPr>
            <a:r>
              <a:t>  ...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000">
                <a:solidFill>
                  <a:srgbClr val="D4D4D4"/>
                </a:solidFill>
                <a:latin typeface="Courier New"/>
              </a:defRPr>
            </a:pPr>
            <a:r>
              <a:t>}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000">
                <a:solidFill>
                  <a:srgbClr val="D4D4D4"/>
                </a:solidFill>
                <a:latin typeface="Courier New"/>
              </a:defRPr>
            </a:pPr>
          </a:p>
          <a:p>
            <a:pPr>
              <a:spcBef>
                <a:spcPts val="0"/>
              </a:spcBef>
              <a:spcAft>
                <a:spcPts val="0"/>
              </a:spcAft>
              <a:defRPr sz="1000">
                <a:solidFill>
                  <a:srgbClr val="D4D4D4"/>
                </a:solidFill>
                <a:latin typeface="Courier New"/>
              </a:defRPr>
            </a:pPr>
            <a:r>
              <a:t># At runtime (views.py):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000">
                <a:solidFill>
                  <a:srgbClr val="D4D4D4"/>
                </a:solidFill>
                <a:latin typeface="Courier New"/>
              </a:defRPr>
            </a:pPr>
            <a:r>
              <a:t>concept = Concept.objects\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000">
                <a:solidFill>
                  <a:srgbClr val="D4D4D4"/>
                </a:solidFill>
                <a:latin typeface="Courier New"/>
              </a:defRPr>
            </a:pPr>
            <a:r>
              <a:t>  .filter(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000">
                <a:solidFill>
                  <a:srgbClr val="D4D4D4"/>
                </a:solidFill>
                <a:latin typeface="Courier New"/>
              </a:defRPr>
            </a:pPr>
            <a:r>
              <a:t>    vocabulary_id='LOINC',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000">
                <a:solidFill>
                  <a:srgbClr val="D4D4D4"/>
                </a:solidFill>
                <a:latin typeface="Courier New"/>
              </a:defRPr>
            </a:pPr>
            <a:r>
              <a:t>    concept_code='40443-4'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000">
                <a:solidFill>
                  <a:srgbClr val="D4D4D4"/>
                </a:solidFill>
                <a:latin typeface="Courier New"/>
              </a:defRPr>
            </a:pPr>
            <a:r>
              <a:t>  ).first()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000">
                <a:solidFill>
                  <a:srgbClr val="D4D4D4"/>
                </a:solidFill>
                <a:latin typeface="Courier New"/>
              </a:defRPr>
            </a:pPr>
          </a:p>
          <a:p>
            <a:pPr>
              <a:spcBef>
                <a:spcPts val="0"/>
              </a:spcBef>
              <a:spcAft>
                <a:spcPts val="0"/>
              </a:spcAft>
              <a:defRPr sz="1000">
                <a:solidFill>
                  <a:srgbClr val="D4D4D4"/>
                </a:solidFill>
                <a:latin typeface="Courier New"/>
              </a:defRPr>
            </a:pPr>
            <a:r>
              <a:t># concept.concept_id is the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000">
                <a:solidFill>
                  <a:srgbClr val="D4D4D4"/>
                </a:solidFill>
                <a:latin typeface="Courier New"/>
              </a:defRPr>
            </a:pPr>
            <a:r>
              <a:t># integer written to the FK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000">
                <a:solidFill>
                  <a:srgbClr val="D4D4D4"/>
                </a:solidFill>
                <a:latin typeface="Courier New"/>
              </a:defRPr>
            </a:pPr>
            <a:r>
              <a:t># on Measurement/Observation.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000">
                <a:solidFill>
                  <a:srgbClr val="D4D4D4"/>
                </a:solidFill>
                <a:latin typeface="Courier New"/>
              </a:defRPr>
            </a:pPr>
          </a:p>
          <a:p>
            <a:pPr>
              <a:spcBef>
                <a:spcPts val="0"/>
              </a:spcBef>
              <a:spcAft>
                <a:spcPts val="0"/>
              </a:spcAft>
              <a:defRPr sz="1000">
                <a:solidFill>
                  <a:srgbClr val="D4D4D4"/>
                </a:solidFill>
                <a:latin typeface="Courier New"/>
              </a:defRPr>
            </a:pPr>
            <a:r>
              <a:t># LOINC concept_ids depend on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000">
                <a:solidFill>
                  <a:srgbClr val="D4D4D4"/>
                </a:solidFill>
                <a:latin typeface="Courier New"/>
              </a:defRPr>
            </a:pPr>
            <a:r>
              <a:t># your Athena vocabulary load.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000">
                <a:solidFill>
                  <a:srgbClr val="D4D4D4"/>
                </a:solidFill>
                <a:latin typeface="Courier New"/>
              </a:defRPr>
            </a:pPr>
            <a:r>
              <a:t># HK-Wearable IDs are fixed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000">
                <a:solidFill>
                  <a:srgbClr val="D4D4D4"/>
                </a:solidFill>
                <a:latin typeface="Courier New"/>
              </a:defRPr>
            </a:pPr>
            <a:r>
              <a:t># (seeded by migration 0143).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bg>
    <p:bgPr>
      <a:solidFill>
        <a:srgbClr val="1A1A2E"/>
      </a:solidFill>
      <a:effectLst/>
    </p:bgPr>
  </p:bg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096D6"/>
                </a:solidFill>
                <a:latin typeface="Calibri"/>
              </a:defRPr>
            </a:pPr>
            <a:r>
              <a:t>How to Add Another Wearable Health Metric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1887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BBBBB"/>
                </a:solidFill>
                <a:latin typeface="Calibri"/>
              </a:defRPr>
            </a:pPr>
            <a:r>
              <a:t>Example: adding skin temperature as a new wearable metric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828800"/>
            <a:ext cx="5303520" cy="4572000"/>
          </a:xfrm>
          <a:prstGeom prst="roundRect">
            <a:avLst/>
          </a:prstGeom>
          <a:solidFill>
            <a:srgbClr val="2D2D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Step 1: Add concept mapping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# omop_core/services/mappings.py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WEARABLE_CONCEPT_CODE = {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  ...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  'skin_temp': '39106-0',  # LOINC: Skin temp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}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# WEARABLE_CONCEPT_VOCAB auto-derives: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#   'skin_temp': 'LOINC'  (not HK- prefix)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# If no LOINC exists, mint a local concept: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#   'skin_temp': 'HK-WEAR-SKIN-TEMP',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# and add it to seed_omop_concepts.py +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# create a new seeding migration.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# Add artifact bounds: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WEARABLE_ARTIFACT_BOUNDS = {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  ...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  'skin_temp': (25.0, 45.0),  # Celsius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}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# If it's an activity metric (summed per day):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# add to WEARABLE_OBSERVATION_METRICS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# Otherwise it stays in Measurement (default)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0" y="1828800"/>
            <a:ext cx="5029200" cy="4572000"/>
          </a:xfrm>
          <a:prstGeom prst="roundRect">
            <a:avLst/>
          </a:prstGeom>
          <a:solidFill>
            <a:srgbClr val="2D2D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Step 2: Add parser support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# omop_core/services/wearable_parsers.py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# For Garmin — handle new FIT message type: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elif mesg_type == 'skin_temperature':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  val = record.get_value('temperature')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  if val is not None: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      samples.append(WearableSample(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          'skin_temp', day, float(val)))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# For Apple Health — add to _APPLE_TYPE_MAP: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_APPLE_TYPE_MAP = {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  ...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  'HKQuantityTypeIdentifierAppleSleeping'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  'WristTemperature': 'skin_temp',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}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Step 3: Add 30d summary field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# omop_core/models.py — PatientRecord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skin_temp_avg_30d = models.DecimalField(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  max_digits=4, decimal_places=1,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  blank=True, null=True)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# Then: makemigrations + migrate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bg>
    <p:bgPr>
      <a:solidFill>
        <a:srgbClr val="1A1A2E"/>
      </a:solidFill>
      <a:effectLst/>
    </p:bgPr>
  </p:bg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096D6"/>
                </a:solidFill>
                <a:latin typeface="Calibri"/>
              </a:defRPr>
            </a:pPr>
            <a:r>
              <a:t>Add a Metric (cont.) — Aggregation, UI, Tests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280160"/>
            <a:ext cx="5303520" cy="2560320"/>
          </a:xfrm>
          <a:prstGeom prst="roundRect">
            <a:avLst/>
          </a:prstGeom>
          <a:solidFill>
            <a:srgbClr val="2D2D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Step 4: Add 30d aggregation logic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# omop_core/services/patient_record_service.py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# Inside _get_wearable_data():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# The function already queries all rows matching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# WEARABLE_CONCEPT_CODE keys. Just add aggregation: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if 'skin_temp' in daily_data: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  vals = [v for day_vals in daily_data['skin_temp']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          for v in day_vals.values()]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  updates['skin_temp_avg_30d'] = (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      sum(vals) / len(vals)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  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0" y="1280160"/>
            <a:ext cx="5029200" cy="2560320"/>
          </a:xfrm>
          <a:prstGeom prst="roundRect">
            <a:avLst/>
          </a:prstGeom>
          <a:solidFill>
            <a:srgbClr val="2D2D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Step 5: Add to TypeScript + React UI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# frontend/src/types/patient.ts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skin_temp_avg_30d?: string | number;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# frontend/src/.../tabs/WearableTab.tsx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# Add to the appropriate Section: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&lt;Field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label="Avg Skin Temperature (30d)"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name="skin_temp_avg_30d"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type="number"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value={formData?.skin_temp_avg_30d}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onChange={onChange}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disabled  /&gt;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</a:p>
        </p:txBody>
      </p:sp>
      <p:sp>
        <p:nvSpPr>
          <p:cNvPr id="5" name="Rounded Rectangle 4"/>
          <p:cNvSpPr/>
          <p:nvPr/>
        </p:nvSpPr>
        <p:spPr>
          <a:xfrm>
            <a:off x="731520" y="4206240"/>
            <a:ext cx="10698480" cy="2377440"/>
          </a:xfrm>
          <a:prstGeom prst="roundRect">
            <a:avLst/>
          </a:prstGeom>
          <a:solidFill>
            <a:srgbClr val="2D2D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Step 6: Write tests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# Backend: verify parser extracts skin_temp from a fixture .fit / .zip file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# Backend: verify upload-wearable endpoint creates Measurement rows with concept for LOINC 39106-0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# Backend: verify refresh_patient_record computes skin_temp_avg_30d correctly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# Frontend: verify WearableTab renders the new field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Full checklist: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1. mappings.py     — WEARABLE_CONCEPT_CODE + ARTIFACT_BOUNDS    5. patient.ts     — TypeScript type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2. wearable_parsers.py — parser extraction for each device      6. WearableTab.tsx — UI field (disabled)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3. models.py       — PatientRecord summary field + migration    7. Tests across all layers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4. patient_record_service.py — 30d aggregation in _get_wearable_data()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bg>
    <p:bgPr>
      <a:solidFill>
        <a:srgbClr val="1A1A2E"/>
      </a:solidFill>
      <a:effectLst/>
    </p:bgPr>
  </p:bg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096D6"/>
                </a:solidFill>
                <a:latin typeface="Calibri"/>
              </a:defRPr>
            </a:pPr>
            <a:r>
              <a:t>How to Add Another Wearable Source (e.g. Whoop, Oura)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280160"/>
            <a:ext cx="5303520" cy="5029200"/>
          </a:xfrm>
          <a:prstGeom prst="roundRect">
            <a:avLst/>
          </a:prstGeom>
          <a:solidFill>
            <a:srgbClr val="2D2D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Step 1: Write a new parser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# omop_core/services/wearable_parsers.py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def parse_whoop_export(file_obj):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  """Parse Whoop CSV/JSON export.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  Returns list of WearableSample tuples.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  """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  samples = []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  # Whoop exports CSV with columns like: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  # date, rhr, hrv, spo2, sleep_hours, ...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  reader = csv.DictReader(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      io.TextIOWrapper(file_obj))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  for row in reader: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      day = parse_date(row['date'])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      if row.get('rhr'):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          samples.append(WearableSample(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              'resting_hr', day,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              float(row['rhr'])))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      if row.get('hrv'):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          # Whoop HRV is RMSSD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          samples.append(WearableSample(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              'hrv_rmssd', day,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              float(row['hrv'])))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      # ... map each column to existing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      #     metric keys from mappings.py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  return samples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0" y="1280160"/>
            <a:ext cx="5029200" cy="5029200"/>
          </a:xfrm>
          <a:prstGeom prst="roundRect">
            <a:avLst/>
          </a:prstGeom>
          <a:solidFill>
            <a:srgbClr val="2D2D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Step 2: Register in upload endpoint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# patient_portal/api/views.py — upload_wearable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# Add file extension detection: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DEVICE_PARSERS = {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  '.fit': ('garmin', parse_garmin_fit),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  '.zip': ('apple',  parse_apple_health),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  '.csv': ('whoop',  parse_whoop_export),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  # For Oura JSON export: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  # '.json': ('oura', parse_oura_export),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}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Step 3: HRV convention mapping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─────────────────────────────────────────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Critical: map to the correct HRV metric!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Device    HRV statistic   Metric key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───────   ─────────────   ──────────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Apple     SDNN            hrv_sdnn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Garmin    RMSSD           hrv_rmssd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Whoop    RMSSD           hrv_rmssd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Oura     RMSSD           hrv_rmssd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Never mix SDNN and RMSSD — they are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different statistics stored separately.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Step 4: Update WearableTab.tsx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# Add device name to accepted file types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# in the upload dropzone UI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bg>
    <p:bgPr>
      <a:solidFill>
        <a:srgbClr val="1A1A2E"/>
      </a:solidFill>
      <a:effectLst/>
    </p:bgPr>
  </p:bg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096D6"/>
                </a:solidFill>
                <a:latin typeface="Calibri"/>
              </a:defRPr>
            </a:pPr>
            <a:r>
              <a:t>Add a Wearable Source — Full Checklist</a:t>
            </a:r>
          </a:p>
        </p:txBody>
      </p:sp>
      <p:sp>
        <p:nvSpPr>
          <p:cNvPr id="3" name="Oval 2"/>
          <p:cNvSpPr/>
          <p:nvPr/>
        </p:nvSpPr>
        <p:spPr>
          <a:xfrm>
            <a:off x="777240" y="1397000"/>
            <a:ext cx="320040" cy="320040"/>
          </a:xfrm>
          <a:prstGeom prst="ellipse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97000"/>
            <a:ext cx="411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137160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Write parser function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120" y="1371600"/>
            <a:ext cx="7040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8E8E8"/>
                </a:solidFill>
                <a:latin typeface="Calibri"/>
              </a:defRPr>
            </a:pPr>
            <a:r>
              <a:t>wearable_parsers.py — return list of WearableSample(metric_key, date, value)</a:t>
            </a:r>
          </a:p>
        </p:txBody>
      </p:sp>
      <p:sp>
        <p:nvSpPr>
          <p:cNvPr id="7" name="Oval 6"/>
          <p:cNvSpPr/>
          <p:nvPr/>
        </p:nvSpPr>
        <p:spPr>
          <a:xfrm>
            <a:off x="777240" y="1899920"/>
            <a:ext cx="320040" cy="320040"/>
          </a:xfrm>
          <a:prstGeom prst="ellipse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899920"/>
            <a:ext cx="411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87452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Register file extension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120" y="1874520"/>
            <a:ext cx="7040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8E8E8"/>
                </a:solidFill>
                <a:latin typeface="Calibri"/>
              </a:defRPr>
            </a:pPr>
            <a:r>
              <a:t>views.py upload_wearable — map extension to (device_type, parser_fn)</a:t>
            </a:r>
          </a:p>
        </p:txBody>
      </p:sp>
      <p:sp>
        <p:nvSpPr>
          <p:cNvPr id="11" name="Oval 10"/>
          <p:cNvSpPr/>
          <p:nvPr/>
        </p:nvSpPr>
        <p:spPr>
          <a:xfrm>
            <a:off x="777240" y="2402840"/>
            <a:ext cx="320040" cy="320040"/>
          </a:xfrm>
          <a:prstGeom prst="ellipse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2402840"/>
            <a:ext cx="411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237744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Map to existing metric keys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89120" y="2377440"/>
            <a:ext cx="7040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8E8E8"/>
                </a:solidFill>
                <a:latin typeface="Calibri"/>
              </a:defRPr>
            </a:pPr>
            <a:r>
              <a:t>Reuse keys from WEARABLE_CONCEPT_CODE — no new concepts needed if metrics already exist</a:t>
            </a:r>
          </a:p>
        </p:txBody>
      </p:sp>
      <p:sp>
        <p:nvSpPr>
          <p:cNvPr id="15" name="Oval 14"/>
          <p:cNvSpPr/>
          <p:nvPr/>
        </p:nvSpPr>
        <p:spPr>
          <a:xfrm>
            <a:off x="777240" y="2905760"/>
            <a:ext cx="320040" cy="320040"/>
          </a:xfrm>
          <a:prstGeom prst="ellipse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2905760"/>
            <a:ext cx="411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71600" y="288036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Handle HRV correctly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89120" y="2880360"/>
            <a:ext cx="7040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8E8E8"/>
                </a:solidFill>
                <a:latin typeface="Calibri"/>
              </a:defRPr>
            </a:pPr>
            <a:r>
              <a:t>Determine SDNN vs RMSSD — map to hrv_sdnn or hrv_rmssd accordingly</a:t>
            </a:r>
          </a:p>
        </p:txBody>
      </p:sp>
      <p:sp>
        <p:nvSpPr>
          <p:cNvPr id="19" name="Oval 18"/>
          <p:cNvSpPr/>
          <p:nvPr/>
        </p:nvSpPr>
        <p:spPr>
          <a:xfrm>
            <a:off x="777240" y="3408680"/>
            <a:ext cx="320040" cy="320040"/>
          </a:xfrm>
          <a:prstGeom prst="ellipse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20" y="3408680"/>
            <a:ext cx="411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71600" y="338328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Add any new metrics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89120" y="3383280"/>
            <a:ext cx="7040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8E8E8"/>
                </a:solidFill>
                <a:latin typeface="Calibri"/>
              </a:defRPr>
            </a:pPr>
            <a:r>
              <a:t>If device has a unique metric (e.g. strain, recovery score), follow the Add Metric checklist</a:t>
            </a:r>
          </a:p>
        </p:txBody>
      </p:sp>
      <p:sp>
        <p:nvSpPr>
          <p:cNvPr id="23" name="Oval 22"/>
          <p:cNvSpPr/>
          <p:nvPr/>
        </p:nvSpPr>
        <p:spPr>
          <a:xfrm>
            <a:off x="777240" y="3911600"/>
            <a:ext cx="320040" cy="320040"/>
          </a:xfrm>
          <a:prstGeom prst="ellipse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1520" y="3911600"/>
            <a:ext cx="411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71600" y="388620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Update frontend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89120" y="3886200"/>
            <a:ext cx="7040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8E8E8"/>
                </a:solidFill>
                <a:latin typeface="Calibri"/>
              </a:defRPr>
            </a:pPr>
            <a:r>
              <a:t>WearableTab.tsx — add device name to upload dropzone accepted types</a:t>
            </a:r>
          </a:p>
        </p:txBody>
      </p:sp>
      <p:sp>
        <p:nvSpPr>
          <p:cNvPr id="27" name="Oval 26"/>
          <p:cNvSpPr/>
          <p:nvPr/>
        </p:nvSpPr>
        <p:spPr>
          <a:xfrm>
            <a:off x="777240" y="4414520"/>
            <a:ext cx="320040" cy="320040"/>
          </a:xfrm>
          <a:prstGeom prst="ellipse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31520" y="4414520"/>
            <a:ext cx="411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371600" y="438912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Write tests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9120" y="4389120"/>
            <a:ext cx="7040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8E8E8"/>
                </a:solidFill>
                <a:latin typeface="Calibri"/>
              </a:defRPr>
            </a:pPr>
            <a:r>
              <a:t>Parser unit test with fixture file + integration test through upload endpoint</a:t>
            </a:r>
          </a:p>
        </p:txBody>
      </p:sp>
      <p:sp>
        <p:nvSpPr>
          <p:cNvPr id="31" name="Oval 30"/>
          <p:cNvSpPr/>
          <p:nvPr/>
        </p:nvSpPr>
        <p:spPr>
          <a:xfrm>
            <a:off x="777240" y="4917440"/>
            <a:ext cx="320040" cy="320040"/>
          </a:xfrm>
          <a:prstGeom prst="ellipse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31520" y="4917440"/>
            <a:ext cx="411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8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371600" y="489204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Seed test fixture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89120" y="4892040"/>
            <a:ext cx="7040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8E8E8"/>
                </a:solidFill>
                <a:latin typeface="Calibri"/>
              </a:defRPr>
            </a:pPr>
            <a:r>
              <a:t>Add a small real or synthetic export file to tests/fixtures/ for CI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" y="566928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F39C12"/>
                </a:solidFill>
                <a:latin typeface="Calibri"/>
              </a:defRPr>
            </a:pPr>
            <a:r>
              <a:t>Key principle: New sources reuse existing metric keys and OMOP concepts. Only add new concepts when the device measures something genuinely new (e.g. Whoop "strain" or Oura "readiness score").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bg>
    <p:bgPr>
      <a:solidFill>
        <a:srgbClr val="1A1A2E"/>
      </a:solidFill>
      <a:effectLst/>
    </p:bgPr>
  </p:bg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0096D6"/>
                </a:solidFill>
                <a:latin typeface="Calibri"/>
              </a:defRPr>
            </a:pPr>
            <a:r>
              <a:t>Wearable Pipeline — End-to-End Example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280160"/>
            <a:ext cx="5303520" cy="5029200"/>
          </a:xfrm>
          <a:prstGeom prst="roundRect">
            <a:avLst/>
          </a:prstGeom>
          <a:solidFill>
            <a:srgbClr val="2D2D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# 1. Patient uploads a Garmin .fit file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curl -X POST /api/v1/patient-records/\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upload-wearable/ \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-H "Authorization: Bearer $TOKEN" \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-F "file=@2025-03-15_garmin.fit"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# Response: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{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"samples_created": 847,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"duplicates_skipped": 0,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"unmapped_samples": 12,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"unmapped_metrics": ["stress_level"]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}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# 2. PatientRecord auto-updates: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#    median_daily_steps_30d: 8432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#    resting_heart_rate_avg_30d: 62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#    hrv_rmssd_avg_30d: 45.2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#    sleep_duration_hours_avg_30d: 7.3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#    activity_trend_30d: 'improving'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#    wearable_coverage_ratio_30d: 0.87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0" y="1280160"/>
            <a:ext cx="5029200" cy="2377440"/>
          </a:xfrm>
          <a:prstGeom prst="roundRect">
            <a:avLst/>
          </a:prstGeom>
          <a:solidFill>
            <a:srgbClr val="2D2D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# 3. View upload history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curl /api/v1/patient-records/\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wearable-uploads/ \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-H "Authorization: Bearer $TOKEN"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# 4. Delete an upload (removes OMOP rows)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curl -X DELETE /api/v1/patient-records/\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wearable-uploads/42/ \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-H "Authorization: Bearer $TOKEN"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# Re-computes 30d summaries after deletion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0" y="3931920"/>
            <a:ext cx="5029200" cy="2377440"/>
          </a:xfrm>
          <a:prstGeom prst="roundRect">
            <a:avLst/>
          </a:prstGeom>
          <a:solidFill>
            <a:srgbClr val="2D2D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52400" rIns="152400" tIns="101600" bIns="101600"/>
          <a:lstStyle/>
          <a:p>
            <a:pPr algn="ctr"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# 5. Read raw OMOP rows (for analysis)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curl "/api/v1/measurements/\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?person=42\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&amp;measurement_source_value=40443-4\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  &amp;ordering=-measurement_date"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# Returns individual resting HR readings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# (one per day) with dates and values.</a:t>
            </a:r>
          </a:p>
          <a:p>
            <a:pPr>
              <a:spcBef>
                <a:spcPts val="0"/>
              </a:spcBef>
              <a:spcAft>
                <a:spcPts val="0"/>
              </a:spcAft>
              <a:defRPr sz="1200">
                <a:solidFill>
                  <a:srgbClr val="D4D4D4"/>
                </a:solidFill>
                <a:latin typeface="Courier New"/>
              </a:defRPr>
            </a:pPr>
            <a:r>
              <a:t># All standard OMOP query patterns apply.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3200" b="1">
                <a:solidFill>
                  <a:srgbClr val="0096D6"/>
                </a:solidFill>
                <a:latin typeface="Calibri"/>
              </a:defRPr>
            </a:pPr>
            <a:r>
              <a:t>HL7 PHR-S FM R2 — Oncology Profile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24128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700" b="0">
                <a:solidFill>
                  <a:srgbClr val="E8E8E8"/>
                </a:solidFill>
                <a:latin typeface="Calibri"/>
              </a:defRPr>
            </a:pPr>
            <a:r>
              <a:t>A scoped functional profile for PRomop / HealthKey.ai's oncology patient PHR.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27632"/>
            <a:ext cx="3108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800" b="1">
                <a:solidFill>
                  <a:srgbClr val="2ECC71"/>
                </a:solidFill>
                <a:latin typeface="Calibri"/>
              </a:defRPr>
            </a:pPr>
            <a:r>
              <a:t>What we claim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984248"/>
            <a:ext cx="53035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0">
                <a:solidFill>
                  <a:srgbClr val="E8E8E8"/>
                </a:solidFill>
                <a:latin typeface="Calibri"/>
              </a:defRPr>
            </a:pPr>
            <a:r>
              <a:t>Conformance to the profile's Essential functions when every applicable SHALL is met —</a:t>
            </a:r>
            <a:br/>
            <a:r>
              <a:t>not conformance to the entire 748-SHALL PHR-S FM model.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55080" y="1627632"/>
            <a:ext cx="3108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800" b="1">
                <a:solidFill>
                  <a:srgbClr val="2ECC71"/>
                </a:solidFill>
                <a:latin typeface="Calibri"/>
              </a:defRPr>
            </a:pPr>
            <a:r>
              <a:t>Profile focus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55080" y="1984248"/>
            <a:ext cx="50749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0">
                <a:solidFill>
                  <a:srgbClr val="E8E8E8"/>
                </a:solidFill>
                <a:latin typeface="Calibri"/>
              </a:defRPr>
            </a:pPr>
            <a:r>
              <a:t>Account-holder care, consent and messaging, plus the core trust infrastructure:</a:t>
            </a:r>
            <a:br/>
            <a:r>
              <a:t>authentication, authorization, audit, terminology and FHIR interoperability.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182112"/>
            <a:ext cx="324612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1">
                <a:solidFill>
                  <a:srgbClr val="2ECC71"/>
                </a:solidFill>
                <a:latin typeface="Calibri"/>
              </a:defRPr>
            </a:pPr>
            <a:r>
              <a:t>Personal Health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86200" y="3182112"/>
            <a:ext cx="7315200" cy="51206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00" b="0">
                <a:solidFill>
                  <a:srgbClr val="E8E8E8"/>
                </a:solidFill>
                <a:latin typeface="Calibri"/>
              </a:defRPr>
            </a:pPr>
            <a:r>
              <a:t>Account-holder record, demographics, advance directives, consents, patient data, FHIR export, observations and secure messaging.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886200"/>
            <a:ext cx="324612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1">
                <a:solidFill>
                  <a:srgbClr val="2ECC71"/>
                </a:solidFill>
                <a:latin typeface="Calibri"/>
              </a:defRPr>
            </a:pPr>
            <a:r>
              <a:t>Trust Infrastructure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86200" y="3886200"/>
            <a:ext cx="7315200" cy="51206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00" b="0">
                <a:solidFill>
                  <a:srgbClr val="E8E8E8"/>
                </a:solidFill>
                <a:latin typeface="Calibri"/>
              </a:defRPr>
            </a:pPr>
            <a:r>
              <a:t>Security and access control; FHIR AuditEvent, retention, review and break-glass; OMOP terminology; FHIR R4 integration.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4590288"/>
            <a:ext cx="324612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1">
                <a:solidFill>
                  <a:srgbClr val="F39C12"/>
                </a:solidFill>
                <a:latin typeface="Calibri"/>
              </a:defRPr>
            </a:pPr>
            <a:r>
              <a:t>Explicit exclusions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86200" y="4590288"/>
            <a:ext cx="7315200" cy="51206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00" b="0">
                <a:solidFill>
                  <a:srgbClr val="E8E8E8"/>
                </a:solidFill>
                <a:latin typeface="Calibri"/>
              </a:defRPr>
            </a:pPr>
            <a:r>
              <a:t>Record-lifecycle mega-cluster, most provider/financial/research functions, education, decision support, operations and platform services.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5989320"/>
            <a:ext cx="10698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0">
                <a:solidFill>
                  <a:srgbClr val="BBBBBB"/>
                </a:solidFill>
                <a:latin typeface="Calibri"/>
              </a:defRPr>
            </a:pPr>
            <a:r>
              <a:t>Source of truth: docs/phrs-fm-onco-profile.md  •  Profile v0.4  •  Re-verified 2026-07-27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3200" b="1">
                <a:solidFill>
                  <a:srgbClr val="0096D6"/>
                </a:solidFill>
                <a:latin typeface="Calibri"/>
              </a:defRPr>
            </a:pPr>
            <a:r>
              <a:t>Profile-Aware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24128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700" b="0">
                <a:solidFill>
                  <a:srgbClr val="E8E8E8"/>
                </a:solidFill>
                <a:latin typeface="Calibri"/>
              </a:defRPr>
            </a:pPr>
            <a:r>
              <a:t>Feature work that touches profile scope must preserve the evidence behind the conformance claim.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64208"/>
            <a:ext cx="324612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1">
                <a:solidFill>
                  <a:srgbClr val="2ECC71"/>
                </a:solidFill>
                <a:latin typeface="Calibri"/>
              </a:defRPr>
            </a:pPr>
            <a:r>
              <a:t>Patient control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86200" y="1664208"/>
            <a:ext cx="7315200" cy="51206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00" b="0">
                <a:solidFill>
                  <a:srgbClr val="E8E8E8"/>
                </a:solidFill>
                <a:latin typeface="Calibri"/>
              </a:defRPr>
            </a:pPr>
            <a:r>
              <a:t>Keep account-holder data, consent, advance-directive and messaging flows self-scoped; protect patient isolation and authorized proxy access.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432304"/>
            <a:ext cx="324612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1">
                <a:solidFill>
                  <a:srgbClr val="2ECC71"/>
                </a:solidFill>
                <a:latin typeface="Calibri"/>
              </a:defRPr>
            </a:pPr>
            <a:r>
              <a:t>Audit by design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86200" y="2432304"/>
            <a:ext cx="7315200" cy="51206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00" b="0">
                <a:solidFill>
                  <a:srgbClr val="E8E8E8"/>
                </a:solidFill>
                <a:latin typeface="Calibri"/>
              </a:defRPr>
            </a:pPr>
            <a:r>
              <a:t>Ensure meaningful API, admin and background activity is auditable. Audit evidence is tamper-evident (HMAC + hash chain), not physical WORM storage.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200400"/>
            <a:ext cx="324612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1">
                <a:solidFill>
                  <a:srgbClr val="2ECC71"/>
                </a:solidFill>
                <a:latin typeface="Calibri"/>
              </a:defRPr>
            </a:pPr>
            <a:r>
              <a:t>FHIR + OMOP integrity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86200" y="3200400"/>
            <a:ext cx="7315200" cy="51206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00" b="0">
                <a:solidFill>
                  <a:srgbClr val="E8E8E8"/>
                </a:solidFill>
                <a:latin typeface="Calibri"/>
              </a:defRPr>
            </a:pPr>
            <a:r>
              <a:t>Use declared FHIR R4 interfaces and OMOP terminology. Preserve provenance and verify integrity where supported on clinical ingest/export.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968496"/>
            <a:ext cx="324612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1">
                <a:solidFill>
                  <a:srgbClr val="2ECC71"/>
                </a:solidFill>
                <a:latin typeface="Calibri"/>
              </a:defRPr>
            </a:pPr>
            <a:r>
              <a:t>Security controls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86200" y="3968496"/>
            <a:ext cx="7315200" cy="51206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00" b="0">
                <a:solidFill>
                  <a:srgbClr val="E8E8E8"/>
                </a:solidFill>
                <a:latin typeface="Calibri"/>
              </a:defRPr>
            </a:pPr>
            <a:r>
              <a:t>Maintain password/lockout/reset and force-change paths, field-level revision history, OAuth/org-trust scoping and secure routing.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4736592"/>
            <a:ext cx="324612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600" b="1">
                <a:solidFill>
                  <a:srgbClr val="2ECC71"/>
                </a:solidFill>
                <a:latin typeface="Calibri"/>
              </a:defRPr>
            </a:pPr>
            <a:r>
              <a:t>Documentation + tests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86200" y="4736592"/>
            <a:ext cx="7315200" cy="51206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00" b="0">
                <a:solidFill>
                  <a:srgbClr val="E8E8E8"/>
                </a:solidFill>
                <a:latin typeface="Calibri"/>
              </a:defRPr>
            </a:pPr>
            <a:r>
              <a:t>Map changed behavior to the profile and traceability matrix; add regression tests and update the self-attestation evidence when a criterion changes.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5760720"/>
            <a:ext cx="106984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00" b="1">
                <a:solidFill>
                  <a:srgbClr val="F39C12"/>
                </a:solidFill>
                <a:latin typeface="Calibri"/>
              </a:defRPr>
            </a:pPr>
            <a:r>
              <a:t>Before a formal external self-attestation, re-run criterion-level verification; passing tests alone do not establish the claim.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3200" b="1">
                <a:solidFill>
                  <a:srgbClr val="0096D6"/>
                </a:solidFill>
                <a:latin typeface="Calibri"/>
              </a:defRPr>
            </a:pPr>
            <a:r>
              <a:t>Self-Attestation Snapshot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24128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700" b="0">
                <a:solidFill>
                  <a:srgbClr val="E8E8E8"/>
                </a:solidFill>
                <a:latin typeface="Calibri"/>
              </a:defRPr>
            </a:pPr>
            <a:r>
              <a:t>Current documented posture — vendor self-attestation, not HL7 EHR WG validation.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91640"/>
            <a:ext cx="3383280" cy="1325880"/>
          </a:xfrm>
          <a:prstGeom prst="roundRect">
            <a:avLst/>
          </a:prstGeom>
          <a:solidFill>
            <a:srgbClr val="19263D"/>
          </a:solidFill>
          <a:ln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847088"/>
            <a:ext cx="338328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600" b="1">
                <a:solidFill>
                  <a:srgbClr val="2ECC71"/>
                </a:solidFill>
                <a:latin typeface="Calibri"/>
              </a:defRPr>
            </a:pPr>
            <a:r>
              <a:t>25 / 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331720"/>
            <a:ext cx="33832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400" b="0">
                <a:solidFill>
                  <a:srgbClr val="E8E8E8"/>
                </a:solidFill>
                <a:latin typeface="Calibri"/>
              </a:defRPr>
            </a:pPr>
            <a:r>
              <a:t>Essential functions</a:t>
            </a:r>
            <a:br/>
            <a:r>
              <a:t>fully conformant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691640"/>
            <a:ext cx="3383280" cy="1325880"/>
          </a:xfrm>
          <a:prstGeom prst="roundRect">
            <a:avLst/>
          </a:prstGeom>
          <a:solidFill>
            <a:srgbClr val="19263D"/>
          </a:solidFill>
          <a:ln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389120" y="1847088"/>
            <a:ext cx="338328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600" b="1">
                <a:solidFill>
                  <a:srgbClr val="2ECC71"/>
                </a:solidFill>
                <a:latin typeface="Calibri"/>
              </a:defRPr>
            </a:pPr>
            <a:r>
              <a:t>75 / 78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120" y="2331720"/>
            <a:ext cx="33832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400" b="0">
                <a:solidFill>
                  <a:srgbClr val="E8E8E8"/>
                </a:solidFill>
                <a:latin typeface="Calibri"/>
              </a:defRPr>
            </a:pPr>
            <a:r>
              <a:t>SHALL criteria MET</a:t>
            </a:r>
            <a:br/>
            <a:r>
              <a:t>in the evaluated set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20" y="1691640"/>
            <a:ext cx="3383280" cy="1325880"/>
          </a:xfrm>
          <a:prstGeom prst="roundRect">
            <a:avLst/>
          </a:prstGeom>
          <a:solidFill>
            <a:srgbClr val="19263D"/>
          </a:solidFill>
          <a:ln>
            <a:solidFill>
              <a:srgbClr val="F39C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0" y="1847088"/>
            <a:ext cx="338328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600" b="1">
                <a:solidFill>
                  <a:srgbClr val="F39C12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0" y="2331720"/>
            <a:ext cx="33832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400" b="0">
                <a:solidFill>
                  <a:srgbClr val="E8E8E8"/>
                </a:solidFill>
                <a:latin typeface="Calibri"/>
              </a:defRPr>
            </a:pPr>
            <a:r>
              <a:t>PARTIAL criteria —</a:t>
            </a:r>
            <a:br/>
            <a:r>
              <a:t>Optional only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3456432"/>
            <a:ext cx="3200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800" b="1">
                <a:solidFill>
                  <a:srgbClr val="2ECC71"/>
                </a:solidFill>
                <a:latin typeface="Calibri"/>
              </a:defRPr>
            </a:pPr>
            <a:r>
              <a:t>Remaining Optional scope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3822191"/>
            <a:ext cx="5303520" cy="7498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500" b="0">
                <a:solidFill>
                  <a:srgbClr val="E8E8E8"/>
                </a:solidFill>
                <a:latin typeface="Calibri"/>
              </a:defRPr>
            </a:pPr>
            <a:r>
              <a:t>TI.5.2 — FHIR R4 is declared/negotiated; no cross-version transform.</a:t>
            </a:r>
            <a:br/>
            <a:r>
              <a:t>TI.5.4 — interchange agreements are descriptive, not enforcement-bound.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55080" y="3456432"/>
            <a:ext cx="46634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800" b="1">
                <a:solidFill>
                  <a:srgbClr val="2ECC71"/>
                </a:solidFill>
                <a:latin typeface="Calibri"/>
              </a:defRPr>
            </a:pPr>
            <a:r>
              <a:t>Disclosed limits developers should not obscure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55080" y="3822191"/>
            <a:ext cx="4983480" cy="8412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500" b="0">
                <a:solidFill>
                  <a:srgbClr val="E8E8E8"/>
                </a:solidFill>
                <a:latin typeface="Calibri"/>
              </a:defRPr>
            </a:pPr>
            <a:r>
              <a:t>Audit tail truncation needs an external chain-hash anchor. Export HMAC is symmetric, not third-party non-repudiation. Ingest digest verification is opt-in.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5806440"/>
            <a:ext cx="1069848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0">
                <a:solidFill>
                  <a:srgbClr val="BBBBBB"/>
                </a:solidFill>
                <a:latin typeface="Calibri"/>
              </a:defRPr>
            </a:pPr>
            <a:r>
              <a:t>Evidence: docs/phrs-fm-conformance-claim.md  •  docs/phrs-fm-traceability.md  •  Update these artifacts with any profile-relevant change.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