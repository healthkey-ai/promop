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PRomop Developer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AACCEE"/>
                </a:solidFill>
                <a:latin typeface="Calibri"/>
              </a:defRPr>
            </a:pPr>
            <a:r>
              <a:t>Populating and Using Clinical Oncology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0"/>
            <a:ext cx="10515600" cy="254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BBBBB"/>
                </a:solidFill>
                <a:latin typeface="Calibri"/>
              </a:defRPr>
            </a:pPr>
            <a:r>
              <a:t>OMOP CDM  |  FHIR R4  |  Django + React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B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96D6"/>
                </a:solidFill>
                <a:latin typeface="Calibri"/>
              </a:defRPr>
            </a:pPr>
            <a:r>
              <a:rPr lang="en-US" sz="3200">
                <a:solidFill>
                  <a:srgbClr val="0096D6"/>
                </a:solidFill>
                <a:latin typeface="Calibri"/>
              </a:rPr>
              <a:t>Why Build PRomop?</a:t>
            </a:r>
          </a:p>
        </p:txBody>
      </p:sp>
      <p:sp>
        <p:nvSpPr>
          <p:cNvPr id="3" name="TB3"/>
          <p:cNvSpPr txBox="1"/>
          <p:nvPr/>
        </p:nvSpPr>
        <p:spPr>
          <a:xfrm>
            <a:off x="731520" y="128016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0096D6"/>
                </a:solidFill>
                <a:latin typeface="Calibri"/>
              </a:defRPr>
            </a:pPr>
            <a:r>
              <a:rPr lang="en-US" sz="2000">
                <a:solidFill>
                  <a:srgbClr val="0096D6"/>
                </a:solidFill>
                <a:latin typeface="Calibri"/>
              </a:rPr>
              <a:t>The Gap in Health Data Infrastructure</a:t>
            </a:r>
          </a:p>
          <a:p>
            <a:pPr>
              <a:spcAft>
                <a:spcPts val="200"/>
              </a:spcAft>
              <a:defRPr sz="1600">
                <a:solidFill>
                  <a:srgbClr val="E8E8E8"/>
                </a:solidFill>
                <a:latin typeface="Calibri"/>
              </a:defRPr>
            </a:pPr>
            <a:r>
              <a:rPr lang="en-US" sz="1600">
                <a:solidFill>
                  <a:srgbClr val="E8E8E8"/>
                </a:solidFill>
                <a:latin typeface="Calibri"/>
              </a:rPr>
              <a:t>Three approaches exist today — none serve the individual patient: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E8E8E8"/>
                </a:solidFill>
                <a:latin typeface="Calibri"/>
              </a:defRPr>
            </a:pPr>
            <a:r>
              <a:rPr lang="en-US" sz="1500" b="1">
                <a:solidFill>
                  <a:srgbClr val="0096D6"/>
                </a:solidFill>
                <a:latin typeface="Calibri"/>
              </a:rPr>
              <a:t>•  OHDSI research data lakes  —  </a:t>
            </a:r>
            <a:r>
              <a:rPr lang="en-US" sz="1500">
                <a:solidFill>
                  <a:srgbClr val="E8E8E8"/>
                </a:solidFill>
                <a:latin typeface="Calibri"/>
              </a:rPr>
              <a:t>optimized for population studies across institutions; deliberately exclude columns needed for individual clinical service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E8E8E8"/>
                </a:solidFill>
                <a:latin typeface="Calibri"/>
              </a:defRPr>
            </a:pPr>
            <a:r>
              <a:rPr lang="en-US" sz="1500" b="1">
                <a:solidFill>
                  <a:srgbClr val="0096D6"/>
                </a:solidFill>
                <a:latin typeface="Calibri"/>
              </a:rPr>
              <a:t>•  EHR-tethered PHR add-ons  —  </a:t>
            </a:r>
            <a:r>
              <a:rPr lang="en-US" sz="1500">
                <a:solidFill>
                  <a:srgbClr val="E8E8E8"/>
                </a:solidFill>
                <a:latin typeface="Calibri"/>
              </a:rPr>
              <a:t>provider-controlled portals; patients can view but don't own or control their data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E8E8E8"/>
                </a:solidFill>
                <a:latin typeface="Calibri"/>
              </a:defRPr>
            </a:pPr>
            <a:r>
              <a:rPr lang="en-US" sz="1500" b="1">
                <a:solidFill>
                  <a:srgbClr val="0096D6"/>
                </a:solidFill>
                <a:latin typeface="Calibri"/>
              </a:rPr>
              <a:t>•  Closed commercial platforms  —  </a:t>
            </a:r>
            <a:r>
              <a:rPr lang="en-US" sz="1500">
                <a:solidFill>
                  <a:srgbClr val="E8E8E8"/>
                </a:solidFill>
                <a:latin typeface="Calibri"/>
              </a:rPr>
              <a:t>proprietary, limited interoperability, no guaranteed data portability</a:t>
            </a:r>
          </a:p>
          <a:p>
            <a:pPr>
              <a:spcBef>
                <a:spcPts val="800"/>
              </a:spcBef>
              <a:spcAft>
                <a:spcPts val="200"/>
              </a:spcAft>
              <a:defRPr sz="1800" b="1">
                <a:solidFill>
                  <a:srgbClr val="0096D6"/>
                </a:solidFill>
                <a:latin typeface="Calibri"/>
              </a:defRPr>
            </a:pPr>
            <a:r>
              <a:rPr lang="en-US" sz="1800">
                <a:solidFill>
                  <a:srgbClr val="0096D6"/>
                </a:solidFill>
                <a:latin typeface="Calibri"/>
              </a:rPr>
              <a:t>What's missing:</a:t>
            </a:r>
          </a:p>
          <a:p>
            <a:pPr>
              <a:spcBef>
                <a:spcPts val="200"/>
              </a:spcBef>
              <a:defRPr sz="1600">
                <a:solidFill>
                  <a:srgbClr val="E8E8E8"/>
                </a:solidFill>
                <a:latin typeface="Calibri"/>
              </a:defRPr>
            </a:pPr>
            <a:r>
              <a:rPr lang="en-US" sz="1600">
                <a:solidFill>
                  <a:srgbClr val="E8E8E8"/>
                </a:solidFill>
                <a:latin typeface="Calibri"/>
              </a:rPr>
              <a:t>A </a:t>
            </a:r>
            <a:r>
              <a:rPr lang="en-US" sz="1600" b="1">
                <a:solidFill>
                  <a:srgbClr val="4EC9B0"/>
                </a:solidFill>
                <a:latin typeface="Calibri"/>
              </a:rPr>
              <a:t>patient-custodied</a:t>
            </a:r>
            <a:r>
              <a:rPr lang="en-US" sz="1600">
                <a:solidFill>
                  <a:srgbClr val="E8E8E8"/>
                </a:solidFill>
                <a:latin typeface="Calibri"/>
              </a:rPr>
              <a:t> longitudinal health record that integrates clinical data, wearables, and patient-reported outcomes — built on open standards, with guaranteed portability.</a:t>
            </a:r>
          </a:p>
          <a:p>
            <a:pPr>
              <a:spcBef>
                <a:spcPts val="600"/>
              </a:spcBef>
              <a:defRPr sz="1400" i="1">
                <a:solidFill>
                  <a:srgbClr val="999999"/>
                </a:solidFill>
                <a:latin typeface="Calibri"/>
              </a:defRPr>
            </a:pPr>
            <a:r>
              <a:rPr lang="en-US" sz="1400" i="1">
                <a:solidFill>
                  <a:srgbClr val="999999"/>
                </a:solidFill>
                <a:latin typeface="Calibri"/>
              </a:rPr>
              <a:t>Validated with 14,000+ oncology patients and a decade of longitudinal follow-up at HealthTree Foundation.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B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96D6"/>
                </a:solidFill>
                <a:latin typeface="Calibri"/>
              </a:defRPr>
            </a:pPr>
            <a:r>
              <a:rPr lang="en-US" sz="3200">
                <a:solidFill>
                  <a:srgbClr val="0096D6"/>
                </a:solidFill>
                <a:latin typeface="Calibri"/>
              </a:rPr>
              <a:t>PRomop in the PHRAME Stack</a:t>
            </a:r>
          </a:p>
        </p:txBody>
      </p:sp>
      <p:sp>
        <p:nvSpPr>
          <p:cNvPr id="3" name="TB3"/>
          <p:cNvSpPr txBox="1"/>
          <p:nvPr/>
        </p:nvSpPr>
        <p:spPr>
          <a:xfrm>
            <a:off x="731520" y="1097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999999"/>
                </a:solidFill>
                <a:latin typeface="Calibri"/>
              </a:defRPr>
            </a:pPr>
            <a:r>
              <a:rPr lang="en-US" sz="1400" i="1">
                <a:solidFill>
                  <a:srgbClr val="999999"/>
                </a:solidFill>
                <a:latin typeface="Calibri"/>
              </a:rPr>
              <a:t>PHRAME  =  Personal Health Record Architecture for Modular Extension</a:t>
            </a:r>
          </a:p>
        </p:txBody>
      </p:sp>
      <p:sp>
        <p:nvSpPr>
          <p:cNvPr id="10" name="T10"/>
          <p:cNvSpPr/>
          <p:nvPr/>
        </p:nvSpPr>
        <p:spPr>
          <a:xfrm>
            <a:off x="731520" y="1554480"/>
            <a:ext cx="10515600" cy="1097280"/>
          </a:xfrm>
          <a:prstGeom prst="roundRect">
            <a:avLst/>
          </a:prstGeom>
          <a:solidFill>
            <a:srgbClr val="0A3D62"/>
          </a:solidFill>
          <a:ln w="12700">
            <a:solidFill>
              <a:srgbClr val="2C3E50"/>
            </a:solidFill>
          </a:ln>
        </p:spPr>
        <p:txBody>
          <a:bodyPr wrap="square" lIns="182880" tIns="91440" rIns="182880" bIns="91440"/>
          <a:lstStyle/>
          <a:p>
            <a:pPr>
              <a:defRPr sz="1600" b="1">
                <a:solidFill>
                  <a:srgbClr val="0096D6"/>
                </a:solidFill>
                <a:latin typeface="Calibri"/>
              </a:defRPr>
            </a:pPr>
            <a:r>
              <a:rPr lang="en-US" sz="1600" b="1">
                <a:solidFill>
                  <a:srgbClr val="0096D6"/>
                </a:solidFill>
                <a:latin typeface="Calibri"/>
              </a:rPr>
              <a:t>SERVE    </a:t>
            </a:r>
            <a:r>
              <a:rPr lang="en-US" sz="1400">
                <a:solidFill>
                  <a:srgbClr val="999999"/>
                </a:solidFill>
                <a:latin typeface="Calibri"/>
              </a:rPr>
              <a:t>Applications that consume patient data</a:t>
            </a:r>
          </a:p>
          <a:p>
            <a:pPr>
              <a:spcBef>
                <a:spcPts val="200"/>
              </a:spcBef>
              <a:defRPr sz="1200">
                <a:solidFill>
                  <a:srgbClr val="999999"/>
                </a:solidFill>
                <a:latin typeface="Calibri"/>
              </a:defRPr>
            </a:pPr>
            <a:r>
              <a:rPr lang="en-US" sz="1200">
                <a:solidFill>
                  <a:srgbClr val="999999"/>
                </a:solidFill>
                <a:latin typeface="Calibri"/>
              </a:rPr>
              <a:t>EXACT (trial matching)   |   SoC Service (decision support)   |   PRism (analytics)   |   Patient Portal</a:t>
            </a:r>
          </a:p>
        </p:txBody>
      </p:sp>
      <p:sp>
        <p:nvSpPr>
          <p:cNvPr id="11" name="T11"/>
          <p:cNvSpPr/>
          <p:nvPr/>
        </p:nvSpPr>
        <p:spPr>
          <a:xfrm>
            <a:off x="731520" y="2743200"/>
            <a:ext cx="10515600" cy="1097280"/>
          </a:xfrm>
          <a:prstGeom prst="roundRect">
            <a:avLst/>
          </a:prstGeom>
          <a:solidFill>
            <a:srgbClr val="0D4F8B"/>
          </a:solidFill>
          <a:ln w="28575">
            <a:solidFill>
              <a:srgbClr val="0096D6"/>
            </a:solidFill>
          </a:ln>
        </p:spPr>
        <p:txBody>
          <a:bodyPr wrap="square" lIns="182880" tIns="91440" rIns="182880" bIns="91440"/>
          <a:lstStyle/>
          <a:p>
            <a:pPr>
              <a:defRPr sz="1800" b="1">
                <a:solidFill>
                  <a:srgbClr val="4EC9B0"/>
                </a:solidFill>
                <a:latin typeface="Calibri"/>
              </a:defRPr>
            </a:pPr>
            <a:r>
              <a:rPr lang="en-US" sz="1800" b="1">
                <a:solidFill>
                  <a:srgbClr val="4EC9B0"/>
                </a:solidFill>
                <a:latin typeface="Calibri"/>
              </a:rPr>
              <a:t>▶  STORE    </a:t>
            </a:r>
            <a:r>
              <a:rPr lang="en-US" sz="1400">
                <a:solidFill>
                  <a:srgbClr val="E8E8E8"/>
                </a:solidFill>
                <a:latin typeface="Calibri"/>
              </a:rPr>
              <a:t>PRomop — the longitudinal patient store</a:t>
            </a:r>
          </a:p>
          <a:p>
            <a:pPr>
              <a:spcBef>
                <a:spcPts val="200"/>
              </a:spcBef>
              <a:defRPr sz="1200">
                <a:solidFill>
                  <a:srgbClr val="999999"/>
                </a:solidFill>
                <a:latin typeface="Calibri"/>
              </a:defRPr>
            </a:pPr>
            <a:r>
              <a:rPr lang="en-US" sz="1200">
                <a:solidFill>
                  <a:srgbClr val="999999"/>
                </a:solidFill>
                <a:latin typeface="Calibri"/>
              </a:rPr>
              <a:t>OMOP CDM v5.4   |   Django + DRF   |   PostgreSQL   |   Derived read model   |   Bulk upsert API</a:t>
            </a:r>
          </a:p>
        </p:txBody>
      </p:sp>
      <p:sp>
        <p:nvSpPr>
          <p:cNvPr id="12" name="T12"/>
          <p:cNvSpPr/>
          <p:nvPr/>
        </p:nvSpPr>
        <p:spPr>
          <a:xfrm>
            <a:off x="731520" y="3931920"/>
            <a:ext cx="10515600" cy="1097280"/>
          </a:xfrm>
          <a:prstGeom prst="roundRect">
            <a:avLst/>
          </a:prstGeom>
          <a:solidFill>
            <a:srgbClr val="0A3D62"/>
          </a:solidFill>
          <a:ln w="12700">
            <a:solidFill>
              <a:srgbClr val="2C3E50"/>
            </a:solidFill>
          </a:ln>
        </p:spPr>
        <p:txBody>
          <a:bodyPr wrap="square" lIns="182880" tIns="91440" rIns="182880" bIns="91440"/>
          <a:lstStyle/>
          <a:p>
            <a:pPr>
              <a:defRPr sz="1600" b="1">
                <a:solidFill>
                  <a:srgbClr val="0096D6"/>
                </a:solidFill>
                <a:latin typeface="Calibri"/>
              </a:defRPr>
            </a:pPr>
            <a:r>
              <a:rPr lang="en-US" sz="1600" b="1">
                <a:solidFill>
                  <a:srgbClr val="0096D6"/>
                </a:solidFill>
                <a:latin typeface="Calibri"/>
              </a:rPr>
              <a:t>ETL    </a:t>
            </a:r>
            <a:r>
              <a:rPr lang="en-US" sz="1400">
                <a:solidFill>
                  <a:srgbClr val="999999"/>
                </a:solidFill>
                <a:latin typeface="Calibri"/>
              </a:rPr>
              <a:t>Transform and reconcile incoming data</a:t>
            </a:r>
          </a:p>
          <a:p>
            <a:pPr>
              <a:spcBef>
                <a:spcPts val="200"/>
              </a:spcBef>
              <a:defRPr sz="1200">
                <a:solidFill>
                  <a:srgbClr val="999999"/>
                </a:solidFill>
                <a:latin typeface="Calibri"/>
              </a:defRPr>
            </a:pPr>
            <a:r>
              <a:rPr lang="en-US" sz="1200">
                <a:solidFill>
                  <a:srgbClr val="999999"/>
                </a:solidFill>
                <a:latin typeface="Calibri"/>
              </a:rPr>
              <a:t>PRofile (FHIR characterization)   |   PRogram (vocab mapping)   |   PResolution (conflict adjudication)</a:t>
            </a:r>
          </a:p>
        </p:txBody>
      </p:sp>
      <p:sp>
        <p:nvSpPr>
          <p:cNvPr id="13" name="T13"/>
          <p:cNvSpPr/>
          <p:nvPr/>
        </p:nvSpPr>
        <p:spPr>
          <a:xfrm>
            <a:off x="731520" y="5120640"/>
            <a:ext cx="10515600" cy="1097280"/>
          </a:xfrm>
          <a:prstGeom prst="roundRect">
            <a:avLst/>
          </a:prstGeom>
          <a:solidFill>
            <a:srgbClr val="0A3D62"/>
          </a:solidFill>
          <a:ln w="12700">
            <a:solidFill>
              <a:srgbClr val="2C3E50"/>
            </a:solidFill>
          </a:ln>
        </p:spPr>
        <p:txBody>
          <a:bodyPr wrap="square" lIns="182880" tIns="91440" rIns="182880" bIns="91440"/>
          <a:lstStyle/>
          <a:p>
            <a:pPr>
              <a:defRPr sz="1600" b="1">
                <a:solidFill>
                  <a:srgbClr val="0096D6"/>
                </a:solidFill>
                <a:latin typeface="Calibri"/>
              </a:defRPr>
            </a:pPr>
            <a:r>
              <a:rPr lang="en-US" sz="1600" b="1">
                <a:solidFill>
                  <a:srgbClr val="0096D6"/>
                </a:solidFill>
                <a:latin typeface="Calibri"/>
              </a:rPr>
              <a:t>INGEST    </a:t>
            </a:r>
            <a:r>
              <a:rPr lang="en-US" sz="1400">
                <a:solidFill>
                  <a:srgbClr val="999999"/>
                </a:solidFill>
                <a:latin typeface="Calibri"/>
              </a:rPr>
              <a:t>Accept data from any source</a:t>
            </a:r>
          </a:p>
          <a:p>
            <a:pPr>
              <a:spcBef>
                <a:spcPts val="200"/>
              </a:spcBef>
              <a:defRPr sz="1200">
                <a:solidFill>
                  <a:srgbClr val="999999"/>
                </a:solidFill>
                <a:latin typeface="Calibri"/>
              </a:defRPr>
            </a:pPr>
            <a:r>
              <a:rPr lang="en-US" sz="1200">
                <a:solidFill>
                  <a:srgbClr val="999999"/>
                </a:solidFill>
                <a:latin typeface="Calibri"/>
              </a:rPr>
              <a:t>FHIR R4 Bundles   |   PDF / paper (OCR)   |   Wearables (Apple Health, Garmin)   |   Patient-reported</a:t>
            </a:r>
          </a:p>
        </p:txBody>
      </p:sp>
      <p:sp>
        <p:nvSpPr>
          <p:cNvPr id="50" name="TB50"/>
          <p:cNvSpPr txBox="1"/>
          <p:nvPr/>
        </p:nvSpPr>
        <p:spPr>
          <a:xfrm>
            <a:off x="731520" y="6309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999999"/>
                </a:solidFill>
                <a:latin typeface="Calibri"/>
              </a:defRPr>
            </a:pPr>
            <a:r>
              <a:rPr lang="en-US" sz="1100" i="1">
                <a:solidFill>
                  <a:srgbClr val="999999"/>
                </a:solidFill>
                <a:latin typeface="Calibri"/>
              </a:rPr>
              <a:t>All components Apache 2.0   |   phrame.org   |   github.com/healthkey-ai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What is PRomop?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800">
                <a:solidFill>
                  <a:srgbClr val="E8E8E8"/>
                </a:solidFill>
                <a:latin typeface="Calibri"/>
              </a:defRPr>
            </a:pPr>
            <a:r>
              <a:t>Clinical oncology patient data platform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800">
                <a:solidFill>
                  <a:srgbClr val="E8E8E8"/>
                </a:solidFill>
                <a:latin typeface="Calibri"/>
              </a:defRPr>
            </a:pPr>
            <a:r>
              <a:t>Stores data in OMOP CDM v5.4 (standard clinical schema)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800">
                <a:solidFill>
                  <a:srgbClr val="E8E8E8"/>
                </a:solidFill>
                <a:latin typeface="Calibri"/>
              </a:defRPr>
            </a:pPr>
            <a:r>
              <a:t>Accepts FHIR R4 Bundles as the primary ingest format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800">
                <a:solidFill>
                  <a:srgbClr val="E8E8E8"/>
                </a:solidFill>
                <a:latin typeface="Calibri"/>
              </a:defRPr>
            </a:pPr>
            <a:r>
              <a:t>Django 5 + DRF backend, React 18 + TypeScript frontend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800">
                <a:solidFill>
                  <a:srgbClr val="E8E8E8"/>
                </a:solidFill>
                <a:latin typeface="Calibri"/>
              </a:defRPr>
            </a:pPr>
            <a:r>
              <a:t>PostgreSQL for all persistence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800">
                <a:solidFill>
                  <a:srgbClr val="E8E8E8"/>
                </a:solidFill>
                <a:latin typeface="Calibri"/>
              </a:defRPr>
            </a:pPr>
            <a:r>
              <a:t>Deployed to Render (backend) and GCP Cloud Run (federation)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280160"/>
            <a:ext cx="5029200" cy="438912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      Data Flow Overview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FHIR Bundle (.json)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    |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    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Upload Endpoint (/api/v1/.../upload_fhir)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    |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    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OMOP Tables (Person, Measurement,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ConditionOccurrence, DrugExposure,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Observation, ProcedureOccurrence)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    |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    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refresh_patient_record(person)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    |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    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PatientRecord (derived read model)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    |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    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REST API --&gt; React Frontend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The OMOP CDM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BB"/>
                </a:solidFill>
                <a:latin typeface="Calibri"/>
              </a:defRPr>
            </a:pPr>
            <a:r>
              <a:t>All clinical data lives in standard OMOP tables — never written directly to PatientRecord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303520" cy="438912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Core OMOP Tables in omop_core/models.py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─────────────────────────────────────────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Person              # patient identity (name, DOB, gender)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Measurement         # labs, vitals (LOINC-coded)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ConditionOccurrence # diagnoses (ICD/SNOMED-coded)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DrugExposure        # medications, regimens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Observation         # clinical facts (biomarkers, status)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ProcedureOccurrence # surgeries, radiation, procedures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Shared patterns: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- BigIntegerField primary key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- ForeignKey to Person (patient identity)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- ForeignKey to Concept (standard vocabulary)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- source_value for raw/original coding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- is_erroneous flag for entered-in-error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828800"/>
            <a:ext cx="5029200" cy="438912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PatientRecord — Derived Read Model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─────────────────────────────────────────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class PatientRecord(models.Model):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person = OneToOneField(Person)  # anchor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# Derived from OMOP tables: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patient_age, gender, weight_kg, height_cm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disease, stage, ecog_performance_status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hemoglobin, wbc, platelets, ldh, ...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first_line_therapy, second_line_therapy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# Key rule: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# NEVER write PatientRecord directly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# Always write OMOP rows, then call: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#   refresh_patient_record(person)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# which rebuilds this from OMOP data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# 80+ fields spanning demographics,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# labs, biomarkers, disease staging,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# treatment lines, and outcomes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Populating PRomop — Three Ingest Paths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Calibri"/>
              </a:defRPr>
            </a:pPr>
            <a:r>
              <a:t>1. FHIR Bundle Upload (Primary)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E8E8E8"/>
                </a:solidFill>
                <a:latin typeface="Calibri"/>
              </a:defRPr>
            </a:pPr>
            <a:r>
              <a:t>POST /api/v1/patient-records/upload_fhir/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E8E8E8"/>
                </a:solidFill>
                <a:latin typeface="Calibri"/>
              </a:defRPr>
            </a:pPr>
            <a:r>
              <a:t>Parses Bundle entries by resourceType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E8E8E8"/>
                </a:solidFill>
                <a:latin typeface="Calibri"/>
              </a:defRPr>
            </a:pPr>
            <a:r>
              <a:t>Writes OMOP rows, then derives PatientRecord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E8E8E8"/>
                </a:solidFill>
                <a:latin typeface="Calibri"/>
              </a:defRPr>
            </a:pPr>
            <a:r>
              <a:t>Supports bulk + per-patient files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0" y="13716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Calibri"/>
              </a:defRPr>
            </a:pPr>
            <a:r>
              <a:t>2. OMOP CRUD API (Direct)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192024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E8E8E8"/>
                </a:solidFill>
                <a:latin typeface="Calibri"/>
              </a:defRPr>
            </a:pPr>
            <a:r>
              <a:t>POST/PATCH to /api/v1/measurements/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E8E8E8"/>
                </a:solidFill>
                <a:latin typeface="Calibri"/>
              </a:defRPr>
            </a:pPr>
            <a:r>
              <a:t>POST/PATCH to /api/v1/conditions/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E8E8E8"/>
                </a:solidFill>
                <a:latin typeface="Calibri"/>
              </a:defRPr>
            </a:pPr>
            <a:r>
              <a:t>POST/PATCH to /api/v1/drug-exposures/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E8E8E8"/>
                </a:solidFill>
                <a:latin typeface="Calibri"/>
              </a:defRPr>
            </a:pPr>
            <a:r>
              <a:t>Bulk arrays (up to 1000 rows) supported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Calibri"/>
              </a:defRPr>
            </a:pPr>
            <a:r>
              <a:t>3. Synthetic Generator (Dev/Test)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920240"/>
            <a:ext cx="3474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E8E8E8"/>
                </a:solidFill>
                <a:latin typeface="Calibri"/>
              </a:defRPr>
            </a:pPr>
            <a:r>
              <a:t>manage.py generate_fhir_bundle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E8E8E8"/>
                </a:solidFill>
                <a:latin typeface="Calibri"/>
              </a:defRPr>
            </a:pPr>
            <a:r>
              <a:t>Breast cancer, MM, FL disease profiles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E8E8E8"/>
                </a:solidFill>
                <a:latin typeface="Calibri"/>
              </a:defRPr>
            </a:pPr>
            <a:r>
              <a:t>Realistic random clinical values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E8E8E8"/>
                </a:solidFill>
                <a:latin typeface="Calibri"/>
              </a:defRPr>
            </a:pPr>
            <a:r>
              <a:t>Then import via import_fhir_bundle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10698480" cy="256032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Generate and import synthetic data (typical dev workflow)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Step 1: Generate a FHIR bundle with 50 multiple myeloma patients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.venv/bin/python manage.py generate_fhir_bundle --disease mm --count 50 --output data/mm_test.json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Step 2: Import the bundle into local dev database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DATABASE_URL="postgresql://postgres@localhost:5432/promop_dev"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.venv/bin/python manage.py import_fhir_bundle --file data/mm_test.json --batch-size 5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Or upload via API (curl)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curl -X POST http://localhost:8000/api/v1/patient-records/upload_fhir/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-H "Authorization: Bearer $TOKEN" -F "file=@data/mm_test.json"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FHIR Upload — Under the Hood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BB"/>
                </a:solidFill>
                <a:latin typeface="Calibri"/>
              </a:defRPr>
            </a:pPr>
            <a:r>
              <a:t>patient_portal/api/views.py — upload_fhir action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303520" cy="45720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Simplified flow inside upload_fhir: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1. Group FHIR resources by Patient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for patient_id, resources in grouped.items():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patient_res = resources['Patient']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observations = resources['Observation']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conditions = resources['Condition']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meds = resources['MedicationRequest']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# 2. Create/update Person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person = Person.objects.update_or_create(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actor_sub=...,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defaults={'given_name': ..., ...}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# 3. Write OMOP rows (Measurement, etc.)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for obs in observations: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Measurement.objects.create(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person=person,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measurement_concept=concept, ...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828800"/>
            <a:ext cx="5029200" cy="45720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# 4. Write Conditions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for cond in conditions: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ConditionOccurrence.objects.create(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person=person,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condition_concept=concept,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condition_start_date=...,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# 5. Write Drug Exposures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for med in meds: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DrugExposure.objects.create(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person=person,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drug_concept=concept,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drug_exposure_start_date=...,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# 6. Rebuild the read model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refresh_patient_record(person)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# 7. Infer lines of therapy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infer_lot_for_person(person)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Key: PatientRecord is DERIVED, never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written directly from FHIR data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OMOP CRUD API — Direct Clinical Writes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BB"/>
                </a:solidFill>
                <a:latin typeface="Calibri"/>
              </a:defRPr>
            </a:pPr>
            <a:r>
              <a:t>Five OMOP endpoints accept single-row or bulk (array) POST — all under /api/v1/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303520" cy="237744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Single-row POST (create one measurement)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curl -X POST /api/v1/measurements/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-H "Content-Type: application/json"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-d '{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"person": 12345,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"measurement_concept": 3006322,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"measurement_date": "2025-03-15",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"value_as_number": 12.5,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"measurement_source_value": "718-7"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}'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828800"/>
            <a:ext cx="5029200" cy="237744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Bulk POST (array of rows, max 1000)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curl -X POST /api/v1/measurements/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-H "Content-Type: application/json"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-d '[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{"person": 12345, "measurement_concept": 3006322,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"measurement_date": "2025-03-15",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"value_as_number": 12.5, ...},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{"person": 12345, "measurement_concept": 3019550,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"measurement_date": "2025-03-15",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"value_as_number": 7.2, ...}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]'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Response: {created: 2, updated: 0, ids: [...]}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572000"/>
            <a:ext cx="10698480" cy="18288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Bulk Write Contract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- One transaction, all-or-nothing              - Max 1,000 rows (413 if exceeded)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- One batch = one person (400 if mixed)        - Server assigns PKs (400 if client sends)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- Idempotent upsert by default                 - ?upsert=false for append-only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- Upsert key: (source_value, date)             - Measurement adds (datetime, value_as_number)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- Only concept column rewritten on match        - Provenance via X-Provenance-Source header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- bulk_create skips post_save signals           - Must call refresh_patient_record() explicitly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Adding a New Patient Attribute —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BB"/>
                </a:solidFill>
                <a:latin typeface="Calibri"/>
              </a:defRPr>
            </a:pPr>
            <a:r>
              <a:t>Every new field must touch ALL of these layers (see CLAUDE.md for full details)</a:t>
            </a:r>
          </a:p>
        </p:txBody>
      </p:sp>
      <p:sp>
        <p:nvSpPr>
          <p:cNvPr id="4" name="Oval 3"/>
          <p:cNvSpPr/>
          <p:nvPr/>
        </p:nvSpPr>
        <p:spPr>
          <a:xfrm>
            <a:off x="777240" y="1854200"/>
            <a:ext cx="320040" cy="320040"/>
          </a:xfrm>
          <a:prstGeom prst="ellipse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5420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Django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7040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omop_core/models.py — add field to PatientRecord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311400"/>
            <a:ext cx="320040" cy="320040"/>
          </a:xfrm>
          <a:prstGeom prst="ellipse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31140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286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DB Migration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286000"/>
            <a:ext cx="7040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makemigrations + migrate to staging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2768600"/>
            <a:ext cx="320040" cy="320040"/>
          </a:xfrm>
          <a:prstGeom prst="ellipse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76860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7432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DRF Serializer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743200"/>
            <a:ext cx="7040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Auto-included via fields='__all__' — add custom logic if needed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225800"/>
            <a:ext cx="320040" cy="320040"/>
          </a:xfrm>
          <a:prstGeom prst="ellipse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22580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2004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FHIR Upload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200400"/>
            <a:ext cx="7040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views.py — map LOINC/SNOMED code to new field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3683000"/>
            <a:ext cx="320040" cy="320040"/>
          </a:xfrm>
          <a:prstGeom prst="ellipse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68300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6576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API ViewSet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3657600"/>
            <a:ext cx="7040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Add filtering/ordering if needed</a:t>
            </a:r>
          </a:p>
        </p:txBody>
      </p:sp>
      <p:sp>
        <p:nvSpPr>
          <p:cNvPr id="24" name="Oval 23"/>
          <p:cNvSpPr/>
          <p:nvPr/>
        </p:nvSpPr>
        <p:spPr>
          <a:xfrm>
            <a:off x="777240" y="4140200"/>
            <a:ext cx="320040" cy="320040"/>
          </a:xfrm>
          <a:prstGeom prst="ellipse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14020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41148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TypeScript Type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114800"/>
            <a:ext cx="7040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frontend/src/types/patient.ts — PatientInfo interface</a:t>
            </a:r>
          </a:p>
        </p:txBody>
      </p:sp>
      <p:sp>
        <p:nvSpPr>
          <p:cNvPr id="28" name="Oval 27"/>
          <p:cNvSpPr/>
          <p:nvPr/>
        </p:nvSpPr>
        <p:spPr>
          <a:xfrm>
            <a:off x="777240" y="4597400"/>
            <a:ext cx="320040" cy="320040"/>
          </a:xfrm>
          <a:prstGeom prst="ellipse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59740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4572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React UI Tab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4572000"/>
            <a:ext cx="7040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GeneralTab / LabsTab / disease-specific tab</a:t>
            </a:r>
          </a:p>
        </p:txBody>
      </p:sp>
      <p:sp>
        <p:nvSpPr>
          <p:cNvPr id="32" name="Oval 31"/>
          <p:cNvSpPr/>
          <p:nvPr/>
        </p:nvSpPr>
        <p:spPr>
          <a:xfrm>
            <a:off x="777240" y="5054600"/>
            <a:ext cx="320040" cy="320040"/>
          </a:xfrm>
          <a:prstGeom prst="ellipse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05460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50292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FHIR Generator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0" y="5029200"/>
            <a:ext cx="7040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generate_fhir_bundle.py — synthetic data for testing</a:t>
            </a:r>
          </a:p>
        </p:txBody>
      </p:sp>
      <p:sp>
        <p:nvSpPr>
          <p:cNvPr id="36" name="Oval 35"/>
          <p:cNvSpPr/>
          <p:nvPr/>
        </p:nvSpPr>
        <p:spPr>
          <a:xfrm>
            <a:off x="777240" y="5511800"/>
            <a:ext cx="320040" cy="320040"/>
          </a:xfrm>
          <a:prstGeom prst="ellipse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51180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1600" y="54864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Tests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0" y="5486400"/>
            <a:ext cx="7040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Backend model + API + FHIR upload + frontend render tests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Example: Adding a New Field — Model &amp; Migration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303520" cy="292608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# omop_core/models.py — PatientRecord class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class PatientRecord(models.Model):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...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# New field: serum ferritin lab value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serum_ferritin = models.DecimalField(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    max_digits=10, decimal_places=2,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    blank=True, null=True,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    help_text='Serum ferritin (ng/mL)'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# Then generate the migration: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# .venv/bin/python manage.py makemigrations omop_core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280160"/>
            <a:ext cx="5029200" cy="292608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# frontend/src/types/patient.ts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export interface PatientInfo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...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// Labs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serum_ferritin?: number;  // ng/mL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...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# patient_portal/api/serializers.py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# fields = '__all__' auto-includes it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# Add to read_only_fields if OMOP-derived: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#   *PATIENT_RECORD_OMOP_MAPPED_FIELDS,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572000"/>
            <a:ext cx="10698480" cy="18288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# React UI — LabsTab.tsx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&lt;Field label="Serum Ferritin (ng/mL)" name="serum_ferritin" type="number"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value={formData?.serum_ferritin} onChange={onChange} /&gt;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# Apply migration to staging, then local: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DATABASE_URL="$STAGING_DATABASE_URL" .venv/bin/python manage.py migrate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DATABASE_URL="postgresql://postgres@localhost:5432/promop_dev" .venv/bin/python manage.py migrate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Using Data — API Endpoints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BB"/>
                </a:solidFill>
                <a:latin typeface="Calibri"/>
              </a:defRPr>
            </a:pPr>
            <a:r>
              <a:t>All current endpoints under /api/v1/ — legacy /api/patient-info/ is frozen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6400800" cy="45720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GET /api/v1/patient-records/                     # List/search patient records (read model)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GET /api/v1/patient-records/{person_id}/         # Single patient detail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GET /api/v1/measurements/?person={id}            # Lab results for a patient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GET /api/v1/conditions/?person={id}              # Diagnoses for a patient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GET /api/v1/drug-exposures/?person={id}          # Medications for a patient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GET /api/v1/observations/?person={id}            # Clinical observations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GET /api/v1/procedures/?person={id}              # Procedures performed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GET /api/v1/episodes/?person={id}                # Treatment episodes / lines of therapy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GET /api/v1/concepts/search/?q=...               # Search OMOP concept vocabulary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GET /api/v1/vocabularies/{name}/                 # Controlled vocabulary lookup values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79" y="1828800"/>
            <a:ext cx="3931920" cy="45720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Example: fetch patient list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curl /api/v1/patient-records/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-H "Authorization: Bearer $T"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Filter by disease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curl "/api/v1/patient-records/\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?disease=multiple+myeloma"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Get labs for patient 42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curl "/api/v1/measurements/\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?person=42&amp;ordering=-date"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Search concepts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curl "/api/v1/concepts/search/\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?q=hemoglobin&amp;domain=Measurement"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React Frontend — Component Pattern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303520" cy="50292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// GeneralTab.tsx — typical tab structure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export default function GeneralTab({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formData, onChange, diseaseType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}: Props)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// Vocabulary from API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const { source: ecogSource } =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useVocabulary('ecog-status', 'code');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const { source: diseaseSource } =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useVocabulary('disease', 'title');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return (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&lt;Section title="Patient Details"&gt;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&lt;Field label="Disease" name="disease"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type="select" value={formData?.disease}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options={diseaseSource}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onChange={onChange} /&gt;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&lt;Field label="ECOG Status"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name="ecog_performance_status"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type="select" value={formData?.ecog_...}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options={ecogSource}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onChange={onChange} /&gt;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&lt;Field label="Date of Birth"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name="date_of_birth" type="date"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value={formData?.date_of_birth}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onChange={onChange} /&gt;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&lt;/Section&gt;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}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280160"/>
            <a:ext cx="5029200" cy="256032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 Tab organization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 GeneralTab     — demographics, vitals, staging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 LabsTab        — blood counts, chemistry, biomarkers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 MultipleMyelomaTab  — MM-specific fields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 FollicularLymphomaTab — FL-specific fields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 WearableTab    — device data upload + 30d summaries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 UI primitives: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   &lt;Section&gt;  — labeled group with description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   &lt;Field&gt;    — label + input/select wrapper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   &lt;Input&gt;    — raw input (for special cases)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 Vocabularies loaded via useVocabulary() hook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 from /api/v1/vocabularies/{name}/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4114800"/>
            <a:ext cx="5029200" cy="219456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 PatientDetail.tsx — wires tabs together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const tabs = [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{ key: "general", label: "General",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component: GeneralTab },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{ key: "labs", label: "Labs",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component: LabsTab },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// disease-specific tabs shown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// conditionally based on disease type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];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 onUpdate triggers PATCH to API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Testing — Two Backend Suites + Frontend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303520" cy="237744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Suite 1: Django test runner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(omop_core/tests.py + patient_portal/tests.py)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DATABASE_URL="postgresql://postgres@localhost\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:5432/promop_test"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.venv/bin/python manage.py test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omop_core patient_portal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--verbosity=2 --noinput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Suite 2: pytest (tests/ package — 166+ tests)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DATABASE_URL="postgresql://postgres@localhost\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:5432/promop_test" DEBUG=True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.venv/bin/python -m pytest -q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280160"/>
            <a:ext cx="5029200" cy="237744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Suite 3: Frontend (Vitest)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cd frontend &amp;&amp; npm test -- --run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Run everything before pushing: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DATABASE_URL="postgresql://postgres@localhost\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:5432/promop_test"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.venv/bin/python manage.py test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omop_core patient_portal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--verbosity=2 --noinput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&amp;&amp; cd frontend &amp;&amp; npm test -- --run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BOTH backend suites must pass before push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023360"/>
            <a:ext cx="10698480" cy="256032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Example test: new field exposed via API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class SerumFerritinAPITest(APITestCase):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def setUp(self):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self.user = User.objects.create_user('testuser', password='pass')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self.client.force_authenticate(user=self.user)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self.person = Person.objects.create(person_id=9997)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self.record = PatientRecord.objects.create(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person=self.person, serum_ferritin=Decimal('245.50'))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def test_field_in_api_response(self):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response = self.client.get(f'/api/v1/patient-records/{self.person.person_id}/')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self.assertEqual(response.status_code, 200)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self.assertEqual(response.data['serum_ferritin'], '245.50')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Git &amp; Deployment Workflow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303520" cy="384048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Developer workflow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1. Create feature branch off dev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git checkout dev &amp;&amp; git pull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git checkout -b feat/add-serum-ferritin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2. Make changes across all layers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   (model, migration, serializer, UI, tests)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3. Run tests locally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DATABASE_URL="postgresql://postgres@localhost\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:5432/promop_test"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.venv/bin/python manage.py test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omop_core patient_portal --noinput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4. Push + open PR targeting dev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git push -u origin feat/add-serum-ferritin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gh pr create --base dev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280160"/>
            <a:ext cx="5029200" cy="384048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Branch strategy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feature branch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|              # work happens here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PR --&gt; dev          # code review + CI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  |       # integration testing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  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PR --&gt; main  # release merge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       |  # auto-deploys to Render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       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  production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Rules: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- Never commit directly to dev or main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- Feature branches branch from dev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- Delete branch after merge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- start.sh runs migrate on every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949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39C12"/>
                </a:solidFill>
                <a:latin typeface="Calibri"/>
              </a:defRPr>
            </a:pPr>
            <a:r>
              <a:t>Database rule: Use local PostgreSQL (promop_test) for tests. Staging DB for migration verification only. Never run tests against remote DBs.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Key Architecture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Write OMOP, Read PatientRecord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28016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All clinical data enters through OMOP tables. PatientRecord is rebuilt by refresh_patient_record() — never write it directly from ingest paths.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574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Upsert by Default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205740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Bulk writes use idempotent upsert on (source_value, date). Measurement adds (datetime, value_as_number) to the key. Re-runs converge, not duplicate.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346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bulk_create Skips Signals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83464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Django's bulk_create() does not fire post_save signals. Bulk write paths must call refresh_patient_record() explicitly after the batch.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118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Vocabulary-Controlled Fields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61188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JSONField lists (e.g. sct_eligibility, preexisting_conditions) are validated against live vocabulary tables. Unrecognized values are discarded on ingest.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389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Patient Access Isolation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3891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Patients see only their own record. get_admin_orgs() excludes patient-role grants from org trust expansion. 7 dedicated isolation tests enforce this.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1663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API Versioning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516636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/api/patient-info/ is frozen legacy. All new work uses /api/v1/ endpoints. Both route to the same ViewSet.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Summary — Developer Quick Reference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303520" cy="50292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Populate Data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─────────────────────────────────────────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Generate synthetic patients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manage.py generate_fhir_bundle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--disease mm --count 50 -o data/mm.json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Import into local DB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manage.py import_fhir_bundle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--file data/mm.json --batch-size 5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Or POST OMOP rows directly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POST /api/v1/measurements/  [{...}, ...]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POST /api/v1/conditions/    [{...}, ...]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Read Data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─────────────────────────────────────────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GET /api/v1/patient-records/     # list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GET /api/v1/patient-records/42/  # detail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GET /api/v1/measurements/?person=42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GET /api/v1/conditions/?person=42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GET /api/v1/concepts/search/?q=...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280160"/>
            <a:ext cx="5029200" cy="50292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Add a New Field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─────────────────────────────────────────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1. models.py      — add to PatientRecord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2. makemigrations  — generate migration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3. serializer      — auto-included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4. views.py        — FHIR mapping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5. patient.ts      — TypeScript type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6. *Tab.tsx        — React UI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7. generator       — synthetic FHIR data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8. tests           — all layers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Run Tests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─────────────────────────────────────────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Django suite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manage.py test omop_core patient_portal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Pytest suite (166+ tests)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python -m pytest -q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Frontend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cd frontend &amp;&amp; npm test -- --run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B2"/>
          <p:cNvSpPr txBox="1"/>
          <p:nvPr/>
        </p:nvSpPr>
        <p:spPr>
          <a:xfrm>
            <a:off x="0" y="2743200"/>
            <a:ext cx="1219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96D6"/>
                </a:solidFill>
                <a:latin typeface="Calibri"/>
              </a:defRPr>
            </a:pPr>
            <a:r>
              <a:rPr lang="en-US" sz="4400">
                <a:solidFill>
                  <a:srgbClr val="0096D6"/>
                </a:solidFill>
                <a:latin typeface="Calibri"/>
              </a:rPr>
              <a:t>BACKUP</a:t>
            </a:r>
          </a:p>
          <a:p>
            <a:pPr algn="ctr">
              <a:spcBef>
                <a:spcPts val="400"/>
              </a:spcBef>
              <a:defRPr sz="2000">
                <a:solidFill>
                  <a:srgbClr val="999999"/>
                </a:solidFill>
                <a:latin typeface="Calibri"/>
              </a:defRPr>
            </a:pPr>
            <a:r>
              <a:rPr lang="en-US" sz="2000">
                <a:solidFill>
                  <a:srgbClr val="999999"/>
                </a:solidFill>
                <a:latin typeface="Calibri"/>
              </a:rPr>
              <a:t>Supplementary Material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Wearable Health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AACCEE"/>
                </a:solidFill>
                <a:latin typeface="Calibri"/>
              </a:defRPr>
            </a:pPr>
            <a:r>
              <a:t>Ingesting Device Data from Garmin, Apple Health, and Beyond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4480560"/>
            <a:ext cx="10515600" cy="254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BBBBB"/>
                </a:solidFill>
                <a:latin typeface="Calibri"/>
              </a:defRPr>
            </a:pPr>
            <a:r>
              <a:t>Upload  |  Parse  |  OMOP Measurement/Observation  |  30-Day Summaries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Wearable Data — Architecture Overview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303520" cy="50292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Wearable File (.fit or .zip)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|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POST /api/v1/patient-records/upload-wearable/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|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Parser (Garmin FIT or Apple Health XML)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-&gt; list of WearableSample(metric, date, value)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|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Artifact filter (WEARABLE_ARTIFACT_BOUNDS)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Dedup against existing OMOP rows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|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Concept resolution: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metric_key -&gt; (vocabulary_id, concept_code)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-&gt; Concept.objects.filter(vocab, code).first()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-&gt; integer OMOP concept_id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|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bulk_create -&gt; Measurement or Observation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(routed by concept.domain_id)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|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refresh_patient_record(person)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-&gt; 22+ 30-day summary fields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|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WearableUpload history record created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280160"/>
            <a:ext cx="5029200" cy="237744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Currently Supported Devices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─────────────────────────────────────────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Garmin    .fit files    HRV = RMSSD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(MARQ 2, Fenix 7+, Venu, etc.)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Apple     .zip export   HRV = SDNN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(Health app export.xml inside zip)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Not yet:  Whoop, Oura, Fitbit, Samsung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3931920"/>
            <a:ext cx="5029200" cy="237744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Key Design Decisions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─────────────────────────────────────────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- HRV intentionally split: SDNN vs RMSSD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are different statistics, never combined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- Resting HR: dedicated field or p10 fallback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- Activity metrics -&gt; Observation table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Physiological metrics -&gt; Measurement table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- All wearable 30d fields are read-only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(protected from PATCH by serializer)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Writing Wearable Metrics via the OMOP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BBBBB"/>
                </a:solidFill>
                <a:latin typeface="Calibri"/>
              </a:defRPr>
            </a:pPr>
            <a:r>
              <a:t>You can write wearable data directly as Measurement or Observation rows — PRomop resolves concepts for you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303520" cy="18288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>
                <a:solidFill>
                  <a:srgbClr val="D4D4D4"/>
                </a:solidFill>
                <a:latin typeface="Courier New"/>
              </a:defRPr>
            </a:pPr>
            <a:r>
              <a:t>Step 0: Look up OMOP concept_ids from vocabulary codes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D4D4D4"/>
                </a:solidFill>
                <a:latin typeface="Courier New"/>
              </a:defRPr>
            </a:pPr>
            <a:r>
              <a:t># GET /api/v1/concepts/lookup/ resolves (vocabulary, code) -&gt; concept_id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D4D4D4"/>
                </a:solidFill>
                <a:latin typeface="Courier New"/>
              </a:defRPr>
            </a:pPr>
            <a:r>
              <a:t>curl "/api/v1/concepts/lookup/\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D4D4D4"/>
                </a:solidFill>
                <a:latin typeface="Courier New"/>
              </a:defRPr>
            </a:pPr>
            <a:r>
              <a:t>  ?lookup=LOINC:40443-4\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D4D4D4"/>
                </a:solidFill>
                <a:latin typeface="Courier New"/>
              </a:defRPr>
            </a:pPr>
            <a:r>
              <a:t>  &amp;lookup=LOINC:55423-8\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D4D4D4"/>
                </a:solidFill>
                <a:latin typeface="Courier New"/>
              </a:defRPr>
            </a:pPr>
            <a:r>
              <a:t>  &amp;lookup=HK-Wearable:HK-WEAR-HRV-RMSSD"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D4D4D4"/>
                </a:solidFill>
                <a:latin typeface="Courier New"/>
              </a:defRPr>
            </a:pPr>
            <a:r>
              <a:t># Response:  { "LOINC":       { "40443-4": 3027018, "55423-8": 40771152 },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D4D4D4"/>
                </a:solidFill>
                <a:latin typeface="Courier New"/>
              </a:defRPr>
            </a:pPr>
            <a:r>
              <a:t>#              "HK-Wearable": { "HK-WEAR-HRV-RMSSD": 2029606354 } 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749039"/>
            <a:ext cx="5303520" cy="292608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Example 1: Resting Heart Rate (LOINC -&gt; Measurement)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# LOINC 40443-4 = Heart rate --resting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curl -X POST /api/v1/measurements/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-H "Authorization: Bearer $TOKEN"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-H "Content-Type: application/json"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-d '[                                  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{ "person": 42,                      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"measurement_concept": 3027018,         # &lt;-- concept_id from lookup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"measurement_date": "2025-06-01",  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"value_as_number": 58,                  # bpm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"measurement_source_value": "40443-4",  # store the LOINC code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"measurement_type_concept": 32865 },    # Patient self-report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{ "person": 42,                      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"measurement_concept": 3027018,    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"measurement_date": "2025-06-02",  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"value_as_number": 61,             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"measurement_source_value": "40443-4",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"measurement_type_concept": 32865 }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]'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29200" cy="22860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Example 2: Daily Steps (LOINC -&gt; Observation)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# LOINC 55423-8 = Steps (pedometer)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# Steps go to Observation, not Measurement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curl -X POST /api/v1/observations/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-H "Authorization: Bearer $TOKEN"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-H "Content-Type: application/json"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-d '[                                  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{ "person": 42,                      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"observation_concept": 40771152,        # &lt;-- from lookup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"observation_date": "2025-06-01",  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"value_as_number": 8432,           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"observation_source_value": "55423-8",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"observation_type_concept": 32865 }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]'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4206240"/>
            <a:ext cx="5029200" cy="246888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Example 3: HRV RMSSD (HK-Wearable -&gt; Measurement)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# No LOINC exists — uses locally-minted concept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# HK-Wearable:HK-WEAR-HRV-RMSSD = 2029606354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curl -X POST /api/v1/measurements/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-H "Authorization: Bearer $TOKEN"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-H "Content-Type: application/json"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-d '[                                         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{ "person": 42,                             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"measurement_concept": 2029606354,             # fixed ID (seeded)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"measurement_date": "2025-06-01",         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"value_as_number": 45.2,                       # ms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"measurement_source_value": "HK-WEAR-HRV-RMSSD",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"measurement_type_concept": 32865 }       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]'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Wearable Metrics — Concept Resolution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39C12"/>
                </a:solidFill>
                <a:latin typeface="Calibri"/>
              </a:defRPr>
            </a:pPr>
            <a:r>
              <a:t>LOINC codes are NOT OMOP concept IDs. Resolution: metric_key -&gt; (vocabulary_id, concept_code) -&gt; concept_id (integer)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7132320" cy="475488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Metric              Vocabulary    Code               OMOP Table     Example concept_id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─────────────────────────────────────────────────────────────────────────────────────────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steps               LOINC         55423-8            Observation    (resolved at runtime)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active_minutes       LOINC         55411-3            Observation    (resolved at runtime)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resting_hr           LOINC         40443-4            Measurement    (resolved at runtime)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hrv_sdnn             LOINC         80404-7            Measurement    (resolved at runtime)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hrv_rmssd            HK-Wearable   HK-WEAR-HRV-RMSSD Measurement    2029606354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spo2                 LOINC         59408-5            Measurement    (resolved at runtime)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respiratory_rate     LOINC         9279-1             Measurement    (resolved at runtime)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sleep_duration       LOINC         93832-4            Observation    (resolved at runtime)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vo2_max              LOINC         94122-9            Measurement    (resolved at runtime)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distance             LOINC         41953-1            Measurement    (resolved at runtime)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walking_speed        LOINC         41957-2            Measurement    (resolved at runtime)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walking_step_length  HK-Wearable   HK-WEAR-STEP-LENGTH Measurement  2029606350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walking_dbl_support  HK-Wearable   HK-WEAR-DBL-SUPPORT Measurement  2029606351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walking_hr_avg       HK-Wearable   HK-WEAR-WALK-HR    Measurement   2029606352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active_energy        LOINC         93819-1            Measurement    (resolved at runtime)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basal_energy         HK-Wearable   HK-WEAR-BASAL-ENERGY Measurement 2029606353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body_mass            LOINC         29463-7            Measurement    (resolved at runtime)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flights_climbed      LOINC         100304-5           Observation    (resolved at runtime)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0" y="1645920"/>
            <a:ext cx="3200400" cy="475488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How Resolution Works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─────────────────────────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# mappings.py stores: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WEARABLE_CONCEPT_CODE =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'resting_hr': '40443-4',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...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WEARABLE_CONCEPT_VOCAB =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'resting_hr': 'LOINC',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...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# At runtime (views.py):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concept = Concept.objects\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.filter(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vocabulary_id='LOINC',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concept_code='40443-4'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).first()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# concept.concept_id is the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# integer written to the FK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# on Measurement/Observation.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# LOINC concept_ids depend on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# your Athena vocabulary load.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# HK-Wearable IDs are fixed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# (seeded by migration 0143).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How to Add Another Wearable Health Metric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BB"/>
                </a:solidFill>
                <a:latin typeface="Calibri"/>
              </a:defRPr>
            </a:pPr>
            <a:r>
              <a:t>Example: adding skin temperature as a new wearable metric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303520" cy="45720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Step 1: Add concept mapping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omop_core/services/mappings.py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WEARABLE_CONCEPT_CODE =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...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'skin_temp': '39106-0',  # LOINC: Skin temp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WEARABLE_CONCEPT_VOCAB auto-derives: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  'skin_temp': 'LOINC'  (not HK- prefix)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If no LOINC exists, mint a local concept: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  'skin_temp': 'HK-WEAR-SKIN-TEMP',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and add it to seed_omop_concepts.py +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create a new seeding migration.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Add artifact bounds: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WEARABLE_ARTIFACT_BOUNDS =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...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'skin_temp': (25.0, 45.0),  # Celsius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If it's an activity metric (summed per day):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add to WEARABLE_OBSERVATION_METRICS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Otherwise it stays in Measurement (default)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828800"/>
            <a:ext cx="5029200" cy="45720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Step 2: Add parser support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omop_core/services/wearable_parsers.py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For Garmin — handle new FIT message type: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elif mesg_type == 'skin_temperature':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val = record.get_value('temperature')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if val is not None: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samples.append(WearableSample(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'skin_temp', day, float(val)))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For Apple Health — add to _APPLE_TYPE_MAP: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_APPLE_TYPE_MAP =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...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'HKQuantityTypeIdentifierAppleSleeping'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'WristTemperature': 'skin_temp',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Step 3: Add 30d summary field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omop_core/models.py — PatientRecord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skin_temp_avg_30d = models.DecimalField(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max_digits=4, decimal_places=1,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blank=True, null=True)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Then: makemigrations + migrate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Add a Metric (cont.) — Aggregation, UI, Tests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303520" cy="256032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Step 4: Add 30d aggregation logic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omop_core/services/patient_record_service.py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Inside _get_wearable_data():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The function already queries all rows matching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WEARABLE_CONCEPT_CODE keys. Just add aggregation: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if 'skin_temp' in daily_data: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vals = [v for day_vals in daily_data['skin_temp']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for v in day_vals.values()]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updates['skin_temp_avg_30d'] = (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sum(vals) / len(vals)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280160"/>
            <a:ext cx="5029200" cy="256032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Step 5: Add to TypeScript + React UI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frontend/src/types/patient.ts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skin_temp_avg_30d?: string | number;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frontend/src/.../tabs/WearableTab.tsx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Add to the appropriate Section: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&lt;Field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label="Avg Skin Temperature (30d)"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name="skin_temp_avg_30d"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type="number"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value={formData?.skin_temp_avg_30d}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onChange={onChange}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disabled  /&gt;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</p:txBody>
      </p:sp>
      <p:sp>
        <p:nvSpPr>
          <p:cNvPr id="5" name="Rounded Rectangle 4"/>
          <p:cNvSpPr/>
          <p:nvPr/>
        </p:nvSpPr>
        <p:spPr>
          <a:xfrm>
            <a:off x="731520" y="4206240"/>
            <a:ext cx="10698480" cy="237744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Step 6: Write tests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Backend: verify parser extracts skin_temp from a fixture .fit / .zip file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Backend: verify upload-wearable endpoint creates Measurement rows with concept for LOINC 39106-0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Backend: verify refresh_patient_record computes skin_temp_avg_30d correctly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Frontend: verify WearableTab renders the new field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Full checklist: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1. mappings.py     — WEARABLE_CONCEPT_CODE + ARTIFACT_BOUNDS    5. patient.ts     — TypeScript type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2. wearable_parsers.py — parser extraction for each device      6. WearableTab.tsx — UI field (disabled)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3. models.py       — PatientRecord summary field + migration    7. Tests across all layers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4. patient_record_service.py — 30d aggregation in _get_wearable_data()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How to Add Another Wearable Source (e.g. Whoop, Oura)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303520" cy="50292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Step 1: Write a new parser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omop_core/services/wearable_parsers.py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def parse_whoop_export(file_obj):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"""Parse Whoop CSV/JSON export.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Returns list of WearableSample tuples.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"""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samples = []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# Whoop exports CSV with columns like: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# date, rhr, hrv, spo2, sleep_hours, ...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reader = csv.DictReader(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io.TextIOWrapper(file_obj))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for row in reader: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day = parse_date(row['date'])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if row.get('rhr'):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samples.append(WearableSample(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    'resting_hr', day,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    float(row['rhr'])))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if row.get('hrv'):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# Whoop HRV is RMSSD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samples.append(WearableSample(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    'hrv_rmssd', day,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    float(row['hrv'])))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# ... map each column to existing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#     metric keys from mappings.py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return samples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280160"/>
            <a:ext cx="5029200" cy="50292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Step 2: Register in upload endpoint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patient_portal/api/views.py — upload_wearable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Add file extension detection: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DEVICE_PARSERS =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'.fit': ('garmin', parse_garmin_fit),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'.zip': ('apple',  parse_apple_health),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'.csv': ('whoop',  parse_whoop_export),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# For Oura JSON export: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# '.json': ('oura', parse_oura_export),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Step 3: HRV convention mapping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─────────────────────────────────────────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Critical: map to the correct HRV metric!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Device    HRV statistic   Metric key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───────   ─────────────   ──────────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Apple     SDNN            hrv_sdnn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Garmin    RMSSD           hrv_rmssd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Whoop    RMSSD           hrv_rmssd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Oura     RMSSD           hrv_rmssd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Never mix SDNN and RMSSD — they are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different statistics stored separately.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Step 4: Update WearableTab.tsx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Add device name to accepted file types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in the upload dropzone UI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Add a Wearable Source — Full Checklist</a:t>
            </a:r>
          </a:p>
        </p:txBody>
      </p:sp>
      <p:sp>
        <p:nvSpPr>
          <p:cNvPr id="3" name="Oval 2"/>
          <p:cNvSpPr/>
          <p:nvPr/>
        </p:nvSpPr>
        <p:spPr>
          <a:xfrm>
            <a:off x="777240" y="1397000"/>
            <a:ext cx="320040" cy="320040"/>
          </a:xfrm>
          <a:prstGeom prst="ellipse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9700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3716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Write parser function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1371600"/>
            <a:ext cx="7040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wearable_parsers.py — return list of WearableSample(metric_key, date, value)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1899920"/>
            <a:ext cx="320040" cy="320040"/>
          </a:xfrm>
          <a:prstGeom prst="ellipse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9992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874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Register file extension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1874520"/>
            <a:ext cx="7040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views.py upload_wearable — map extension to (device_type, parser_fn)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02840"/>
            <a:ext cx="320040" cy="320040"/>
          </a:xfrm>
          <a:prstGeom prst="ellipse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40284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3774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Map to existing metric keys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377440"/>
            <a:ext cx="7040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Reuse keys from WEARABLE_CONCEPT_CODE — no new concepts needed if metrics already exist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2905760"/>
            <a:ext cx="320040" cy="320040"/>
          </a:xfrm>
          <a:prstGeom prst="ellipse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90576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880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Handle HRV correctly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880360"/>
            <a:ext cx="7040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Determine SDNN vs RMSSD — map to hrv_sdnn or hrv_rmssd accordingly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3408680"/>
            <a:ext cx="320040" cy="320040"/>
          </a:xfrm>
          <a:prstGeom prst="ellipse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40868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3832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Add any new metrics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383280"/>
            <a:ext cx="7040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If device has a unique metric (e.g. strain, recovery score), follow the Add Metric checklist</a:t>
            </a:r>
          </a:p>
        </p:txBody>
      </p:sp>
      <p:sp>
        <p:nvSpPr>
          <p:cNvPr id="23" name="Oval 22"/>
          <p:cNvSpPr/>
          <p:nvPr/>
        </p:nvSpPr>
        <p:spPr>
          <a:xfrm>
            <a:off x="777240" y="3911600"/>
            <a:ext cx="320040" cy="320040"/>
          </a:xfrm>
          <a:prstGeom prst="ellipse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91160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38862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Update frontend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886200"/>
            <a:ext cx="7040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WearableTab.tsx — add device name to upload dropzone accepted types</a:t>
            </a:r>
          </a:p>
        </p:txBody>
      </p:sp>
      <p:sp>
        <p:nvSpPr>
          <p:cNvPr id="27" name="Oval 26"/>
          <p:cNvSpPr/>
          <p:nvPr/>
        </p:nvSpPr>
        <p:spPr>
          <a:xfrm>
            <a:off x="777240" y="4414520"/>
            <a:ext cx="320040" cy="320040"/>
          </a:xfrm>
          <a:prstGeom prst="ellipse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41452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Write tests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389120"/>
            <a:ext cx="7040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Parser unit test with fixture file + integration test through upload endpoint</a:t>
            </a:r>
          </a:p>
        </p:txBody>
      </p:sp>
      <p:sp>
        <p:nvSpPr>
          <p:cNvPr id="31" name="Oval 30"/>
          <p:cNvSpPr/>
          <p:nvPr/>
        </p:nvSpPr>
        <p:spPr>
          <a:xfrm>
            <a:off x="777240" y="4917440"/>
            <a:ext cx="320040" cy="320040"/>
          </a:xfrm>
          <a:prstGeom prst="ellipse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91744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48920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Seed test fixture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892040"/>
            <a:ext cx="7040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Add a small real or synthetic export file to tests/fixtures/ for CI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6692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39C12"/>
                </a:solidFill>
                <a:latin typeface="Calibri"/>
              </a:defRPr>
            </a:pPr>
            <a:r>
              <a:t>Key principle: New sources reuse existing metric keys and OMOP concepts. Only add new concepts when the device measures something genuinely new (e.g. Whoop "strain" or Oura "readiness score").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Wearable Pipeline — End-to-End Example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303520" cy="50292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1. Patient uploads a Garmin .fit file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curl -X POST /api/v1/patient-records/\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upload-wearable/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-H "Authorization: Bearer $TOKEN"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-F "file=@2025-03-15_garmin.fit"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Response: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"samples_created": 847,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"duplicates_skipped": 0,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"unmapped_samples": 12,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"unmapped_metrics": ["stress_level"]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2. PatientRecord auto-updates: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   median_daily_steps_30d: 8432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   resting_heart_rate_avg_30d: 62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   hrv_rmssd_avg_30d: 45.2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   sleep_duration_hours_avg_30d: 7.3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   activity_trend_30d: 'improving'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   wearable_coverage_ratio_30d: 0.87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280160"/>
            <a:ext cx="5029200" cy="237744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3. View upload history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curl /api/v1/patient-records/\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wearable-uploads/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-H "Authorization: Bearer $TOKEN"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4. Delete an upload (removes OMOP rows)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curl -X DELETE /api/v1/patient-records/\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wearable-uploads/42/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-H "Authorization: Bearer $TOKEN"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Re-computes 30d summaries after deletion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3931920"/>
            <a:ext cx="5029200" cy="237744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5. Read raw OMOP rows (for analysis)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curl "/api/v1/measurements/\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?person=42\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&amp;measurement_source_value=40443-4\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&amp;ordering=-measurement_date"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Returns individual resting HR readings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(one per day) with dates and values.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All standard OMOP query patterns apply.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