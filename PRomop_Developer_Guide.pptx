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application and ingestion developers using PRomop. Most incoming data should flow through OMOP, including FHIR imports. PatientRecord PATCH supports interactive editing. Examples require access to a designated test patient. Content checked against this repository on 2026-09-14; this is not a live deployment verification.</a:t>
            </a:r>
          </a:p>
          <a:p/>
          <a:p>
            <a:r>
              <a:t>References:</a:t>
            </a:r>
          </a:p>
          <a:p>
            <a:r>
              <a:t>https://github.com/healthkey-ai/promop/blob/dev/API_SURFACE.md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https://github.com/healthkey-ai/promop/blob/dev/API_SURFACE.md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https://github.com/healthkey-ai/promop/blob/dev/docs/patient-record-first-writes.md</a:t>
            </a:r>
          </a:p>
          <a:p>
            <a:r>
              <a:t>https://github.com/healthkey-ai/promop/blob/dev/docs/code-mapping-api.md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https://github.com/healthkey-ai/promop/blob/dev/docs/service-application-admin.md</a:t>
            </a:r>
          </a:p>
          <a:p>
            <a:r>
              <a:t>https://github.com/healthkey-ai/promop/blob/dev/docs/service-token-migration.md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in bash or zsh with curl and jq. Configure PROMOP_TOKEN and PROMOP_PERSON_ID outside the examples using a credential and a designated test patient supplied for your integration. BASE defaults to Render staging. This deck does not create accounts or embed credentials. All write examples operate only when the reader runs them.</a:t>
            </a:r>
          </a:p>
          <a:p/>
          <a:p>
            <a:r>
              <a:t>References:</a:t>
            </a:r>
          </a:p>
          <a:p>
            <a:r>
              <a:t>https://github.com/healthkey-ai/promop/blob/dev/API_SURFACE.md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https://github.com/healthkey-ai/promop/blob/dev/patient_portal/api/views.py</a:t>
            </a:r>
          </a:p>
          <a:p>
            <a:r>
              <a:t>https://github.com/healthkey-ai/promop/blob/dev/docs/service-token-migration.md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walkthrough uses patient self-reported resting heart rate, LOINC 40443-4, with OMOP Patient self-report type 32865. Confirm the type concept is loaded using GET /api/v1/concepts/32865/. The source-code lookup is an encounter operation and may record a proposal; unresolved mappings stop this example. Use concepts/search and concepts/lookup for vocabulary inspection, not as a substitute for the ingestion mapping contract.</a:t>
            </a:r>
          </a:p>
          <a:p/>
          <a:p>
            <a:r>
              <a:t>References:</a:t>
            </a:r>
          </a:p>
          <a:p>
            <a:r>
              <a:t>https://github.com/healthkey-ai/promop/blob/dev/docs/code-mapping-api.md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the variables from slides 5 and 7. This is a synthetic resting heart rate reading from a designated test patient on 2026-09-01, 58 beats/minute; do not relabel it as a real reading. Type 32865 is Patient self-report and must exist in the target vocabulary. Use a different appropriate type for a different source. unit_source_value is included; production integrations should also resolve unit_concept where supported. The one-element array uses the bulk contract and returns ids.</a:t>
            </a:r>
          </a:p>
          <a:p/>
          <a:p>
            <a:r>
              <a:t>References:</a:t>
            </a:r>
          </a:p>
          <a:p>
            <a:r>
              <a:t>https://github.com/healthkey-ai/promop/blob/dev/patient_portal/api/views.py</a:t>
            </a:r>
          </a:p>
          <a:p>
            <a:r>
              <a:t>https://github.com/healthkey-ai/promop/blob/dev/docs/clinical-event-time-policy.md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clinical list filter is person_id, not person. Explicit pagination produces count/next/previous/results. PatientRecord detail is wrapped in patient_info. The wearable summary may not equal this single test reading when other dates or pending edits exist. A read-back can confirm a stored fact without asserting that the summary must equal its value.</a:t>
            </a:r>
          </a:p>
          <a:p/>
          <a:p>
            <a:r>
              <a:t>References:</a:t>
            </a:r>
          </a:p>
          <a:p>
            <a:r>
              <a:t>https://github.com/healthkey-ai/promop/blob/dev/patient_portal/api/views.py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https://github.com/healthkey-ai/promop/blob/dev/API_SURFACE.md</a:t>
            </a:r>
          </a:p>
          <a:p>
            <a:r>
              <a:t>https://github.com/healthkey-ai/promop/blob/dev/docs/genomics_architecture.md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bundle.json must exist and contain Patient resources with unique ids and clinical resources referring to them. Use an authorized machine importer or human administrator. Validate the patients array and errors even when success is true. Each patient has its own processing transaction; this is not the all-or-nothing OMOP bulk contract. A source-supported effective date is required for observations. The command sends multipart form data, not a raw FHIR JSON POST.</a:t>
            </a:r>
          </a:p>
          <a:p/>
          <a:p>
            <a:r>
              <a:t>References:</a:t>
            </a:r>
          </a:p>
          <a:p>
            <a:r>
              <a:t>https://github.com/healthkey-ai/promop/blob/dev/patient_portal/api/views.py</a:t>
            </a:r>
          </a:p>
          <a:p>
            <a:r>
              <a:t>https://github.com/healthkey-ai/promop/blob/dev/docs/mcode-synthea-import.md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https://github.com/healthkey-ai/promop/blob/dev/patient_portal/api/views.py</a:t>
            </a:r>
          </a:p>
          <a:p>
            <a:r>
              <a:t>Measurement identity includes source value, date, datetime and numeric value, within a person. Observation also includes raw string and source answer. Conditions, drugs and procedures use source value/date. Upsert only rewrites the concept on a match: it is not a general correction operation. OMOP_BULK_MAX_ROWS is configurable. Do not blindly retry code-mapping encounters: proposed-code lookup retries increment encounter counts.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https://github.com/healthkey-ai/promop/blob/dev/patient_portal/api/views.py</a:t>
            </a:r>
          </a:p>
          <a:p>
            <a:r>
              <a:t>https://github.com/healthkey-ai/promop/blob/dev/docs/clinical-unit-policy.md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https://github.com/healthkey-ai/promop/blob/dev/docs/patient-record-first-writes.md</a:t>
            </a:r>
          </a:p>
          <a:p>
            <a:r>
              <a:t>https://github.com/healthkey-ai/promop/blob/dev/patient_portal/api/views.py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the walkthrough variables. The descriptor is a dictionary keyed by patient field name. This example only proceeds if height is writable for the caller and patient. The field unit is shown by the descriptor (height uses cm); the example represents an interactive entry of 170 cm for a designated test patient. Read-only fields can be ignored by the serializer, so check the descriptor and the save/read response. Do not send all fields from a GET back as PATCH.</a:t>
            </a:r>
          </a:p>
          <a:p/>
          <a:p>
            <a:r>
              <a:t>References:</a:t>
            </a:r>
          </a:p>
          <a:p>
            <a:r>
              <a:t>https://github.com/healthkey-ai/promop/blob/dev/docs/patient-record-first-writes.md</a:t>
            </a:r>
          </a:p>
          <a:p>
            <a:r>
              <a:t>https://github.com/healthkey-ai/promop/blob/dev/patient_portal/api/views.py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https://github.com/healthkey-ai/promop/blob/dev/patient_portal/api/views.py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https://github.com/healthkey-ai/promop/blob/dev/patient_portal/api/views.py</a:t>
            </a:r>
          </a:p>
          <a:p>
            <a:r>
              <a:t>https://github.com/healthkey-ai/promop/blob/dev/docs/patient-record-first-writes.md</a:t>
            </a:r>
          </a:p>
          <a:p>
            <a:r>
              <a:t>POST /api/v1/patient-records/{person_id}/refresh/ and GET /api/v1/derivation-status/{task_id}/ require administrative/service authority as enforced by the endpoint, plus applicable scope/access checks. Poll with bounded backoff until SUCCESS or FAILURE; PENDING is not success. FAILURE has an error field. Do not enable skip_refresh unless the integration can complete this workflow. Wearable upload catches refresh errors, so its success counters alone do not prove a fresh summary.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https://github.com/healthkey-ai/promop/blob/dev/patient_portal/api/views.py</a:t>
            </a:r>
          </a:p>
          <a:p>
            <a:r>
              <a:t>https://github.com/healthkey-ai/promop/blob/dev/docs/code-mapping-api.md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https://github.com/healthkey-ai/promop/blob/dev/docs/fhir-export-architecture.md</a:t>
            </a:r>
          </a:p>
          <a:p>
            <a:r>
              <a:t>https://github.com/healthkey-ai/promop/blob/dev/API_SURFACE.md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https://github.com/healthkey-ai/promop/blob/dev/omop_core/services/wearable_parsers.py</a:t>
            </a:r>
          </a:p>
          <a:p>
            <a:r>
              <a:t>https://github.com/healthkey-ai/promop/blob/dev/omop_core/services/mappings.py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caller needs an authenticated identity linked through PatientUser. PROMOP_PATIENT_TOKEN must represent that user, not a generic machine credential. Apple example assumes export.zip exists; Garmin uses device_type=garmin and a .fit file. The current file size limit is 200 MB. No person_id form field selects another patient. History endpoint returns up to 50 uploads. Delete history behavior removes matching clinical rows and can affect overlapping uploads; do not treat history as immutable per-file ownership.</a:t>
            </a:r>
          </a:p>
          <a:p/>
          <a:p>
            <a:r>
              <a:t>References:</a:t>
            </a:r>
          </a:p>
          <a:p>
            <a:r>
              <a:t>https://github.com/healthkey-ai/promop/blob/dev/patient_portal/api/views.py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https://github.com/healthkey-ai/promop/blob/dev/omop_core/services/patient_record_service.py</a:t>
            </a:r>
          </a:p>
          <a:p>
            <a:r>
              <a:t>https://github.com/healthkey-ai/promop/blob/dev/patient_portal/api/views.py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https://github.com/healthkey-ai/promop/blob/dev/docs/code-mapping-api.md</a:t>
            </a:r>
          </a:p>
          <a:p>
            <a:r>
              <a:t>https://github.com/healthkey-ai/promop/blob/dev/omop_core/services/wearable_parsers.py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illustrative Python showing the existing NamedTuple contract, not a parser for a named vendor. A real adapter must match a documented export schema, validate dates and numeric values, apply metric-specific aggregation, and preserve missingness. The current contract takes a date, not a timestamp. Existing parsers consume bytes. Reuse canonical metric keys for the same physiological quantity.</a:t>
            </a:r>
          </a:p>
          <a:p/>
          <a:p>
            <a:r>
              <a:t>References:</a:t>
            </a:r>
          </a:p>
          <a:p>
            <a:r>
              <a:t>https://github.com/healthkey-ai/promop/blob/dev/omop_core/services/wearable_parsers.py</a:t>
            </a:r>
          </a:p>
          <a:p>
            <a:r>
              <a:t>https://github.com/healthkey-ai/promop/blob/dev/omop_core/services/mappings.py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https://github.com/healthkey-ai/promop/blob/dev/omop_core/services/mappings.py</a:t>
            </a:r>
          </a:p>
          <a:p>
            <a:r>
              <a:t>https://github.com/healthkey-ai/promop/blob/dev/docs/code-mapping-api.md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https://github.com/healthkey-ai/promop/blob/dev/omop_core/services/mappings.py</a:t>
            </a:r>
          </a:p>
          <a:p>
            <a:r>
              <a:t>https://github.com/healthkey-ai/promop/blob/dev/docs/wearable-omop-mapping.md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References:</a:t>
            </a:r>
          </a:p>
          <a:p>
            <a:r>
              <a:t>https://github.com/healthkey-ai/promop/blob/dev/docs/code-mapping-api.md</a:t>
            </a:r>
          </a:p>
          <a:p>
            <a:r>
              <a:t>https://github.com/healthkey-ai/promop/blob/dev/docs/README.md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API_SURFACE.md"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API_SURFACE.md"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patient-record-first-writes.md" TargetMode="External"/><Relationship Id="rId3" Type="http://schemas.openxmlformats.org/officeDocument/2006/relationships/hyperlink" Target="https://github.com/healthkey-ai/promop/blob/dev/docs/code-mapping-api.md"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service-application-admin.md" TargetMode="External"/><Relationship Id="rId3" Type="http://schemas.openxmlformats.org/officeDocument/2006/relationships/hyperlink" Target="https://github.com/healthkey-ai/promop/blob/dev/docs/service-token-migration.md"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API_SURFACE.md"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hyperlink" Target="https://github.com/healthkey-ai/promop/blob/dev/docs/service-token-migration.md"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code-mapping-api.md"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hyperlink" Target="https://github.com/healthkey-ai/promop/blob/dev/docs/clinical-event-time-policy.md"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API_SURFACE.md" TargetMode="External"/><Relationship Id="rId3" Type="http://schemas.openxmlformats.org/officeDocument/2006/relationships/hyperlink" Target="https://github.com/healthkey-ai/promop/blob/dev/docs/genomics_architecture.md"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hyperlink" Target="https://github.com/healthkey-ai/promop/blob/dev/docs/mcode-synthea-import.md"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hyperlink" Target="https://github.com/healthkey-ai/promop/blob/dev/docs/clinical-unit-policy.md"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patient-record-first-writes.md" TargetMode="External"/><Relationship Id="rId3" Type="http://schemas.openxmlformats.org/officeDocument/2006/relationships/hyperlink" Target="https://github.com/healthkey-ai/promop/blob/dev/patient_portal/api/views.py"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patient-record-first-writes.md" TargetMode="External"/><Relationship Id="rId3" Type="http://schemas.openxmlformats.org/officeDocument/2006/relationships/hyperlink" Target="https://github.com/healthkey-ai/promop/blob/dev/patient_portal/api/views.py"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hyperlink" Target="https://github.com/healthkey-ai/promop/blob/dev/docs/patient-record-first-writes.md"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hyperlink" Target="https://github.com/healthkey-ai/promop/blob/dev/docs/code-mapping-api.md" TargetMode="Externa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fhir-export-architecture.md" TargetMode="External"/><Relationship Id="rId3" Type="http://schemas.openxmlformats.org/officeDocument/2006/relationships/hyperlink" Target="https://github.com/healthkey-ai/promop/blob/dev/API_SURFACE.md" TargetMode="Externa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omop_core/services/wearable_parsers.py" TargetMode="External"/><Relationship Id="rId3" Type="http://schemas.openxmlformats.org/officeDocument/2006/relationships/hyperlink" Target="https://github.com/healthkey-ai/promop/blob/dev/omop_core/services/mappings.py"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patient_portal/api/views.py"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omop_core/services/patient_record_service.py" TargetMode="External"/><Relationship Id="rId3" Type="http://schemas.openxmlformats.org/officeDocument/2006/relationships/hyperlink" Target="https://github.com/healthkey-ai/promop/blob/dev/patient_portal/api/views.py"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code-mapping-api.md" TargetMode="External"/><Relationship Id="rId3" Type="http://schemas.openxmlformats.org/officeDocument/2006/relationships/hyperlink" Target="https://github.com/healthkey-ai/promop/blob/dev/omop_core/services/wearable_parsers.py" TargetMode="Externa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omop_core/services/wearable_parsers.py" TargetMode="External"/><Relationship Id="rId3" Type="http://schemas.openxmlformats.org/officeDocument/2006/relationships/hyperlink" Target="https://github.com/healthkey-ai/promop/blob/dev/omop_core/services/mappings.py"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omop_core/services/mappings.py" TargetMode="External"/><Relationship Id="rId3" Type="http://schemas.openxmlformats.org/officeDocument/2006/relationships/hyperlink" Target="https://github.com/healthkey-ai/promop/blob/dev/docs/code-mapping-api.md" TargetMode="Externa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omop_core/services/mappings.py" TargetMode="External"/><Relationship Id="rId3" Type="http://schemas.openxmlformats.org/officeDocument/2006/relationships/hyperlink" Target="https://github.com/healthkey-ai/promop/blob/dev/docs/wearable-omop-mapping.md" TargetMode="Externa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ealthkey-ai/promop/blob/dev/docs/code-mapping-api.md" TargetMode="External"/><Relationship Id="rId3" Type="http://schemas.openxmlformats.org/officeDocument/2006/relationships/hyperlink" Target="https://github.com/healthkey-ai/promop/blob/dev/docs/README.md" TargetMode="External"/><Relationship Id="rId4"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STORE • RETRIEVE • EXTEND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PRomop Developer Guide</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API reference</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01</a:t>
            </a:r>
          </a:p>
        </p:txBody>
      </p:sp>
      <p:sp>
        <p:nvSpPr>
          <p:cNvPr id="9" name="TextBox 8"/>
          <p:cNvSpPr txBox="1"/>
          <p:nvPr/>
        </p:nvSpPr>
        <p:spPr>
          <a:xfrm>
            <a:off x="612648" y="1938528"/>
            <a:ext cx="10789920" cy="1371600"/>
          </a:xfrm>
          <a:prstGeom prst="rect">
            <a:avLst/>
          </a:prstGeom>
          <a:noFill/>
        </p:spPr>
        <p:txBody>
          <a:bodyPr wrap="square" lIns="18288" rIns="18288" tIns="18288" bIns="18288">
            <a:spAutoFit/>
          </a:bodyPr>
          <a:lstStyle/>
          <a:p>
            <a:pPr>
              <a:spcAft>
                <a:spcPts val="1000"/>
              </a:spcAft>
              <a:defRPr sz="3600" b="1">
                <a:solidFill>
                  <a:srgbClr val="142C43"/>
                </a:solidFill>
                <a:latin typeface="Arial"/>
              </a:defRPr>
            </a:pPr>
            <a:r>
              <a:t>Build applications on a longitudinal</a:t>
            </a:r>
          </a:p>
          <a:p>
            <a:pPr>
              <a:spcAft>
                <a:spcPts val="1000"/>
              </a:spcAft>
              <a:defRPr sz="3600" b="1">
                <a:solidFill>
                  <a:srgbClr val="142C43"/>
                </a:solidFill>
                <a:latin typeface="Arial"/>
              </a:defRPr>
            </a:pPr>
            <a:r>
              <a:t>clinical record.</a:t>
            </a:r>
          </a:p>
        </p:txBody>
      </p:sp>
      <p:sp>
        <p:nvSpPr>
          <p:cNvPr id="10" name="TextBox 9"/>
          <p:cNvSpPr txBox="1"/>
          <p:nvPr/>
        </p:nvSpPr>
        <p:spPr>
          <a:xfrm>
            <a:off x="612648" y="3712463"/>
            <a:ext cx="10424160" cy="731520"/>
          </a:xfrm>
          <a:prstGeom prst="rect">
            <a:avLst/>
          </a:prstGeom>
          <a:noFill/>
        </p:spPr>
        <p:txBody>
          <a:bodyPr wrap="square" lIns="18288" rIns="18288" tIns="18288" bIns="18288">
            <a:spAutoFit/>
          </a:bodyPr>
          <a:lstStyle/>
          <a:p>
            <a:pPr>
              <a:spcAft>
                <a:spcPts val="1000"/>
              </a:spcAft>
              <a:defRPr sz="2300" b="0">
                <a:solidFill>
                  <a:srgbClr val="24394B"/>
                </a:solidFill>
                <a:latin typeface="Arial"/>
              </a:defRPr>
            </a:pPr>
            <a:r>
              <a:t>Store dated facts in OMOP. Retrieve clinical history and patient summaries.</a:t>
            </a:r>
          </a:p>
          <a:p>
            <a:pPr>
              <a:spcAft>
                <a:spcPts val="1000"/>
              </a:spcAft>
              <a:defRPr sz="2300" b="0">
                <a:solidFill>
                  <a:srgbClr val="24394B"/>
                </a:solidFill>
                <a:latin typeface="Arial"/>
              </a:defRPr>
            </a:pPr>
            <a:r>
              <a:t>Extend wearable imports when your source needs an adapter.</a:t>
            </a:r>
          </a:p>
        </p:txBody>
      </p:sp>
      <p:sp>
        <p:nvSpPr>
          <p:cNvPr id="11" name="Rectangle 10"/>
          <p:cNvSpPr/>
          <p:nvPr/>
        </p:nvSpPr>
        <p:spPr>
          <a:xfrm>
            <a:off x="612648" y="5166360"/>
            <a:ext cx="10954512" cy="57607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294376"/>
            <a:ext cx="10607040" cy="320040"/>
          </a:xfrm>
          <a:prstGeom prst="rect">
            <a:avLst/>
          </a:prstGeom>
          <a:noFill/>
        </p:spPr>
        <p:txBody>
          <a:bodyPr wrap="square" lIns="18288" rIns="18288" tIns="18288" bIns="18288">
            <a:spAutoFit/>
          </a:bodyPr>
          <a:lstStyle/>
          <a:p>
            <a:pPr>
              <a:spcAft>
                <a:spcPts val="1000"/>
              </a:spcAft>
              <a:defRPr sz="1700" b="1">
                <a:solidFill>
                  <a:srgbClr val="007F80"/>
                </a:solidFill>
                <a:latin typeface="Arial"/>
              </a:defRPr>
            </a:pPr>
            <a:r>
              <a:t>FHIR R4   /   OMOP CDM v5.4   /   REST API   /   Wearable source adapters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What you can build</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API reference</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02</a:t>
            </a:r>
          </a:p>
        </p:txBody>
      </p:sp>
      <p:sp>
        <p:nvSpPr>
          <p:cNvPr id="9" name="Rectangle 8"/>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Clinical data integrations</a:t>
            </a:r>
          </a:p>
        </p:txBody>
      </p:sp>
      <p:sp>
        <p:nvSpPr>
          <p:cNvPr id="11" name="TextBox 10"/>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Import records from an EHR or data pipeline.</a:t>
            </a:r>
          </a:p>
          <a:p>
            <a:pPr>
              <a:spcAft>
                <a:spcPts val="1000"/>
              </a:spcAft>
              <a:defRPr sz="2100" b="0">
                <a:solidFill>
                  <a:srgbClr val="24394B"/>
                </a:solidFill>
                <a:latin typeface="Arial"/>
              </a:defRPr>
            </a:pPr>
            <a:r>
              <a:t>Preserve dates, concepts, units and provenance.</a:t>
            </a:r>
          </a:p>
          <a:p>
            <a:pPr>
              <a:spcAft>
                <a:spcPts val="1000"/>
              </a:spcAft>
              <a:defRPr sz="2100" b="0">
                <a:solidFill>
                  <a:srgbClr val="24394B"/>
                </a:solidFill>
                <a:latin typeface="Arial"/>
              </a:defRPr>
            </a:pPr>
            <a:r>
              <a:t>Read individual clinical facts or a reusable patient summary.</a:t>
            </a:r>
          </a:p>
        </p:txBody>
      </p:sp>
      <p:sp>
        <p:nvSpPr>
          <p:cNvPr id="12" name="Rectangle 11"/>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Patient-facing applications</a:t>
            </a:r>
          </a:p>
        </p:txBody>
      </p:sp>
      <p:sp>
        <p:nvSpPr>
          <p:cNvPr id="14" name="TextBox 13"/>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Show a patient’s longitudinal record.</a:t>
            </a:r>
          </a:p>
          <a:p>
            <a:pPr>
              <a:spcAft>
                <a:spcPts val="1000"/>
              </a:spcAft>
              <a:defRPr sz="2100" b="0">
                <a:solidFill>
                  <a:srgbClr val="24394B"/>
                </a:solidFill>
                <a:latin typeface="Arial"/>
              </a:defRPr>
            </a:pPr>
            <a:r>
              <a:t>Save authorized interactive edits.</a:t>
            </a:r>
          </a:p>
          <a:p>
            <a:pPr>
              <a:spcAft>
                <a:spcPts val="1000"/>
              </a:spcAft>
              <a:defRPr sz="2100" b="0">
                <a:solidFill>
                  <a:srgbClr val="24394B"/>
                </a:solidFill>
                <a:latin typeface="Arial"/>
              </a:defRPr>
            </a:pPr>
            <a:r>
              <a:t>Upload wearable exports and display derived metrics.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Use OMOP for most incoming data</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Interactive edits</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Code mapping contract</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03</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Primary flow: source facts</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FHIR / clinical feeds / wearables</a:t>
            </a:r>
          </a:p>
          <a:p>
            <a:pPr>
              <a:spcAft>
                <a:spcPts val="1000"/>
              </a:spcAft>
              <a:defRPr sz="2100" b="0">
                <a:solidFill>
                  <a:srgbClr val="24394B"/>
                </a:solidFill>
                <a:latin typeface="Arial"/>
              </a:defRPr>
            </a:pPr>
            <a:r>
              <a:t>↓</a:t>
            </a:r>
          </a:p>
          <a:p>
            <a:pPr>
              <a:spcAft>
                <a:spcPts val="1000"/>
              </a:spcAft>
              <a:defRPr sz="2100" b="0">
                <a:solidFill>
                  <a:srgbClr val="24394B"/>
                </a:solidFill>
                <a:latin typeface="Arial"/>
              </a:defRPr>
            </a:pPr>
            <a:r>
              <a:t>Dated OMOP clinical rows</a:t>
            </a:r>
          </a:p>
          <a:p>
            <a:pPr>
              <a:spcAft>
                <a:spcPts val="1000"/>
              </a:spcAft>
              <a:defRPr sz="2100" b="0">
                <a:solidFill>
                  <a:srgbClr val="24394B"/>
                </a:solidFill>
                <a:latin typeface="Arial"/>
              </a:defRPr>
            </a:pPr>
            <a:r>
              <a:t>↓  automatic derivation</a:t>
            </a:r>
          </a:p>
          <a:p>
            <a:pPr>
              <a:spcAft>
                <a:spcPts val="1000"/>
              </a:spcAft>
              <a:defRPr sz="2100" b="0">
                <a:solidFill>
                  <a:srgbClr val="24394B"/>
                </a:solidFill>
                <a:latin typeface="Arial"/>
              </a:defRPr>
            </a:pPr>
            <a:r>
              <a:t>PatientRecord → your application</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Interactive editing</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Authorized UI / editor</a:t>
            </a:r>
          </a:p>
          <a:p>
            <a:pPr>
              <a:spcAft>
                <a:spcPts val="1000"/>
              </a:spcAft>
              <a:defRPr sz="2100" b="0">
                <a:solidFill>
                  <a:srgbClr val="24394B"/>
                </a:solidFill>
                <a:latin typeface="Arial"/>
              </a:defRPr>
            </a:pPr>
            <a:r>
              <a:t>↓</a:t>
            </a:r>
          </a:p>
          <a:p>
            <a:pPr>
              <a:spcAft>
                <a:spcPts val="1000"/>
              </a:spcAft>
              <a:defRPr sz="2100" b="0">
                <a:solidFill>
                  <a:srgbClr val="24394B"/>
                </a:solidFill>
                <a:latin typeface="Arial"/>
              </a:defRPr>
            </a:pPr>
            <a:r>
              <a:t>PatientRecord PATCH</a:t>
            </a:r>
          </a:p>
          <a:p>
            <a:pPr>
              <a:spcAft>
                <a:spcPts val="1000"/>
              </a:spcAft>
              <a:defRPr sz="2100" b="0">
                <a:solidFill>
                  <a:srgbClr val="24394B"/>
                </a:solidFill>
                <a:latin typeface="Arial"/>
              </a:defRPr>
            </a:pPr>
            <a:r>
              <a:t>↓  backend projection</a:t>
            </a:r>
          </a:p>
          <a:p>
            <a:pPr>
              <a:spcAft>
                <a:spcPts val="1000"/>
              </a:spcAft>
              <a:defRPr sz="2100" b="0">
                <a:solidFill>
                  <a:srgbClr val="24394B"/>
                </a:solidFill>
                <a:latin typeface="Arial"/>
              </a:defRPr>
            </a:pPr>
            <a:r>
              <a:t>Mapped facts → OMOP</a:t>
            </a:r>
          </a:p>
          <a:p>
            <a:pPr>
              <a:spcAft>
                <a:spcPts val="1000"/>
              </a:spcAft>
              <a:defRPr sz="2100" b="0">
                <a:solidFill>
                  <a:srgbClr val="24394B"/>
                </a:solidFill>
                <a:latin typeface="Arial"/>
              </a:defRPr>
            </a:pPr>
            <a:r>
              <a:t>Profile values → Person / Location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Connect with the right identity</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Credentials</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Access and attribution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04</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Service integration</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Obtain a credential provisioned for your application.</a:t>
            </a:r>
          </a:p>
          <a:p>
            <a:pPr>
              <a:spcAft>
                <a:spcPts val="1000"/>
              </a:spcAft>
              <a:defRPr sz="2100" b="0">
                <a:solidFill>
                  <a:srgbClr val="24394B"/>
                </a:solidFill>
                <a:latin typeface="Arial"/>
              </a:defRPr>
            </a:pPr>
            <a:r>
              <a:t>Use read and write scopes appropriate to the endpoints.</a:t>
            </a:r>
          </a:p>
          <a:p>
            <a:pPr>
              <a:spcAft>
                <a:spcPts val="1000"/>
              </a:spcAft>
              <a:defRPr sz="2100" b="0">
                <a:solidFill>
                  <a:srgbClr val="24394B"/>
                </a:solidFill>
                <a:latin typeface="Arial"/>
              </a:defRPr>
            </a:pPr>
            <a:r>
              <a:t>Use organization-linked OAuth clients when organization isolation is required.</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User application</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Use the authenticated user’s identity for patient actions.</a:t>
            </a:r>
          </a:p>
          <a:p>
            <a:pPr>
              <a:spcAft>
                <a:spcPts val="1000"/>
              </a:spcAft>
              <a:defRPr sz="2100" b="0">
                <a:solidFill>
                  <a:srgbClr val="24394B"/>
                </a:solidFill>
                <a:latin typeface="Arial"/>
              </a:defRPr>
            </a:pPr>
            <a:r>
              <a:t>Read/write authority also depends on patient access and role.</a:t>
            </a:r>
          </a:p>
          <a:p>
            <a:pPr>
              <a:spcAft>
                <a:spcPts val="1000"/>
              </a:spcAft>
              <a:defRPr sz="2100" b="0">
                <a:solidFill>
                  <a:srgbClr val="24394B"/>
                </a:solidFill>
                <a:latin typeface="Arial"/>
              </a:defRPr>
            </a:pPr>
            <a:r>
              <a:t>Static service credentials can span patients; they do not impersonate a user.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Prepare the walkthrough</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API reference</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05</a:t>
            </a:r>
          </a:p>
        </p:txBody>
      </p:sp>
      <p:sp>
        <p:nvSpPr>
          <p:cNvPr id="9" name="Rectangle 8"/>
          <p:cNvSpPr/>
          <p:nvPr/>
        </p:nvSpPr>
        <p:spPr>
          <a:xfrm>
            <a:off x="594360" y="1828800"/>
            <a:ext cx="11000232"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29968"/>
            <a:ext cx="10597896" cy="3703320"/>
          </a:xfrm>
          <a:prstGeom prst="rect">
            <a:avLst/>
          </a:prstGeom>
          <a:noFill/>
        </p:spPr>
        <p:txBody>
          <a:bodyPr wrap="square" lIns="18288" rIns="18288" tIns="18288" bIns="18288">
            <a:spAutoFit/>
          </a:bodyPr>
          <a:lstStyle/>
          <a:p>
            <a:pPr>
              <a:spcAft>
                <a:spcPts val="0"/>
              </a:spcAft>
              <a:defRPr sz="1800" b="0">
                <a:solidFill>
                  <a:srgbClr val="FFFFFF"/>
                </a:solidFill>
                <a:latin typeface="Consolas"/>
              </a:defRPr>
            </a:pPr>
            <a:r>
              <a:t># Requires curl + jq; set credentials for a test patient first.</a:t>
            </a:r>
          </a:p>
          <a:p>
            <a:pPr>
              <a:spcAft>
                <a:spcPts val="0"/>
              </a:spcAft>
              <a:defRPr sz="1800" b="0">
                <a:solidFill>
                  <a:srgbClr val="FFFFFF"/>
                </a:solidFill>
                <a:latin typeface="Consolas"/>
              </a:defRPr>
            </a:pPr>
            <a:r>
              <a:t>: "${PROMOP_TOKEN:?Set your integration token}"</a:t>
            </a:r>
          </a:p>
          <a:p>
            <a:pPr>
              <a:spcAft>
                <a:spcPts val="0"/>
              </a:spcAft>
              <a:defRPr sz="1800" b="0">
                <a:solidFill>
                  <a:srgbClr val="FFFFFF"/>
                </a:solidFill>
                <a:latin typeface="Consolas"/>
              </a:defRPr>
            </a:pPr>
            <a:r>
              <a:t>: "${PROMOP_PERSON_ID:?Set your authorized test person_id}"</a:t>
            </a:r>
          </a:p>
          <a:p>
            <a:pPr>
              <a:spcAft>
                <a:spcPts val="0"/>
              </a:spcAft>
              <a:defRPr sz="1800" b="0">
                <a:solidFill>
                  <a:srgbClr val="FFFFFF"/>
                </a:solidFill>
                <a:latin typeface="Consolas"/>
              </a:defRPr>
            </a:pPr>
            <a:r>
              <a:t>BASE=https://promop-staging.onrender.com</a:t>
            </a:r>
          </a:p>
          <a:p>
            <a:pPr>
              <a:spcAft>
                <a:spcPts val="0"/>
              </a:spcAft>
              <a:defRPr sz="1800" b="0">
                <a:solidFill>
                  <a:srgbClr val="FFFFFF"/>
                </a:solidFill>
                <a:latin typeface="Consolas"/>
              </a:defRPr>
            </a:pPr>
            <a:r>
              <a:t>API="$BASE/api/v1"</a:t>
            </a:r>
          </a:p>
          <a:p>
            <a:pPr>
              <a:spcAft>
                <a:spcPts val="0"/>
              </a:spcAft>
              <a:defRPr sz="1800" b="0">
                <a:solidFill>
                  <a:srgbClr val="FFFFFF"/>
                </a:solidFill>
                <a:latin typeface="Consolas"/>
              </a:defRPr>
            </a:pPr>
            <a:r>
              <a:t>TOKEN="$PROMOP_TOKEN"</a:t>
            </a:r>
          </a:p>
          <a:p>
            <a:pPr>
              <a:spcAft>
                <a:spcPts val="0"/>
              </a:spcAft>
              <a:defRPr sz="1800" b="0">
                <a:solidFill>
                  <a:srgbClr val="FFFFFF"/>
                </a:solidFill>
                <a:latin typeface="Consolas"/>
              </a:defRPr>
            </a:pPr>
            <a:r>
              <a:t>PERSON_ID="$PROMOP_PERSON_ID"</a:t>
            </a:r>
          </a:p>
          <a:p>
            <a:pPr>
              <a:spcAft>
                <a:spcPts val="0"/>
              </a:spcAft>
              <a:defRPr sz="1800" b="0">
                <a:solidFill>
                  <a:srgbClr val="FFFFFF"/>
                </a:solidFill>
                <a:latin typeface="Consolas"/>
              </a:defRPr>
            </a:pPr>
          </a:p>
          <a:p>
            <a:pPr>
              <a:spcAft>
                <a:spcPts val="0"/>
              </a:spcAft>
              <a:defRPr sz="1800" b="0">
                <a:solidFill>
                  <a:srgbClr val="FFFFFF"/>
                </a:solidFill>
                <a:latin typeface="Consolas"/>
              </a:defRPr>
            </a:pPr>
            <a:r>
              <a:t>curl --fail-with-body -sS \</a:t>
            </a:r>
          </a:p>
          <a:p>
            <a:pPr>
              <a:spcAft>
                <a:spcPts val="0"/>
              </a:spcAft>
              <a:defRPr sz="1800" b="0">
                <a:solidFill>
                  <a:srgbClr val="FFFFFF"/>
                </a:solidFill>
                <a:latin typeface="Consolas"/>
              </a:defRPr>
            </a:pPr>
            <a:r>
              <a:t>  -H "Authorization: Bearer $TOKEN" \</a:t>
            </a:r>
          </a:p>
          <a:p>
            <a:pPr>
              <a:spcAft>
                <a:spcPts val="0"/>
              </a:spcAft>
              <a:defRPr sz="1800" b="0">
                <a:solidFill>
                  <a:srgbClr val="FFFFFF"/>
                </a:solidFill>
                <a:latin typeface="Consolas"/>
              </a:defRPr>
            </a:pPr>
            <a:r>
              <a:t>  "$API/patient-records/$PERSON_ID/" | jq '.patient_info'</a:t>
            </a:r>
          </a:p>
          <a:p>
            <a:pPr>
              <a:spcAft>
                <a:spcPts val="0"/>
              </a:spcAft>
              <a:defRPr sz="1800" b="0">
                <a:solidFill>
                  <a:srgbClr val="FFFFFF"/>
                </a:solidFill>
                <a:latin typeface="Consolas"/>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Keep the patient identifier returned by PRomop</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Identity and access</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06</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Identify the patient</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Use Person.person_id in clinical writes and patient detail URLs.</a:t>
            </a:r>
          </a:p>
          <a:p>
            <a:pPr>
              <a:spcAft>
                <a:spcPts val="1000"/>
              </a:spcAft>
              <a:defRPr sz="2100" b="0">
                <a:solidFill>
                  <a:srgbClr val="24394B"/>
                </a:solidFill>
                <a:latin typeface="Arial"/>
              </a:defRPr>
            </a:pPr>
            <a:r>
              <a:t>Retain your source-to-person_id mapping after an authorized import.</a:t>
            </a:r>
          </a:p>
          <a:p>
            <a:pPr>
              <a:spcAft>
                <a:spcPts val="1000"/>
              </a:spcAft>
              <a:defRPr sz="2100" b="0">
                <a:solidFill>
                  <a:srgbClr val="24394B"/>
                </a:solidFill>
                <a:latin typeface="Arial"/>
              </a:defRPr>
            </a:pPr>
            <a:r>
              <a:t>A PatientRecord row id is a different identifier.</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Check access before writing</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Fetch the selected patient and verify identity through your approved workflow.</a:t>
            </a:r>
          </a:p>
          <a:p>
            <a:pPr>
              <a:spcAft>
                <a:spcPts val="1000"/>
              </a:spcAft>
              <a:defRPr sz="2100" b="0">
                <a:solidFill>
                  <a:srgbClr val="24394B"/>
                </a:solidFill>
                <a:latin typeface="Arial"/>
              </a:defRPr>
            </a:pPr>
            <a:r>
              <a:t>Scope and role checks still apply to each operation.</a:t>
            </a:r>
          </a:p>
          <a:p>
            <a:pPr>
              <a:spcAft>
                <a:spcPts val="1000"/>
              </a:spcAft>
              <a:defRPr sz="2100" b="0">
                <a:solidFill>
                  <a:srgbClr val="24394B"/>
                </a:solidFill>
                <a:latin typeface="Arial"/>
              </a:defRPr>
            </a:pPr>
            <a:r>
              <a:t>Service callers must not assert a user’s login issuer/subject to resolve identity.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Resolve a source code before writing</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Code mapping contract</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07</a:t>
            </a:r>
          </a:p>
        </p:txBody>
      </p:sp>
      <p:sp>
        <p:nvSpPr>
          <p:cNvPr id="9" name="Rectangle 8"/>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MAP=$(curl --fail-with-body -sS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-H "Content-Type: application/json" \</a:t>
            </a:r>
          </a:p>
          <a:p>
            <a:pPr>
              <a:spcAft>
                <a:spcPts val="0"/>
              </a:spcAft>
              <a:defRPr sz="1500" b="0">
                <a:solidFill>
                  <a:srgbClr val="FFFFFF"/>
                </a:solidFill>
                <a:latin typeface="Consolas"/>
              </a:defRPr>
            </a:pPr>
            <a:r>
              <a:t>  -d '{"codes":[{"source_vocabulary_id":"LOINC",</a:t>
            </a:r>
          </a:p>
          <a:p>
            <a:pPr>
              <a:spcAft>
                <a:spcPts val="0"/>
              </a:spcAft>
              <a:defRPr sz="1500" b="0">
                <a:solidFill>
                  <a:srgbClr val="FFFFFF"/>
                </a:solidFill>
                <a:latin typeface="Consolas"/>
              </a:defRPr>
            </a:pPr>
            <a:r>
              <a:t>    "source_code":"40443-4","omop_table":"measurement"}]}' \</a:t>
            </a:r>
          </a:p>
          <a:p>
            <a:pPr>
              <a:spcAft>
                <a:spcPts val="0"/>
              </a:spcAft>
              <a:defRPr sz="1500" b="0">
                <a:solidFill>
                  <a:srgbClr val="FFFFFF"/>
                </a:solidFill>
                <a:latin typeface="Consolas"/>
              </a:defRPr>
            </a:pPr>
            <a:r>
              <a:t>  "$API/code-mappings/lookup/")</a:t>
            </a:r>
          </a:p>
          <a:p>
            <a:pPr>
              <a:spcAft>
                <a:spcPts val="0"/>
              </a:spcAft>
              <a:defRPr sz="1500" b="0">
                <a:solidFill>
                  <a:srgbClr val="FFFFFF"/>
                </a:solidFill>
                <a:latin typeface="Consolas"/>
              </a:defRPr>
            </a:pPr>
            <a:r>
              <a:t>CONCEPT_ID=$(printf '%s' "$MAP" | jq -er \</a:t>
            </a:r>
          </a:p>
          <a:p>
            <a:pPr>
              <a:spcAft>
                <a:spcPts val="0"/>
              </a:spcAft>
              <a:defRPr sz="1500" b="0">
                <a:solidFill>
                  <a:srgbClr val="FFFFFF"/>
                </a:solidFill>
                <a:latin typeface="Consolas"/>
              </a:defRPr>
            </a:pPr>
            <a:r>
              <a:t>  '.mappings["LOINC|40443-4"]</a:t>
            </a:r>
          </a:p>
          <a:p>
            <a:pPr>
              <a:spcAft>
                <a:spcPts val="0"/>
              </a:spcAft>
              <a:defRPr sz="1500" b="0">
                <a:solidFill>
                  <a:srgbClr val="FFFFFF"/>
                </a:solidFill>
                <a:latin typeface="Consolas"/>
              </a:defRPr>
            </a:pPr>
            <a:r>
              <a:t>   | select(.resolved == true) | .target_concept_id')</a:t>
            </a:r>
          </a:p>
          <a:p>
            <a:pPr>
              <a:spcAft>
                <a:spcPts val="0"/>
              </a:spcAft>
              <a:defRPr sz="1500" b="0">
                <a:solidFill>
                  <a:srgbClr val="FFFFFF"/>
                </a:solidFill>
                <a:latin typeface="Consolas"/>
              </a:defRPr>
            </a:pPr>
            <a:r>
              <a:t>: "${CONCEPT_ID:?Unresolved mapping; request curation}"</a:t>
            </a:r>
          </a:p>
          <a:p>
            <a:pPr>
              <a:spcAft>
                <a:spcPts val="0"/>
              </a:spcAft>
              <a:defRPr sz="1500" b="0">
                <a:solidFill>
                  <a:srgbClr val="FFFFFF"/>
                </a:solidFill>
                <a:latin typeface="Consolas"/>
              </a:defRPr>
            </a:pPr>
          </a:p>
        </p:txBody>
      </p:sp>
      <p:sp>
        <p:nvSpPr>
          <p:cNvPr id="11" name="TextBox 10"/>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Use resolved mappings</a:t>
            </a:r>
          </a:p>
        </p:txBody>
      </p:sp>
      <p:sp>
        <p:nvSpPr>
          <p:cNvPr id="12" name="TextBox 11"/>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The target is an integer OMOP concept id.</a:t>
            </a:r>
          </a:p>
          <a:p>
            <a:pPr>
              <a:spcAft>
                <a:spcPts val="1000"/>
              </a:spcAft>
              <a:defRPr sz="2000" b="0">
                <a:solidFill>
                  <a:srgbClr val="24394B"/>
                </a:solidFill>
                <a:latin typeface="Arial"/>
              </a:defRPr>
            </a:pPr>
            <a:r>
              <a:t>An unresolved result can still be HTTP 200.</a:t>
            </a:r>
          </a:p>
          <a:p>
            <a:pPr>
              <a:spcAft>
                <a:spcPts val="1000"/>
              </a:spcAft>
              <a:defRPr sz="2000" b="0">
                <a:solidFill>
                  <a:srgbClr val="24394B"/>
                </a:solidFill>
                <a:latin typeface="Arial"/>
              </a:defRPr>
            </a:pPr>
            <a:r>
              <a:t>A proposed target requires curation before 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Write a dated OMOP measurement</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Clinical event dates</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08</a:t>
            </a:r>
          </a:p>
        </p:txBody>
      </p:sp>
      <p:sp>
        <p:nvSpPr>
          <p:cNvPr id="10" name="Rectangle 9"/>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BODY=$(jq -n --argjson p "$PERSON_ID" \</a:t>
            </a:r>
          </a:p>
          <a:p>
            <a:pPr>
              <a:spcAft>
                <a:spcPts val="0"/>
              </a:spcAft>
              <a:defRPr sz="1500" b="0">
                <a:solidFill>
                  <a:srgbClr val="FFFFFF"/>
                </a:solidFill>
                <a:latin typeface="Consolas"/>
              </a:defRPr>
            </a:pPr>
            <a:r>
              <a:t>  --argjson c "$CONCEPT_ID" \</a:t>
            </a:r>
          </a:p>
          <a:p>
            <a:pPr>
              <a:spcAft>
                <a:spcPts val="0"/>
              </a:spcAft>
              <a:defRPr sz="1500" b="0">
                <a:solidFill>
                  <a:srgbClr val="FFFFFF"/>
                </a:solidFill>
                <a:latin typeface="Consolas"/>
              </a:defRPr>
            </a:pPr>
            <a:r>
              <a:t>  '[{person:$p, measurement_concept:$c,</a:t>
            </a:r>
          </a:p>
          <a:p>
            <a:pPr>
              <a:spcAft>
                <a:spcPts val="0"/>
              </a:spcAft>
              <a:defRPr sz="1500" b="0">
                <a:solidFill>
                  <a:srgbClr val="FFFFFF"/>
                </a:solidFill>
                <a:latin typeface="Consolas"/>
              </a:defRPr>
            </a:pPr>
            <a:r>
              <a:t>     measurement_date:"2026-09-01",</a:t>
            </a:r>
          </a:p>
          <a:p>
            <a:pPr>
              <a:spcAft>
                <a:spcPts val="0"/>
              </a:spcAft>
              <a:defRPr sz="1500" b="0">
                <a:solidFill>
                  <a:srgbClr val="FFFFFF"/>
                </a:solidFill>
                <a:latin typeface="Consolas"/>
              </a:defRPr>
            </a:pPr>
            <a:r>
              <a:t>     measurement_type_concept:32865,</a:t>
            </a:r>
          </a:p>
          <a:p>
            <a:pPr>
              <a:spcAft>
                <a:spcPts val="0"/>
              </a:spcAft>
              <a:defRPr sz="1500" b="0">
                <a:solidFill>
                  <a:srgbClr val="FFFFFF"/>
                </a:solidFill>
                <a:latin typeface="Consolas"/>
              </a:defRPr>
            </a:pPr>
            <a:r>
              <a:t>     value_as_number:58, unit_source_value:"/min",</a:t>
            </a:r>
          </a:p>
          <a:p>
            <a:pPr>
              <a:spcAft>
                <a:spcPts val="0"/>
              </a:spcAft>
              <a:defRPr sz="1500" b="0">
                <a:solidFill>
                  <a:srgbClr val="FFFFFF"/>
                </a:solidFill>
                <a:latin typeface="Consolas"/>
              </a:defRPr>
            </a:pPr>
            <a:r>
              <a:t>     measurement_source_value:"40443-4"}]')</a:t>
            </a:r>
          </a:p>
          <a:p>
            <a:pPr>
              <a:spcAft>
                <a:spcPts val="0"/>
              </a:spcAft>
              <a:defRPr sz="1500" b="0">
                <a:solidFill>
                  <a:srgbClr val="FFFFFF"/>
                </a:solidFill>
                <a:latin typeface="Consolas"/>
              </a:defRPr>
            </a:pPr>
            <a:r>
              <a:t>WRITE=$(curl --fail-with-body -sS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-H "Content-Type: application/json" \</a:t>
            </a:r>
          </a:p>
          <a:p>
            <a:pPr>
              <a:spcAft>
                <a:spcPts val="0"/>
              </a:spcAft>
              <a:defRPr sz="1500" b="0">
                <a:solidFill>
                  <a:srgbClr val="FFFFFF"/>
                </a:solidFill>
                <a:latin typeface="Consolas"/>
              </a:defRPr>
            </a:pPr>
            <a:r>
              <a:t>  -H "X-Provenance-Source: PATIENT_SELF" \</a:t>
            </a:r>
          </a:p>
          <a:p>
            <a:pPr>
              <a:spcAft>
                <a:spcPts val="0"/>
              </a:spcAft>
              <a:defRPr sz="1500" b="0">
                <a:solidFill>
                  <a:srgbClr val="FFFFFF"/>
                </a:solidFill>
                <a:latin typeface="Consolas"/>
              </a:defRPr>
            </a:pPr>
            <a:r>
              <a:t>  -d "$BODY" "$API/measurements/")</a:t>
            </a:r>
          </a:p>
          <a:p>
            <a:pPr>
              <a:spcAft>
                <a:spcPts val="0"/>
              </a:spcAft>
              <a:defRPr sz="1500" b="0">
                <a:solidFill>
                  <a:srgbClr val="FFFFFF"/>
                </a:solidFill>
                <a:latin typeface="Consolas"/>
              </a:defRPr>
            </a:pPr>
            <a:r>
              <a:t>printf '%s' "$WRITE" | jq .</a:t>
            </a:r>
          </a:p>
          <a:p>
            <a:pPr>
              <a:spcAft>
                <a:spcPts val="0"/>
              </a:spcAft>
              <a:defRPr sz="1500" b="0">
                <a:solidFill>
                  <a:srgbClr val="FFFFFF"/>
                </a:solidFill>
                <a:latin typeface="Consolas"/>
              </a:defRPr>
            </a:pPr>
          </a:p>
        </p:txBody>
      </p:sp>
      <p:sp>
        <p:nvSpPr>
          <p:cNvPr id="12" name="TextBox 11"/>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A test reading</a:t>
            </a:r>
          </a:p>
        </p:txBody>
      </p:sp>
      <p:sp>
        <p:nvSpPr>
          <p:cNvPr id="13" name="TextBox 12"/>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Test reading: 58 /min.</a:t>
            </a:r>
          </a:p>
          <a:p>
            <a:pPr>
              <a:spcAft>
                <a:spcPts val="1000"/>
              </a:spcAft>
              <a:defRPr sz="2000" b="0">
                <a:solidFill>
                  <a:srgbClr val="24394B"/>
                </a:solidFill>
                <a:latin typeface="Arial"/>
              </a:defRPr>
            </a:pPr>
            <a:r>
              <a:t>Type 32865 = Patient self-report; it must be loaded.</a:t>
            </a:r>
          </a:p>
          <a:p>
            <a:pPr>
              <a:spcAft>
                <a:spcPts val="1000"/>
              </a:spcAft>
              <a:defRPr sz="2000" b="0">
                <a:solidFill>
                  <a:srgbClr val="24394B"/>
                </a:solidFill>
                <a:latin typeface="Arial"/>
              </a:defRPr>
            </a:pPr>
            <a:r>
              <a:t>Retain row ids. The backend normally refreshes PatientRecord.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Retrieve the fact, then the summary</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09</a:t>
            </a:r>
          </a:p>
        </p:txBody>
      </p:sp>
      <p:sp>
        <p:nvSpPr>
          <p:cNvPr id="9" name="Rectangle 8"/>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curl --fail-with-body -sS --get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--data-urlencode "person_id=$PERSON_ID" \</a:t>
            </a:r>
          </a:p>
          <a:p>
            <a:pPr>
              <a:spcAft>
                <a:spcPts val="0"/>
              </a:spcAft>
              <a:defRPr sz="1500" b="0">
                <a:solidFill>
                  <a:srgbClr val="FFFFFF"/>
                </a:solidFill>
                <a:latin typeface="Consolas"/>
              </a:defRPr>
            </a:pPr>
            <a:r>
              <a:t>  --data-urlencode "measurement_concept_id=$CONCEPT_ID" \</a:t>
            </a:r>
          </a:p>
          <a:p>
            <a:pPr>
              <a:spcAft>
                <a:spcPts val="0"/>
              </a:spcAft>
              <a:defRPr sz="1500" b="0">
                <a:solidFill>
                  <a:srgbClr val="FFFFFF"/>
                </a:solidFill>
                <a:latin typeface="Consolas"/>
              </a:defRPr>
            </a:pPr>
            <a:r>
              <a:t>  --data-urlencode "page=1" \</a:t>
            </a:r>
          </a:p>
          <a:p>
            <a:pPr>
              <a:spcAft>
                <a:spcPts val="0"/>
              </a:spcAft>
              <a:defRPr sz="1500" b="0">
                <a:solidFill>
                  <a:srgbClr val="FFFFFF"/>
                </a:solidFill>
                <a:latin typeface="Consolas"/>
              </a:defRPr>
            </a:pPr>
            <a:r>
              <a:t>  --data-urlencode "page_size=50" \</a:t>
            </a:r>
          </a:p>
          <a:p>
            <a:pPr>
              <a:spcAft>
                <a:spcPts val="0"/>
              </a:spcAft>
              <a:defRPr sz="1500" b="0">
                <a:solidFill>
                  <a:srgbClr val="FFFFFF"/>
                </a:solidFill>
                <a:latin typeface="Consolas"/>
              </a:defRPr>
            </a:pPr>
            <a:r>
              <a:t>  "$API/measurements/" | jq '.results'</a:t>
            </a:r>
          </a:p>
          <a:p>
            <a:pPr>
              <a:spcAft>
                <a:spcPts val="0"/>
              </a:spcAft>
              <a:defRPr sz="1500" b="0">
                <a:solidFill>
                  <a:srgbClr val="FFFFFF"/>
                </a:solidFill>
                <a:latin typeface="Consolas"/>
              </a:defRPr>
            </a:pPr>
          </a:p>
          <a:p>
            <a:pPr>
              <a:spcAft>
                <a:spcPts val="0"/>
              </a:spcAft>
              <a:defRPr sz="1500" b="0">
                <a:solidFill>
                  <a:srgbClr val="FFFFFF"/>
                </a:solidFill>
                <a:latin typeface="Consolas"/>
              </a:defRPr>
            </a:pPr>
            <a:r>
              <a:t>curl --fail-with-body -sS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"$API/patient-records/$PERSON_ID/" \</a:t>
            </a:r>
          </a:p>
          <a:p>
            <a:pPr>
              <a:spcAft>
                <a:spcPts val="0"/>
              </a:spcAft>
              <a:defRPr sz="1500" b="0">
                <a:solidFill>
                  <a:srgbClr val="FFFFFF"/>
                </a:solidFill>
                <a:latin typeface="Consolas"/>
              </a:defRPr>
            </a:pPr>
            <a:r>
              <a:t>  | jq '.patient_info | {resting_heart_rate_avg_30d,</a:t>
            </a:r>
          </a:p>
          <a:p>
            <a:pPr>
              <a:spcAft>
                <a:spcPts val="0"/>
              </a:spcAft>
              <a:defRPr sz="1500" b="0">
                <a:solidFill>
                  <a:srgbClr val="FFFFFF"/>
                </a:solidFill>
                <a:latin typeface="Consolas"/>
              </a:defRPr>
            </a:pPr>
            <a:r>
              <a:t>      wearable_last_sync_at, wearable_coverage_ratio_30d}'</a:t>
            </a:r>
          </a:p>
          <a:p>
            <a:pPr>
              <a:spcAft>
                <a:spcPts val="0"/>
              </a:spcAft>
              <a:defRPr sz="1500" b="0">
                <a:solidFill>
                  <a:srgbClr val="FFFFFF"/>
                </a:solidFill>
                <a:latin typeface="Consolas"/>
              </a:defRPr>
            </a:pPr>
          </a:p>
        </p:txBody>
      </p:sp>
      <p:sp>
        <p:nvSpPr>
          <p:cNvPr id="11" name="TextBox 10"/>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Two useful views</a:t>
            </a:r>
          </a:p>
        </p:txBody>
      </p:sp>
      <p:sp>
        <p:nvSpPr>
          <p:cNvPr id="12" name="TextBox 11"/>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OMOP rows retain dated evidence.</a:t>
            </a:r>
          </a:p>
          <a:p>
            <a:pPr>
              <a:spcAft>
                <a:spcPts val="1000"/>
              </a:spcAft>
              <a:defRPr sz="2000" b="0">
                <a:solidFill>
                  <a:srgbClr val="24394B"/>
                </a:solidFill>
                <a:latin typeface="Arial"/>
              </a:defRPr>
            </a:pPr>
            <a:r>
              <a:t>PatientRecord exposes selected and calculated values.</a:t>
            </a:r>
          </a:p>
          <a:p>
            <a:pPr>
              <a:spcAft>
                <a:spcPts val="1000"/>
              </a:spcAft>
              <a:defRPr sz="2000" b="0">
                <a:solidFill>
                  <a:srgbClr val="24394B"/>
                </a:solidFill>
                <a:latin typeface="Arial"/>
              </a:defRPr>
            </a:pPr>
            <a:r>
              <a:t>A summary is not a replacement for the underlying history.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Choose the resource that owns the data</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API reference</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Structured genomics</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10</a:t>
            </a:r>
          </a:p>
        </p:txBody>
      </p:sp>
      <p:sp>
        <p:nvSpPr>
          <p:cNvPr id="10" name="Rectangle 9"/>
          <p:cNvSpPr/>
          <p:nvPr/>
        </p:nvSpPr>
        <p:spPr>
          <a:xfrm>
            <a:off x="594360" y="1828800"/>
            <a:ext cx="11000232" cy="676656"/>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3852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Measurements</a:t>
            </a:r>
          </a:p>
        </p:txBody>
      </p:sp>
      <p:sp>
        <p:nvSpPr>
          <p:cNvPr id="12" name="TextBox 11"/>
          <p:cNvSpPr txBox="1"/>
          <p:nvPr/>
        </p:nvSpPr>
        <p:spPr>
          <a:xfrm>
            <a:off x="3886200" y="193852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Labs, vitals and physiological measurements.</a:t>
            </a:r>
          </a:p>
        </p:txBody>
      </p:sp>
      <p:sp>
        <p:nvSpPr>
          <p:cNvPr id="13" name="Rectangle 12"/>
          <p:cNvSpPr/>
          <p:nvPr/>
        </p:nvSpPr>
        <p:spPr>
          <a:xfrm>
            <a:off x="594360" y="2606040"/>
            <a:ext cx="1100023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1576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Observations</a:t>
            </a:r>
          </a:p>
        </p:txBody>
      </p:sp>
      <p:sp>
        <p:nvSpPr>
          <p:cNvPr id="15" name="TextBox 14"/>
          <p:cNvSpPr txBox="1"/>
          <p:nvPr/>
        </p:nvSpPr>
        <p:spPr>
          <a:xfrm>
            <a:off x="3886200" y="271576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Clinical facts and numeric metrics in the Observation domain.</a:t>
            </a:r>
          </a:p>
        </p:txBody>
      </p:sp>
      <p:sp>
        <p:nvSpPr>
          <p:cNvPr id="16" name="Rectangle 15"/>
          <p:cNvSpPr/>
          <p:nvPr/>
        </p:nvSpPr>
        <p:spPr>
          <a:xfrm>
            <a:off x="594360" y="3383280"/>
            <a:ext cx="11000232" cy="676656"/>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49300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Conditions / procedures</a:t>
            </a:r>
          </a:p>
        </p:txBody>
      </p:sp>
      <p:sp>
        <p:nvSpPr>
          <p:cNvPr id="18" name="TextBox 17"/>
          <p:cNvSpPr txBox="1"/>
          <p:nvPr/>
        </p:nvSpPr>
        <p:spPr>
          <a:xfrm>
            <a:off x="3886200" y="349300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Diagnoses, disease events and procedures.</a:t>
            </a:r>
          </a:p>
        </p:txBody>
      </p:sp>
      <p:sp>
        <p:nvSpPr>
          <p:cNvPr id="19" name="Rectangle 18"/>
          <p:cNvSpPr/>
          <p:nvPr/>
        </p:nvSpPr>
        <p:spPr>
          <a:xfrm>
            <a:off x="594360" y="4160520"/>
            <a:ext cx="1100023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27024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Drug exposures / episodes</a:t>
            </a:r>
          </a:p>
        </p:txBody>
      </p:sp>
      <p:sp>
        <p:nvSpPr>
          <p:cNvPr id="21" name="TextBox 20"/>
          <p:cNvSpPr txBox="1"/>
          <p:nvPr/>
        </p:nvSpPr>
        <p:spPr>
          <a:xfrm>
            <a:off x="3886200" y="427024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Medication events and structured treatment courses.</a:t>
            </a:r>
          </a:p>
        </p:txBody>
      </p:sp>
      <p:sp>
        <p:nvSpPr>
          <p:cNvPr id="22" name="Rectangle 21"/>
          <p:cNvSpPr/>
          <p:nvPr/>
        </p:nvSpPr>
        <p:spPr>
          <a:xfrm>
            <a:off x="594360" y="4937760"/>
            <a:ext cx="11000232" cy="676656"/>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4748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PatientRecord / Genomics</a:t>
            </a:r>
          </a:p>
        </p:txBody>
      </p:sp>
      <p:sp>
        <p:nvSpPr>
          <p:cNvPr id="24" name="TextBox 23"/>
          <p:cNvSpPr txBox="1"/>
          <p:nvPr/>
        </p:nvSpPr>
        <p:spPr>
          <a:xfrm>
            <a:off x="3886200" y="504748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Patient summary; dedicated Genomics APIs for discrete findings.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Import a FHIR R4 Bundle</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FHIR import guide</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11</a:t>
            </a:r>
          </a:p>
        </p:txBody>
      </p:sp>
      <p:sp>
        <p:nvSpPr>
          <p:cNvPr id="10" name="Rectangle 9"/>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700" b="0">
                <a:solidFill>
                  <a:srgbClr val="FFFFFF"/>
                </a:solidFill>
                <a:latin typeface="Consolas"/>
              </a:defRPr>
            </a:pPr>
            <a:r>
              <a:t>curl --fail-with-body -sS \</a:t>
            </a:r>
          </a:p>
          <a:p>
            <a:pPr>
              <a:spcAft>
                <a:spcPts val="0"/>
              </a:spcAft>
              <a:defRPr sz="1700" b="0">
                <a:solidFill>
                  <a:srgbClr val="FFFFFF"/>
                </a:solidFill>
                <a:latin typeface="Consolas"/>
              </a:defRPr>
            </a:pPr>
            <a:r>
              <a:t>  -H "Authorization: Bearer $TOKEN" \</a:t>
            </a:r>
          </a:p>
          <a:p>
            <a:pPr>
              <a:spcAft>
                <a:spcPts val="0"/>
              </a:spcAft>
              <a:defRPr sz="1700" b="0">
                <a:solidFill>
                  <a:srgbClr val="FFFFFF"/>
                </a:solidFill>
                <a:latin typeface="Consolas"/>
              </a:defRPr>
            </a:pPr>
            <a:r>
              <a:t>  -F "file=@bundle.json" \</a:t>
            </a:r>
          </a:p>
          <a:p>
            <a:pPr>
              <a:spcAft>
                <a:spcPts val="0"/>
              </a:spcAft>
              <a:defRPr sz="1700" b="0">
                <a:solidFill>
                  <a:srgbClr val="FFFFFF"/>
                </a:solidFill>
                <a:latin typeface="Consolas"/>
              </a:defRPr>
            </a:pPr>
            <a:r>
              <a:t>  "$API/patient-records/upload_fhir/" \</a:t>
            </a:r>
          </a:p>
          <a:p>
            <a:pPr>
              <a:spcAft>
                <a:spcPts val="0"/>
              </a:spcAft>
              <a:defRPr sz="1700" b="0">
                <a:solidFill>
                  <a:srgbClr val="FFFFFF"/>
                </a:solidFill>
                <a:latin typeface="Consolas"/>
              </a:defRPr>
            </a:pPr>
            <a:r>
              <a:t>  | jq '{created_count, updated_count,</a:t>
            </a:r>
          </a:p>
          <a:p>
            <a:pPr>
              <a:spcAft>
                <a:spcPts val="0"/>
              </a:spcAft>
              <a:defRPr sz="1700" b="0">
                <a:solidFill>
                  <a:srgbClr val="FFFFFF"/>
                </a:solidFill>
                <a:latin typeface="Consolas"/>
              </a:defRPr>
            </a:pPr>
            <a:r>
              <a:t>         patients, errors}'</a:t>
            </a:r>
          </a:p>
          <a:p>
            <a:pPr>
              <a:spcAft>
                <a:spcPts val="0"/>
              </a:spcAft>
              <a:defRPr sz="1700" b="0">
                <a:solidFill>
                  <a:srgbClr val="FFFFFF"/>
                </a:solidFill>
                <a:latin typeface="Consolas"/>
              </a:defRPr>
            </a:pPr>
          </a:p>
        </p:txBody>
      </p:sp>
      <p:sp>
        <p:nvSpPr>
          <p:cNvPr id="12" name="TextBox 11"/>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Inspect the result</a:t>
            </a:r>
          </a:p>
        </p:txBody>
      </p:sp>
      <p:sp>
        <p:nvSpPr>
          <p:cNvPr id="13" name="TextBox 12"/>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Include Patient resources and consistent references.</a:t>
            </a:r>
          </a:p>
          <a:p>
            <a:pPr>
              <a:spcAft>
                <a:spcPts val="1000"/>
              </a:spcAft>
              <a:defRPr sz="2000" b="0">
                <a:solidFill>
                  <a:srgbClr val="24394B"/>
                </a:solidFill>
                <a:latin typeface="Arial"/>
              </a:defRPr>
            </a:pPr>
            <a:r>
              <a:t>Save patients[].person_id and returned clinical ids.</a:t>
            </a:r>
          </a:p>
          <a:p>
            <a:pPr>
              <a:spcAft>
                <a:spcPts val="1000"/>
              </a:spcAft>
              <a:defRPr sz="2000" b="0">
                <a:solidFill>
                  <a:srgbClr val="24394B"/>
                </a:solidFill>
                <a:latin typeface="Arial"/>
              </a:defRPr>
            </a:pPr>
            <a:r>
              <a:t>Check errors even after HTTP 200; a multi-patient upload can partly succeed.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Bulk writes and retry behavior</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12</a:t>
            </a:r>
          </a:p>
        </p:txBody>
      </p:sp>
      <p:sp>
        <p:nvSpPr>
          <p:cNvPr id="9" name="Rectangle 8"/>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Batch contract</a:t>
            </a:r>
          </a:p>
        </p:txBody>
      </p:sp>
      <p:sp>
        <p:nvSpPr>
          <p:cNvPr id="11" name="TextBox 10"/>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POST an array to an OMOP endpoint.</a:t>
            </a:r>
          </a:p>
          <a:p>
            <a:pPr>
              <a:spcAft>
                <a:spcPts val="1000"/>
              </a:spcAft>
              <a:defRPr sz="2100" b="0">
                <a:solidFill>
                  <a:srgbClr val="24394B"/>
                </a:solidFill>
                <a:latin typeface="Arial"/>
              </a:defRPr>
            </a:pPr>
            <a:r>
              <a:t>One person per request; default limit is 1,000 rows.</a:t>
            </a:r>
          </a:p>
          <a:p>
            <a:pPr>
              <a:spcAft>
                <a:spcPts val="1000"/>
              </a:spcAft>
              <a:defRPr sz="2100" b="0">
                <a:solidFill>
                  <a:srgbClr val="24394B"/>
                </a:solidFill>
                <a:latin typeface="Arial"/>
              </a:defRPr>
            </a:pPr>
            <a:r>
              <a:t>Server assigns ids. A validated batch writes atomically.</a:t>
            </a:r>
          </a:p>
          <a:p>
            <a:pPr>
              <a:spcAft>
                <a:spcPts val="1000"/>
              </a:spcAft>
              <a:defRPr sz="2100" b="0">
                <a:solidFill>
                  <a:srgbClr val="24394B"/>
                </a:solidFill>
                <a:latin typeface="Arial"/>
              </a:defRPr>
            </a:pPr>
            <a:r>
              <a:t>Read created, updated and ids.</a:t>
            </a:r>
          </a:p>
        </p:txBody>
      </p:sp>
      <p:sp>
        <p:nvSpPr>
          <p:cNvPr id="12" name="Rectangle 11"/>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Retry contract</a:t>
            </a:r>
          </a:p>
        </p:txBody>
      </p:sp>
      <p:sp>
        <p:nvSpPr>
          <p:cNvPr id="14" name="TextBox 13"/>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Upsert is the default for supported OMOP writes.</a:t>
            </a:r>
          </a:p>
          <a:p>
            <a:pPr>
              <a:spcAft>
                <a:spcPts val="1000"/>
              </a:spcAft>
              <a:defRPr sz="2100" b="0">
                <a:solidFill>
                  <a:srgbClr val="24394B"/>
                </a:solidFill>
                <a:latin typeface="Arial"/>
              </a:defRPr>
            </a:pPr>
            <a:r>
              <a:t>Keep source code, event date/time and value stable when retrying.</a:t>
            </a:r>
          </a:p>
          <a:p>
            <a:pPr>
              <a:spcAft>
                <a:spcPts val="1000"/>
              </a:spcAft>
              <a:defRPr sz="2100" b="0">
                <a:solidFill>
                  <a:srgbClr val="24394B"/>
                </a:solidFill>
                <a:latin typeface="Arial"/>
              </a:defRPr>
            </a:pPr>
            <a:r>
              <a:t>Rows without an event key may append.</a:t>
            </a:r>
          </a:p>
          <a:p>
            <a:pPr>
              <a:spcAft>
                <a:spcPts val="1000"/>
              </a:spcAft>
              <a:defRPr sz="2100" b="0">
                <a:solidFill>
                  <a:srgbClr val="24394B"/>
                </a:solidFill>
                <a:latin typeface="Arial"/>
              </a:defRPr>
            </a:pPr>
            <a:r>
              <a:t>?upsert=false explicitly appends.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Correct facts without losing their meaning</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Units policy</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13</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Preserve the source event</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Store the supported clinical date and timestamp precision.</a:t>
            </a:r>
          </a:p>
          <a:p>
            <a:pPr>
              <a:spcAft>
                <a:spcPts val="1000"/>
              </a:spcAft>
              <a:defRPr sz="2100" b="0">
                <a:solidFill>
                  <a:srgbClr val="24394B"/>
                </a:solidFill>
                <a:latin typeface="Arial"/>
              </a:defRPr>
            </a:pPr>
            <a:r>
              <a:t>Carry original code, unit and value alongside normalized concepts.</a:t>
            </a:r>
          </a:p>
          <a:p>
            <a:pPr>
              <a:spcAft>
                <a:spcPts val="1000"/>
              </a:spcAft>
              <a:defRPr sz="2100" b="0">
                <a:solidFill>
                  <a:srgbClr val="24394B"/>
                </a:solidFill>
                <a:latin typeface="Arial"/>
              </a:defRPr>
            </a:pPr>
            <a:r>
              <a:t>Keep undated source values outside clinical fact imports until resolved.</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Correct a known row</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Use PATCH on the returned clinical row id for corrections.</a:t>
            </a:r>
          </a:p>
          <a:p>
            <a:pPr>
              <a:spcAft>
                <a:spcPts val="1000"/>
              </a:spcAft>
              <a:defRPr sz="2100" b="0">
                <a:solidFill>
                  <a:srgbClr val="24394B"/>
                </a:solidFill>
                <a:latin typeface="Arial"/>
              </a:defRPr>
            </a:pPr>
            <a:r>
              <a:t>POST with a changed value may create a distinct event.</a:t>
            </a:r>
          </a:p>
          <a:p>
            <a:pPr>
              <a:spcAft>
                <a:spcPts val="1000"/>
              </a:spcAft>
              <a:defRPr sz="2100" b="0">
                <a:solidFill>
                  <a:srgbClr val="24394B"/>
                </a:solidFill>
                <a:latin typeface="Arial"/>
              </a:defRPr>
            </a:pPr>
            <a:r>
              <a:t>Entered-in-error flags retain history; normal clinical reads exclude those rows.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PatientRecord PATCH supports interactive edits</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Interactive edits</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Endpoint implementation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14</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Use it for editor saves</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The PRomop UI saves writable fields through PatientRecord PATCH.</a:t>
            </a:r>
          </a:p>
          <a:p>
            <a:pPr>
              <a:spcAft>
                <a:spcPts val="1000"/>
              </a:spcAft>
              <a:defRPr sz="2100" b="0">
                <a:solidFill>
                  <a:srgbClr val="24394B"/>
                </a:solidFill>
                <a:latin typeface="Arial"/>
              </a:defRPr>
            </a:pPr>
            <a:r>
              <a:t>Ask writable-fields with person_id for caller-specific editability.</a:t>
            </a:r>
          </a:p>
          <a:p>
            <a:pPr>
              <a:spcAft>
                <a:spcPts val="1000"/>
              </a:spcAft>
              <a:defRPr sz="2100" b="0">
                <a:solidFill>
                  <a:srgbClr val="24394B"/>
                </a:solidFill>
                <a:latin typeface="Arial"/>
              </a:defRPr>
            </a:pPr>
            <a:r>
              <a:t>The backend projects supported fields into OMOP and profile storage.</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Keep ingestion in OMOP</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Feeds and historical observations need explicit event dates, units and provenance.</a:t>
            </a:r>
          </a:p>
          <a:p>
            <a:pPr>
              <a:spcAft>
                <a:spcPts val="1000"/>
              </a:spcAft>
              <a:defRPr sz="2100" b="0">
                <a:solidFill>
                  <a:srgbClr val="24394B"/>
                </a:solidFill>
                <a:latin typeface="Arial"/>
              </a:defRPr>
            </a:pPr>
            <a:r>
              <a:t>Interactive projections normally describe today’s edit.</a:t>
            </a:r>
          </a:p>
          <a:p>
            <a:pPr>
              <a:spcAft>
                <a:spcPts val="1000"/>
              </a:spcAft>
              <a:defRPr sz="2100" b="0">
                <a:solidFill>
                  <a:srgbClr val="24394B"/>
                </a:solidFill>
                <a:latin typeface="Arial"/>
              </a:defRPr>
            </a:pPr>
            <a:r>
              <a:t>Pending edits survive refresh; computed and separately authored fields have their own rules.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Discover editability before saving</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Interactive edits</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Endpoint implementation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15</a:t>
            </a:r>
          </a:p>
        </p:txBody>
      </p:sp>
      <p:sp>
        <p:nvSpPr>
          <p:cNvPr id="10" name="Rectangle 9"/>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FIELDS=$(curl --fail-with-body -sS --get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--data-urlencode "person_id=$PERSON_ID" \</a:t>
            </a:r>
          </a:p>
          <a:p>
            <a:pPr>
              <a:spcAft>
                <a:spcPts val="0"/>
              </a:spcAft>
              <a:defRPr sz="1500" b="0">
                <a:solidFill>
                  <a:srgbClr val="FFFFFF"/>
                </a:solidFill>
                <a:latin typeface="Consolas"/>
              </a:defRPr>
            </a:pPr>
            <a:r>
              <a:t>  "$API/patient-records/writable-fields/")</a:t>
            </a:r>
          </a:p>
          <a:p>
            <a:pPr>
              <a:spcAft>
                <a:spcPts val="0"/>
              </a:spcAft>
              <a:defRPr sz="1500" b="0">
                <a:solidFill>
                  <a:srgbClr val="FFFFFF"/>
                </a:solidFill>
                <a:latin typeface="Consolas"/>
              </a:defRPr>
            </a:pPr>
            <a:r>
              <a:t>printf '%s' "$FIELDS" | jq '.height'</a:t>
            </a:r>
          </a:p>
          <a:p>
            <a:pPr>
              <a:spcAft>
                <a:spcPts val="0"/>
              </a:spcAft>
              <a:defRPr sz="1500" b="0">
                <a:solidFill>
                  <a:srgbClr val="FFFFFF"/>
                </a:solidFill>
                <a:latin typeface="Consolas"/>
              </a:defRPr>
            </a:pPr>
            <a:r>
              <a:t>if printf '%s' "$FIELDS" |</a:t>
            </a:r>
          </a:p>
          <a:p>
            <a:pPr>
              <a:spcAft>
                <a:spcPts val="0"/>
              </a:spcAft>
              <a:defRPr sz="1500" b="0">
                <a:solidFill>
                  <a:srgbClr val="FFFFFF"/>
                </a:solidFill>
                <a:latin typeface="Consolas"/>
              </a:defRPr>
            </a:pPr>
            <a:r>
              <a:t>  jq -e '.height.writable' &gt;/dev/null; then</a:t>
            </a:r>
          </a:p>
          <a:p>
            <a:pPr>
              <a:spcAft>
                <a:spcPts val="0"/>
              </a:spcAft>
              <a:defRPr sz="1500" b="0">
                <a:solidFill>
                  <a:srgbClr val="FFFFFF"/>
                </a:solidFill>
                <a:latin typeface="Consolas"/>
              </a:defRPr>
            </a:pPr>
            <a:r>
              <a:t>  curl --fail-with-body -sS -X PATCH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-H "Content-Type: application/json" \</a:t>
            </a:r>
          </a:p>
          <a:p>
            <a:pPr>
              <a:spcAft>
                <a:spcPts val="0"/>
              </a:spcAft>
              <a:defRPr sz="1500" b="0">
                <a:solidFill>
                  <a:srgbClr val="FFFFFF"/>
                </a:solidFill>
                <a:latin typeface="Consolas"/>
              </a:defRPr>
            </a:pPr>
            <a:r>
              <a:t>    -d '{"height":170}' "$API/patient-records/$PERSON_ID/"</a:t>
            </a:r>
          </a:p>
          <a:p>
            <a:pPr>
              <a:spcAft>
                <a:spcPts val="0"/>
              </a:spcAft>
              <a:defRPr sz="1500" b="0">
                <a:solidFill>
                  <a:srgbClr val="FFFFFF"/>
                </a:solidFill>
                <a:latin typeface="Consolas"/>
              </a:defRPr>
            </a:pPr>
            <a:r>
              <a:t>fi</a:t>
            </a:r>
          </a:p>
          <a:p>
            <a:pPr>
              <a:spcAft>
                <a:spcPts val="0"/>
              </a:spcAft>
              <a:defRPr sz="1500" b="0">
                <a:solidFill>
                  <a:srgbClr val="FFFFFF"/>
                </a:solidFill>
                <a:latin typeface="Consolas"/>
              </a:defRPr>
            </a:pPr>
          </a:p>
        </p:txBody>
      </p:sp>
      <p:sp>
        <p:nvSpPr>
          <p:cNvPr id="12" name="TextBox 11"/>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Save changed fields</a:t>
            </a:r>
          </a:p>
        </p:txBody>
      </p:sp>
      <p:sp>
        <p:nvSpPr>
          <p:cNvPr id="13" name="TextBox 12"/>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Check writable, value_kind, unit and reason.</a:t>
            </a:r>
          </a:p>
          <a:p>
            <a:pPr>
              <a:spcAft>
                <a:spcPts val="1000"/>
              </a:spcAft>
              <a:defRPr sz="2000" b="0">
                <a:solidFill>
                  <a:srgbClr val="24394B"/>
                </a:solidFill>
                <a:latin typeface="Arial"/>
              </a:defRPr>
            </a:pPr>
            <a:r>
              <a:t>Send only intended changes.</a:t>
            </a:r>
          </a:p>
          <a:p>
            <a:pPr>
              <a:spcAft>
                <a:spcPts val="1000"/>
              </a:spcAft>
              <a:defRPr sz="2000" b="0">
                <a:solidFill>
                  <a:srgbClr val="24394B"/>
                </a:solidFill>
                <a:latin typeface="Arial"/>
              </a:defRPr>
            </a:pPr>
            <a:r>
              <a:t>Read the returned value; acceptance is not proof of a completed OMOP projection.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Read clinical history with explicit filters</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16</a:t>
            </a:r>
          </a:p>
        </p:txBody>
      </p:sp>
      <p:sp>
        <p:nvSpPr>
          <p:cNvPr id="9" name="Rectangle 8"/>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curl --fail-with-body -sS --get \</a:t>
            </a:r>
          </a:p>
          <a:p>
            <a:pPr>
              <a:spcAft>
                <a:spcPts val="0"/>
              </a:spcAft>
              <a:defRPr sz="1500" b="0">
                <a:solidFill>
                  <a:srgbClr val="FFFFFF"/>
                </a:solidFill>
                <a:latin typeface="Consolas"/>
              </a:defRPr>
            </a:pPr>
            <a:r>
              <a:t>  -H "Authorization: Bearer $TOKEN" \</a:t>
            </a:r>
          </a:p>
          <a:p>
            <a:pPr>
              <a:spcAft>
                <a:spcPts val="0"/>
              </a:spcAft>
              <a:defRPr sz="1500" b="0">
                <a:solidFill>
                  <a:srgbClr val="FFFFFF"/>
                </a:solidFill>
                <a:latin typeface="Consolas"/>
              </a:defRPr>
            </a:pPr>
            <a:r>
              <a:t>  --data-urlencode "person_id=$PERSON_ID" \</a:t>
            </a:r>
          </a:p>
          <a:p>
            <a:pPr>
              <a:spcAft>
                <a:spcPts val="0"/>
              </a:spcAft>
              <a:defRPr sz="1500" b="0">
                <a:solidFill>
                  <a:srgbClr val="FFFFFF"/>
                </a:solidFill>
                <a:latin typeface="Consolas"/>
              </a:defRPr>
            </a:pPr>
            <a:r>
              <a:t>  --data-urlencode "measurement_concept_id=$CONCEPT_ID" \</a:t>
            </a:r>
          </a:p>
          <a:p>
            <a:pPr>
              <a:spcAft>
                <a:spcPts val="0"/>
              </a:spcAft>
              <a:defRPr sz="1500" b="0">
                <a:solidFill>
                  <a:srgbClr val="FFFFFF"/>
                </a:solidFill>
                <a:latin typeface="Consolas"/>
              </a:defRPr>
            </a:pPr>
            <a:r>
              <a:t>  --data-urlencode "measurement_date__gte=2026-09-01" \</a:t>
            </a:r>
          </a:p>
          <a:p>
            <a:pPr>
              <a:spcAft>
                <a:spcPts val="0"/>
              </a:spcAft>
              <a:defRPr sz="1500" b="0">
                <a:solidFill>
                  <a:srgbClr val="FFFFFF"/>
                </a:solidFill>
                <a:latin typeface="Consolas"/>
              </a:defRPr>
            </a:pPr>
            <a:r>
              <a:t>  --data-urlencode "measurement_date__lte=2026-09-30" \</a:t>
            </a:r>
          </a:p>
          <a:p>
            <a:pPr>
              <a:spcAft>
                <a:spcPts val="0"/>
              </a:spcAft>
              <a:defRPr sz="1500" b="0">
                <a:solidFill>
                  <a:srgbClr val="FFFFFF"/>
                </a:solidFill>
                <a:latin typeface="Consolas"/>
              </a:defRPr>
            </a:pPr>
            <a:r>
              <a:t>  --data-urlencode "page=1" \</a:t>
            </a:r>
          </a:p>
          <a:p>
            <a:pPr>
              <a:spcAft>
                <a:spcPts val="0"/>
              </a:spcAft>
              <a:defRPr sz="1500" b="0">
                <a:solidFill>
                  <a:srgbClr val="FFFFFF"/>
                </a:solidFill>
                <a:latin typeface="Consolas"/>
              </a:defRPr>
            </a:pPr>
            <a:r>
              <a:t>  --data-urlencode "page_size=50" \</a:t>
            </a:r>
          </a:p>
          <a:p>
            <a:pPr>
              <a:spcAft>
                <a:spcPts val="0"/>
              </a:spcAft>
              <a:defRPr sz="1500" b="0">
                <a:solidFill>
                  <a:srgbClr val="FFFFFF"/>
                </a:solidFill>
                <a:latin typeface="Consolas"/>
              </a:defRPr>
            </a:pPr>
            <a:r>
              <a:t>  "$API/measurements/" | jq .</a:t>
            </a:r>
          </a:p>
          <a:p>
            <a:pPr>
              <a:spcAft>
                <a:spcPts val="0"/>
              </a:spcAft>
              <a:defRPr sz="1500" b="0">
                <a:solidFill>
                  <a:srgbClr val="FFFFFF"/>
                </a:solidFill>
                <a:latin typeface="Consolas"/>
              </a:defRPr>
            </a:pPr>
          </a:p>
        </p:txBody>
      </p:sp>
      <p:sp>
        <p:nvSpPr>
          <p:cNvPr id="11" name="TextBox 10"/>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Page through history</a:t>
            </a:r>
          </a:p>
        </p:txBody>
      </p:sp>
      <p:sp>
        <p:nvSpPr>
          <p:cNvPr id="12" name="TextBox 11"/>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Follow next until it is null.</a:t>
            </a:r>
          </a:p>
          <a:p>
            <a:pPr>
              <a:spcAft>
                <a:spcPts val="1000"/>
              </a:spcAft>
              <a:defRPr sz="2000" b="0">
                <a:solidFill>
                  <a:srgbClr val="24394B"/>
                </a:solidFill>
                <a:latin typeface="Arial"/>
              </a:defRPr>
            </a:pPr>
            <a:r>
              <a:t>A concept id avoids ambiguity between vocabulary codes.</a:t>
            </a:r>
          </a:p>
          <a:p>
            <a:pPr>
              <a:spcAft>
                <a:spcPts val="1000"/>
              </a:spcAft>
              <a:defRPr sz="2000" b="0">
                <a:solidFill>
                  <a:srgbClr val="24394B"/>
                </a:solidFill>
                <a:latin typeface="Arial"/>
              </a:defRPr>
            </a:pPr>
            <a:r>
              <a:t>Use each endpoint’s documented filters; unsupported clinical list parameters return 400.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Understand freshness and failures</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Interactive edits</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17</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After an OMOP import</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Normal OMOP POSTs refresh the summary in the write path.</a:t>
            </a:r>
          </a:p>
          <a:p>
            <a:pPr>
              <a:spcAft>
                <a:spcPts val="1000"/>
              </a:spcAft>
              <a:defRPr sz="2100" b="0">
                <a:solidFill>
                  <a:srgbClr val="24394B"/>
                </a:solidFill>
                <a:latin typeface="Arial"/>
              </a:defRPr>
            </a:pPr>
            <a:r>
              <a:t>If an authorized pipeline defers with skip_refresh, it must arrange refresh.</a:t>
            </a:r>
          </a:p>
          <a:p>
            <a:pPr>
              <a:spcAft>
                <a:spcPts val="1000"/>
              </a:spcAft>
              <a:defRPr sz="2100" b="0">
                <a:solidFill>
                  <a:srgbClr val="24394B"/>
                </a:solidFill>
                <a:latin typeface="Arial"/>
              </a:defRPr>
            </a:pPr>
            <a:r>
              <a:t>Explicit refresh returns 202 + task_id; poll derivation-status to completion.</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When the summary differs</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Read the stored facts and summary separately.</a:t>
            </a:r>
          </a:p>
          <a:p>
            <a:pPr>
              <a:spcAft>
                <a:spcPts val="1000"/>
              </a:spcAft>
              <a:defRPr sz="2100" b="0">
                <a:solidFill>
                  <a:srgbClr val="24394B"/>
                </a:solidFill>
                <a:latin typeface="Arial"/>
              </a:defRPr>
            </a:pPr>
            <a:r>
              <a:t>Check event dates, mappings, units and pending user edits.</a:t>
            </a:r>
          </a:p>
          <a:p>
            <a:pPr>
              <a:spcAft>
                <a:spcPts val="1000"/>
              </a:spcAft>
              <a:defRPr sz="2100" b="0">
                <a:solidFill>
                  <a:srgbClr val="24394B"/>
                </a:solidFill>
                <a:latin typeface="Arial"/>
              </a:defRPr>
            </a:pPr>
            <a:r>
              <a:t>derived_at describes the last full derivation; interactive PATCH does not advance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Handle errors as part of the integration</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Code mapping contract</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18</a:t>
            </a:r>
          </a:p>
        </p:txBody>
      </p:sp>
      <p:sp>
        <p:nvSpPr>
          <p:cNvPr id="10" name="Rectangle 9"/>
          <p:cNvSpPr/>
          <p:nvPr/>
        </p:nvSpPr>
        <p:spPr>
          <a:xfrm>
            <a:off x="594360" y="1828800"/>
            <a:ext cx="11000232" cy="676656"/>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3852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400 / 406</a:t>
            </a:r>
          </a:p>
        </p:txBody>
      </p:sp>
      <p:sp>
        <p:nvSpPr>
          <p:cNvPr id="12" name="TextBox 11"/>
          <p:cNvSpPr txBox="1"/>
          <p:nvPr/>
        </p:nvSpPr>
        <p:spPr>
          <a:xfrm>
            <a:off x="3886200" y="193852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Fix invalid payloads, filters or unsupported FHIR versions.</a:t>
            </a:r>
          </a:p>
        </p:txBody>
      </p:sp>
      <p:sp>
        <p:nvSpPr>
          <p:cNvPr id="13" name="Rectangle 12"/>
          <p:cNvSpPr/>
          <p:nvPr/>
        </p:nvSpPr>
        <p:spPr>
          <a:xfrm>
            <a:off x="594360" y="2606040"/>
            <a:ext cx="1100023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1576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401 / 403 / 404</a:t>
            </a:r>
          </a:p>
        </p:txBody>
      </p:sp>
      <p:sp>
        <p:nvSpPr>
          <p:cNvPr id="15" name="TextBox 14"/>
          <p:cNvSpPr txBox="1"/>
          <p:nvPr/>
        </p:nvSpPr>
        <p:spPr>
          <a:xfrm>
            <a:off x="3886200" y="271576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Check credential validity, scope and patient access.</a:t>
            </a:r>
          </a:p>
        </p:txBody>
      </p:sp>
      <p:sp>
        <p:nvSpPr>
          <p:cNvPr id="16" name="Rectangle 15"/>
          <p:cNvSpPr/>
          <p:nvPr/>
        </p:nvSpPr>
        <p:spPr>
          <a:xfrm>
            <a:off x="594360" y="3383280"/>
            <a:ext cx="11000232" cy="676656"/>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49300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409 / 413</a:t>
            </a:r>
          </a:p>
        </p:txBody>
      </p:sp>
      <p:sp>
        <p:nvSpPr>
          <p:cNvPr id="18" name="TextBox 17"/>
          <p:cNvSpPr txBox="1"/>
          <p:nvPr/>
        </p:nvSpPr>
        <p:spPr>
          <a:xfrm>
            <a:off x="3886200" y="349300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Reconcile a conflict, or split an oversized batch.</a:t>
            </a:r>
          </a:p>
        </p:txBody>
      </p:sp>
      <p:sp>
        <p:nvSpPr>
          <p:cNvPr id="19" name="Rectangle 18"/>
          <p:cNvSpPr/>
          <p:nvPr/>
        </p:nvSpPr>
        <p:spPr>
          <a:xfrm>
            <a:off x="594360" y="4160520"/>
            <a:ext cx="1100023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27024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429 / network / 5xx</a:t>
            </a:r>
          </a:p>
        </p:txBody>
      </p:sp>
      <p:sp>
        <p:nvSpPr>
          <p:cNvPr id="21" name="TextBox 20"/>
          <p:cNvSpPr txBox="1"/>
          <p:nvPr/>
        </p:nvSpPr>
        <p:spPr>
          <a:xfrm>
            <a:off x="3886200" y="427024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Use bounded backoff; reconcile writes after ambiguous outcomes.</a:t>
            </a:r>
          </a:p>
        </p:txBody>
      </p:sp>
      <p:sp>
        <p:nvSpPr>
          <p:cNvPr id="22" name="Rectangle 21"/>
          <p:cNvSpPr/>
          <p:nvPr/>
        </p:nvSpPr>
        <p:spPr>
          <a:xfrm>
            <a:off x="594360" y="4937760"/>
            <a:ext cx="11000232" cy="676656"/>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47488"/>
            <a:ext cx="3108960" cy="475488"/>
          </a:xfrm>
          <a:prstGeom prst="rect">
            <a:avLst/>
          </a:prstGeom>
          <a:noFill/>
        </p:spPr>
        <p:txBody>
          <a:bodyPr wrap="square" lIns="18288" rIns="18288" tIns="18288" bIns="18288">
            <a:spAutoFit/>
          </a:bodyPr>
          <a:lstStyle/>
          <a:p>
            <a:pPr>
              <a:spcAft>
                <a:spcPts val="1000"/>
              </a:spcAft>
              <a:defRPr sz="1900" b="1">
                <a:solidFill>
                  <a:srgbClr val="007F80"/>
                </a:solidFill>
                <a:latin typeface="Arial"/>
              </a:defRPr>
            </a:pPr>
            <a:r>
              <a:t>200 with omissions</a:t>
            </a:r>
          </a:p>
        </p:txBody>
      </p:sp>
      <p:sp>
        <p:nvSpPr>
          <p:cNvPr id="24" name="TextBox 23"/>
          <p:cNvSpPr txBox="1"/>
          <p:nvPr/>
        </p:nvSpPr>
        <p:spPr>
          <a:xfrm>
            <a:off x="3886200" y="5047488"/>
            <a:ext cx="7406640" cy="512064"/>
          </a:xfrm>
          <a:prstGeom prst="rect">
            <a:avLst/>
          </a:prstGeom>
          <a:noFill/>
        </p:spPr>
        <p:txBody>
          <a:bodyPr wrap="square" lIns="18288" rIns="18288" tIns="18288" bIns="18288">
            <a:spAutoFit/>
          </a:bodyPr>
          <a:lstStyle/>
          <a:p>
            <a:pPr>
              <a:spcAft>
                <a:spcPts val="1000"/>
              </a:spcAft>
              <a:defRPr sz="1900" b="0">
                <a:solidFill>
                  <a:srgbClr val="24394B"/>
                </a:solidFill>
                <a:latin typeface="Arial"/>
              </a:defRPr>
            </a:pPr>
            <a:r>
              <a:t>Inspect FHIR errors and unresolved or skipped wearable metrics.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INTEGRATION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Export and validate your integration</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FHIR export</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API reference</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19</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Retrieve a portable record</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GET patient-records/{person_id}/export-fhir/ returns a FHIR R4 Bundle.</a:t>
            </a:r>
          </a:p>
          <a:p>
            <a:pPr>
              <a:spcAft>
                <a:spcPts val="1000"/>
              </a:spcAft>
              <a:defRPr sz="2100" b="0">
                <a:solidFill>
                  <a:srgbClr val="24394B"/>
                </a:solidFill>
                <a:latin typeface="Arial"/>
              </a:defRPr>
            </a:pPr>
            <a:r>
              <a:t>Use patient detail for the application summary and OMOP endpoints for row-level history.</a:t>
            </a:r>
          </a:p>
          <a:p>
            <a:pPr>
              <a:spcAft>
                <a:spcPts val="1000"/>
              </a:spcAft>
              <a:defRPr sz="2100" b="0">
                <a:solidFill>
                  <a:srgbClr val="24394B"/>
                </a:solidFill>
                <a:latin typeface="Arial"/>
              </a:defRPr>
            </a:pPr>
            <a:r>
              <a:t>Treat the returned schema as the contract.</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Validate with a test patient</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Read back dates, units, concepts and row ids after writing.</a:t>
            </a:r>
          </a:p>
          <a:p>
            <a:pPr>
              <a:spcAft>
                <a:spcPts val="1000"/>
              </a:spcAft>
              <a:defRPr sz="2100" b="0">
                <a:solidFill>
                  <a:srgbClr val="24394B"/>
                </a:solidFill>
                <a:latin typeface="Arial"/>
              </a:defRPr>
            </a:pPr>
            <a:r>
              <a:t>Retry the same batch and inspect duplication.</a:t>
            </a:r>
          </a:p>
          <a:p>
            <a:pPr>
              <a:spcAft>
                <a:spcPts val="1000"/>
              </a:spcAft>
              <a:defRPr sz="2100" b="0">
                <a:solidFill>
                  <a:srgbClr val="24394B"/>
                </a:solidFill>
                <a:latin typeface="Arial"/>
              </a:defRPr>
            </a:pPr>
            <a:r>
              <a:t>Exercise missing mappings, denied access, pagination and partial uploads.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ADVANCED GUIDE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Wearable imports and extensions</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Wearable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Mapping implementation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20</a:t>
            </a:r>
          </a:p>
        </p:txBody>
      </p:sp>
      <p:sp>
        <p:nvSpPr>
          <p:cNvPr id="10" name="TextBox 9"/>
          <p:cNvSpPr txBox="1"/>
          <p:nvPr/>
        </p:nvSpPr>
        <p:spPr>
          <a:xfrm>
            <a:off x="640080" y="1920240"/>
            <a:ext cx="10607040" cy="1097280"/>
          </a:xfrm>
          <a:prstGeom prst="rect">
            <a:avLst/>
          </a:prstGeom>
          <a:noFill/>
        </p:spPr>
        <p:txBody>
          <a:bodyPr wrap="square" lIns="18288" rIns="18288" tIns="18288" bIns="18288">
            <a:spAutoFit/>
          </a:bodyPr>
          <a:lstStyle/>
          <a:p>
            <a:pPr>
              <a:spcAft>
                <a:spcPts val="1000"/>
              </a:spcAft>
              <a:defRPr sz="3200" b="1">
                <a:solidFill>
                  <a:srgbClr val="142C43"/>
                </a:solidFill>
                <a:latin typeface="Arial"/>
              </a:defRPr>
            </a:pPr>
            <a:r>
              <a:t>Start with the existing upload API.</a:t>
            </a:r>
          </a:p>
          <a:p>
            <a:pPr>
              <a:spcAft>
                <a:spcPts val="1000"/>
              </a:spcAft>
              <a:defRPr sz="3200" b="1">
                <a:solidFill>
                  <a:srgbClr val="142C43"/>
                </a:solidFill>
                <a:latin typeface="Arial"/>
              </a:defRPr>
            </a:pPr>
            <a:r>
              <a:t>Extend only the source or metric you need.</a:t>
            </a:r>
          </a:p>
        </p:txBody>
      </p:sp>
      <p:sp>
        <p:nvSpPr>
          <p:cNvPr id="11" name="TextBox 10"/>
          <p:cNvSpPr txBox="1"/>
          <p:nvPr/>
        </p:nvSpPr>
        <p:spPr>
          <a:xfrm>
            <a:off x="640080" y="3685032"/>
            <a:ext cx="10424160" cy="1463040"/>
          </a:xfrm>
          <a:prstGeom prst="rect">
            <a:avLst/>
          </a:prstGeom>
          <a:noFill/>
        </p:spPr>
        <p:txBody>
          <a:bodyPr wrap="square" lIns="18288" rIns="18288" tIns="18288" bIns="18288">
            <a:spAutoFit/>
          </a:bodyPr>
          <a:lstStyle/>
          <a:p>
            <a:pPr>
              <a:spcAft>
                <a:spcPts val="1000"/>
              </a:spcAft>
              <a:defRPr sz="2300" b="0">
                <a:solidFill>
                  <a:srgbClr val="24394B"/>
                </a:solidFill>
                <a:latin typeface="Arial"/>
              </a:defRPr>
            </a:pPr>
            <a:r>
              <a:t>Supported exports → daily samples → approved mappings → OMOP facts</a:t>
            </a:r>
          </a:p>
          <a:p>
            <a:pPr>
              <a:spcAft>
                <a:spcPts val="1000"/>
              </a:spcAft>
              <a:defRPr sz="2300" b="0">
                <a:solidFill>
                  <a:srgbClr val="24394B"/>
                </a:solidFill>
                <a:latin typeface="Arial"/>
              </a:defRPr>
            </a:pPr>
          </a:p>
          <a:p>
            <a:pPr>
              <a:spcAft>
                <a:spcPts val="1000"/>
              </a:spcAft>
              <a:defRPr sz="2300" b="0">
                <a:solidFill>
                  <a:srgbClr val="24394B"/>
                </a:solidFill>
                <a:latin typeface="Arial"/>
              </a:defRPr>
            </a:pPr>
            <a:r>
              <a:t>Your application reads both the daily evidence and derived summaries.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USE</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Upload a supported wearable export</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Endpoint implementation</a:t>
            </a:r>
          </a:p>
        </p:txBody>
      </p:sp>
      <p:sp>
        <p:nvSpPr>
          <p:cNvPr id="8" name="TextBox 7"/>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21</a:t>
            </a:r>
          </a:p>
        </p:txBody>
      </p:sp>
      <p:sp>
        <p:nvSpPr>
          <p:cNvPr id="9" name="Rectangle 8"/>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 Use a patient-linked user token for this endpoint.</a:t>
            </a:r>
          </a:p>
          <a:p>
            <a:pPr>
              <a:spcAft>
                <a:spcPts val="0"/>
              </a:spcAft>
              <a:defRPr sz="1500" b="0">
                <a:solidFill>
                  <a:srgbClr val="FFFFFF"/>
                </a:solidFill>
                <a:latin typeface="Consolas"/>
              </a:defRPr>
            </a:pPr>
            <a:r>
              <a:t>: "${PROMOP_PATIENT_TOKEN:?Set the patient user token}"</a:t>
            </a:r>
          </a:p>
          <a:p>
            <a:pPr>
              <a:spcAft>
                <a:spcPts val="0"/>
              </a:spcAft>
              <a:defRPr sz="1500" b="0">
                <a:solidFill>
                  <a:srgbClr val="FFFFFF"/>
                </a:solidFill>
                <a:latin typeface="Consolas"/>
              </a:defRPr>
            </a:pPr>
            <a:r>
              <a:t>curl --fail-with-body -sS \</a:t>
            </a:r>
          </a:p>
          <a:p>
            <a:pPr>
              <a:spcAft>
                <a:spcPts val="0"/>
              </a:spcAft>
              <a:defRPr sz="1500" b="0">
                <a:solidFill>
                  <a:srgbClr val="FFFFFF"/>
                </a:solidFill>
                <a:latin typeface="Consolas"/>
              </a:defRPr>
            </a:pPr>
            <a:r>
              <a:t>  -H "Authorization: Bearer $PROMOP_PATIENT_TOKEN" \</a:t>
            </a:r>
          </a:p>
          <a:p>
            <a:pPr>
              <a:spcAft>
                <a:spcPts val="0"/>
              </a:spcAft>
              <a:defRPr sz="1500" b="0">
                <a:solidFill>
                  <a:srgbClr val="FFFFFF"/>
                </a:solidFill>
                <a:latin typeface="Consolas"/>
              </a:defRPr>
            </a:pPr>
            <a:r>
              <a:t>  -F "device_type=apple" -F "file=@export.zip" \</a:t>
            </a:r>
          </a:p>
          <a:p>
            <a:pPr>
              <a:spcAft>
                <a:spcPts val="0"/>
              </a:spcAft>
              <a:defRPr sz="1500" b="0">
                <a:solidFill>
                  <a:srgbClr val="FFFFFF"/>
                </a:solidFill>
                <a:latin typeface="Consolas"/>
              </a:defRPr>
            </a:pPr>
            <a:r>
              <a:t>  "$API/patient-records/upload-wearable/" | jq .</a:t>
            </a:r>
          </a:p>
          <a:p>
            <a:pPr>
              <a:spcAft>
                <a:spcPts val="0"/>
              </a:spcAft>
              <a:defRPr sz="1500" b="0">
                <a:solidFill>
                  <a:srgbClr val="FFFFFF"/>
                </a:solidFill>
                <a:latin typeface="Consolas"/>
              </a:defRPr>
            </a:pPr>
          </a:p>
          <a:p>
            <a:pPr>
              <a:spcAft>
                <a:spcPts val="0"/>
              </a:spcAft>
              <a:defRPr sz="1500" b="0">
                <a:solidFill>
                  <a:srgbClr val="FFFFFF"/>
                </a:solidFill>
                <a:latin typeface="Consolas"/>
              </a:defRPr>
            </a:pPr>
            <a:r>
              <a:t>curl --fail-with-body -sS \</a:t>
            </a:r>
          </a:p>
          <a:p>
            <a:pPr>
              <a:spcAft>
                <a:spcPts val="0"/>
              </a:spcAft>
              <a:defRPr sz="1500" b="0">
                <a:solidFill>
                  <a:srgbClr val="FFFFFF"/>
                </a:solidFill>
                <a:latin typeface="Consolas"/>
              </a:defRPr>
            </a:pPr>
            <a:r>
              <a:t>  -H "Authorization: Bearer $PROMOP_PATIENT_TOKEN" \</a:t>
            </a:r>
          </a:p>
          <a:p>
            <a:pPr>
              <a:spcAft>
                <a:spcPts val="0"/>
              </a:spcAft>
              <a:defRPr sz="1500" b="0">
                <a:solidFill>
                  <a:srgbClr val="FFFFFF"/>
                </a:solidFill>
                <a:latin typeface="Consolas"/>
              </a:defRPr>
            </a:pPr>
            <a:r>
              <a:t>  "$API/patient-records/wearable-uploads/" | jq .</a:t>
            </a:r>
          </a:p>
          <a:p>
            <a:pPr>
              <a:spcAft>
                <a:spcPts val="0"/>
              </a:spcAft>
              <a:defRPr sz="1500" b="0">
                <a:solidFill>
                  <a:srgbClr val="FFFFFF"/>
                </a:solidFill>
                <a:latin typeface="Consolas"/>
              </a:defRPr>
            </a:pPr>
          </a:p>
        </p:txBody>
      </p:sp>
      <p:sp>
        <p:nvSpPr>
          <p:cNvPr id="11" name="TextBox 10"/>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Inspect upload counts</a:t>
            </a:r>
          </a:p>
        </p:txBody>
      </p:sp>
      <p:sp>
        <p:nvSpPr>
          <p:cNvPr id="12" name="TextBox 11"/>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Apple: .zip containing export.xml.</a:t>
            </a:r>
          </a:p>
          <a:p>
            <a:pPr>
              <a:spcAft>
                <a:spcPts val="1000"/>
              </a:spcAft>
              <a:defRPr sz="2000" b="0">
                <a:solidFill>
                  <a:srgbClr val="24394B"/>
                </a:solidFill>
                <a:latin typeface="Arial"/>
              </a:defRPr>
            </a:pPr>
            <a:r>
              <a:t>Garmin: .fit with device_type=garmin.</a:t>
            </a:r>
          </a:p>
          <a:p>
            <a:pPr>
              <a:spcAft>
                <a:spcPts val="1000"/>
              </a:spcAft>
              <a:defRPr sz="2000" b="0">
                <a:solidFill>
                  <a:srgbClr val="24394B"/>
                </a:solidFill>
                <a:latin typeface="Arial"/>
              </a:defRPr>
            </a:pPr>
            <a:r>
              <a:t>Check samples_created, duplicates_skipped and unmapped fields when returned.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READ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Interpret wearable summaries carefully</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Summary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Endpoint implementation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22</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Read evidence and coverage</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OMOP rows represent daily aggregates from device exports.</a:t>
            </a:r>
          </a:p>
          <a:p>
            <a:pPr>
              <a:spcAft>
                <a:spcPts val="1000"/>
              </a:spcAft>
              <a:defRPr sz="2100" b="0">
                <a:solidFill>
                  <a:srgbClr val="24394B"/>
                </a:solidFill>
                <a:latin typeface="Arial"/>
              </a:defRPr>
            </a:pPr>
            <a:r>
              <a:t>PatientRecord exposes 30-day summaries and wearable_coverage_ratio_30d.</a:t>
            </a:r>
          </a:p>
          <a:p>
            <a:pPr>
              <a:spcAft>
                <a:spcPts val="1000"/>
              </a:spcAft>
              <a:defRPr sz="2100" b="0">
                <a:solidFill>
                  <a:srgbClr val="24394B"/>
                </a:solidFill>
                <a:latin typeface="Arial"/>
              </a:defRPr>
            </a:pPr>
            <a:r>
              <a:t>Keep SDNN and RMSSD heart-rate variability separate.</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Check the data window</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The summary window is anchored to available data and may be historical.</a:t>
            </a:r>
          </a:p>
          <a:p>
            <a:pPr>
              <a:spcAft>
                <a:spcPts val="1000"/>
              </a:spcAft>
              <a:defRPr sz="2100" b="0">
                <a:solidFill>
                  <a:srgbClr val="24394B"/>
                </a:solidFill>
                <a:latin typeface="Arial"/>
              </a:defRPr>
            </a:pPr>
            <a:r>
              <a:t>wearable_last_sync_at is the selected window anchor, not upload time.</a:t>
            </a:r>
          </a:p>
          <a:p>
            <a:pPr>
              <a:spcAft>
                <a:spcPts val="1000"/>
              </a:spcAft>
              <a:defRPr sz="2100" b="0">
                <a:solidFill>
                  <a:srgbClr val="24394B"/>
                </a:solidFill>
                <a:latin typeface="Arial"/>
              </a:defRPr>
            </a:pPr>
            <a:r>
              <a:t>Coverage counts days with any wearable metric; inspect per-metric gaps too.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EXTEND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Choose how to add a wearable source</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Code mapping contract</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Wearable implementation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23</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Adapter in your integration</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Parse the vendor export or API in your own service.</a:t>
            </a:r>
          </a:p>
          <a:p>
            <a:pPr>
              <a:spcAft>
                <a:spcPts val="1000"/>
              </a:spcAft>
              <a:defRPr sz="2100" b="0">
                <a:solidFill>
                  <a:srgbClr val="24394B"/>
                </a:solidFill>
                <a:latin typeface="Arial"/>
              </a:defRPr>
            </a:pPr>
            <a:r>
              <a:t>Resolve source codes with the Code Mapping API.</a:t>
            </a:r>
          </a:p>
          <a:p>
            <a:pPr>
              <a:spcAft>
                <a:spcPts val="1000"/>
              </a:spcAft>
              <a:defRPr sz="2100" b="0">
                <a:solidFill>
                  <a:srgbClr val="24394B"/>
                </a:solidFill>
                <a:latin typeface="Arial"/>
              </a:defRPr>
            </a:pPr>
            <a:r>
              <a:t>Write dated Measurement / Observation rows through OMOP APIs.</a:t>
            </a:r>
          </a:p>
          <a:p>
            <a:pPr>
              <a:spcAft>
                <a:spcPts val="1000"/>
              </a:spcAft>
              <a:defRPr sz="2100" b="0">
                <a:solidFill>
                  <a:srgbClr val="24394B"/>
                </a:solidFill>
                <a:latin typeface="Arial"/>
              </a:defRPr>
            </a:pPr>
            <a:r>
              <a:t>This fits unattended service imports.</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Adapter in PRomop upload</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Return WearableSample(metric_key, date, value) from a parser.</a:t>
            </a:r>
          </a:p>
          <a:p>
            <a:pPr>
              <a:spcAft>
                <a:spcPts val="1000"/>
              </a:spcAft>
              <a:defRPr sz="2100" b="0">
                <a:solidFill>
                  <a:srgbClr val="24394B"/>
                </a:solidFill>
                <a:latin typeface="Arial"/>
              </a:defRPr>
            </a:pPr>
            <a:r>
              <a:t>Extend device validation, dispatch and approved mapping resolution.</a:t>
            </a:r>
          </a:p>
          <a:p>
            <a:pPr>
              <a:spcAft>
                <a:spcPts val="1000"/>
              </a:spcAft>
              <a:defRPr sz="2100" b="0">
                <a:solidFill>
                  <a:srgbClr val="24394B"/>
                </a:solidFill>
                <a:latin typeface="Arial"/>
              </a:defRPr>
            </a:pPr>
            <a:r>
              <a:t>Use this when patient file upload should accept the new format.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EXTEND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Normalize the source at the adapter boundary</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Wearable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Mapping implementation</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24</a:t>
            </a:r>
          </a:p>
        </p:txBody>
      </p:sp>
      <p:sp>
        <p:nvSpPr>
          <p:cNvPr id="10" name="Rectangle 9"/>
          <p:cNvSpPr/>
          <p:nvPr/>
        </p:nvSpPr>
        <p:spPr>
          <a:xfrm>
            <a:off x="594360" y="1828800"/>
            <a:ext cx="7360920" cy="4114800"/>
          </a:xfrm>
          <a:prstGeom prst="rect">
            <a:avLst/>
          </a:prstGeom>
          <a:solidFill>
            <a:srgbClr val="142C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29968"/>
            <a:ext cx="6958584" cy="3703320"/>
          </a:xfrm>
          <a:prstGeom prst="rect">
            <a:avLst/>
          </a:prstGeom>
          <a:noFill/>
        </p:spPr>
        <p:txBody>
          <a:bodyPr wrap="square" lIns="18288" rIns="18288" tIns="18288" bIns="18288">
            <a:spAutoFit/>
          </a:bodyPr>
          <a:lstStyle/>
          <a:p>
            <a:pPr>
              <a:spcAft>
                <a:spcPts val="0"/>
              </a:spcAft>
              <a:defRPr sz="1500" b="0">
                <a:solidFill>
                  <a:srgbClr val="FFFFFF"/>
                </a:solidFill>
                <a:latin typeface="Consolas"/>
              </a:defRPr>
            </a:pPr>
            <a:r>
              <a:t>from datetime import date</a:t>
            </a:r>
          </a:p>
          <a:p>
            <a:pPr>
              <a:spcAft>
                <a:spcPts val="0"/>
              </a:spcAft>
              <a:defRPr sz="1500" b="0">
                <a:solidFill>
                  <a:srgbClr val="FFFFFF"/>
                </a:solidFill>
                <a:latin typeface="Consolas"/>
              </a:defRPr>
            </a:pPr>
            <a:r>
              <a:t>from omop_core.services.wearable_parsers import (</a:t>
            </a:r>
          </a:p>
          <a:p>
            <a:pPr>
              <a:spcAft>
                <a:spcPts val="0"/>
              </a:spcAft>
              <a:defRPr sz="1500" b="0">
                <a:solidFill>
                  <a:srgbClr val="FFFFFF"/>
                </a:solidFill>
                <a:latin typeface="Consolas"/>
              </a:defRPr>
            </a:pPr>
            <a:r>
              <a:t>    WearableSample,</a:t>
            </a:r>
          </a:p>
          <a:p>
            <a:pPr>
              <a:spcAft>
                <a:spcPts val="0"/>
              </a:spcAft>
              <a:defRPr sz="1500" b="0">
                <a:solidFill>
                  <a:srgbClr val="FFFFFF"/>
                </a:solidFill>
                <a:latin typeface="Consolas"/>
              </a:defRPr>
            </a:pPr>
            <a:r>
              <a:t>)</a:t>
            </a:r>
          </a:p>
          <a:p>
            <a:pPr>
              <a:spcAft>
                <a:spcPts val="0"/>
              </a:spcAft>
              <a:defRPr sz="1500" b="0">
                <a:solidFill>
                  <a:srgbClr val="FFFFFF"/>
                </a:solidFill>
                <a:latin typeface="Consolas"/>
              </a:defRPr>
            </a:pPr>
          </a:p>
          <a:p>
            <a:pPr>
              <a:spcAft>
                <a:spcPts val="0"/>
              </a:spcAft>
              <a:defRPr sz="1500" b="0">
                <a:solidFill>
                  <a:srgbClr val="FFFFFF"/>
                </a:solidFill>
                <a:latin typeface="Consolas"/>
              </a:defRPr>
            </a:pPr>
            <a:r>
              <a:t># Illustrative output after parsing and normalizing one day:</a:t>
            </a:r>
          </a:p>
          <a:p>
            <a:pPr>
              <a:spcAft>
                <a:spcPts val="0"/>
              </a:spcAft>
              <a:defRPr sz="1500" b="0">
                <a:solidFill>
                  <a:srgbClr val="FFFFFF"/>
                </a:solidFill>
                <a:latin typeface="Consolas"/>
              </a:defRPr>
            </a:pPr>
            <a:r>
              <a:t>samples = [</a:t>
            </a:r>
          </a:p>
          <a:p>
            <a:pPr>
              <a:spcAft>
                <a:spcPts val="0"/>
              </a:spcAft>
              <a:defRPr sz="1500" b="0">
                <a:solidFill>
                  <a:srgbClr val="FFFFFF"/>
                </a:solidFill>
                <a:latin typeface="Consolas"/>
              </a:defRPr>
            </a:pPr>
            <a:r>
              <a:t>    WearableSample("resting_hr", date(2026, 9, 1), 58.0),</a:t>
            </a:r>
          </a:p>
          <a:p>
            <a:pPr>
              <a:spcAft>
                <a:spcPts val="0"/>
              </a:spcAft>
              <a:defRPr sz="1500" b="0">
                <a:solidFill>
                  <a:srgbClr val="FFFFFF"/>
                </a:solidFill>
                <a:latin typeface="Consolas"/>
              </a:defRPr>
            </a:pPr>
            <a:r>
              <a:t>    WearableSample("hrv_rmssd", date(2026, 9, 1), 45.2),</a:t>
            </a:r>
          </a:p>
          <a:p>
            <a:pPr>
              <a:spcAft>
                <a:spcPts val="0"/>
              </a:spcAft>
              <a:defRPr sz="1500" b="0">
                <a:solidFill>
                  <a:srgbClr val="FFFFFF"/>
                </a:solidFill>
                <a:latin typeface="Consolas"/>
              </a:defRPr>
            </a:pPr>
            <a:r>
              <a:t>    WearableSample("sleep_duration", date(2026, 9, 1), 7.3),</a:t>
            </a:r>
          </a:p>
          <a:p>
            <a:pPr>
              <a:spcAft>
                <a:spcPts val="0"/>
              </a:spcAft>
              <a:defRPr sz="1500" b="0">
                <a:solidFill>
                  <a:srgbClr val="FFFFFF"/>
                </a:solidFill>
                <a:latin typeface="Consolas"/>
              </a:defRPr>
            </a:pPr>
            <a:r>
              <a:t>]</a:t>
            </a:r>
          </a:p>
          <a:p>
            <a:pPr>
              <a:spcAft>
                <a:spcPts val="0"/>
              </a:spcAft>
              <a:defRPr sz="1500" b="0">
                <a:solidFill>
                  <a:srgbClr val="FFFFFF"/>
                </a:solidFill>
                <a:latin typeface="Consolas"/>
              </a:defRPr>
            </a:pPr>
          </a:p>
        </p:txBody>
      </p:sp>
      <p:sp>
        <p:nvSpPr>
          <p:cNvPr id="12" name="TextBox 11"/>
          <p:cNvSpPr txBox="1"/>
          <p:nvPr/>
        </p:nvSpPr>
        <p:spPr>
          <a:xfrm>
            <a:off x="8266175" y="1947672"/>
            <a:ext cx="3154680" cy="59436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Define the semantics</a:t>
            </a:r>
          </a:p>
        </p:txBody>
      </p:sp>
      <p:sp>
        <p:nvSpPr>
          <p:cNvPr id="13" name="TextBox 12"/>
          <p:cNvSpPr txBox="1"/>
          <p:nvPr/>
        </p:nvSpPr>
        <p:spPr>
          <a:xfrm>
            <a:off x="8266175" y="2688336"/>
            <a:ext cx="3182112" cy="3246120"/>
          </a:xfrm>
          <a:prstGeom prst="rect">
            <a:avLst/>
          </a:prstGeom>
          <a:noFill/>
        </p:spPr>
        <p:txBody>
          <a:bodyPr wrap="square" lIns="18288" rIns="18288" tIns="18288" bIns="18288">
            <a:spAutoFit/>
          </a:bodyPr>
          <a:lstStyle/>
          <a:p>
            <a:pPr>
              <a:spcAft>
                <a:spcPts val="1000"/>
              </a:spcAft>
              <a:defRPr sz="2000" b="0">
                <a:solidFill>
                  <a:srgbClr val="24394B"/>
                </a:solidFill>
                <a:latin typeface="Arial"/>
              </a:defRPr>
            </a:pPr>
            <a:r>
              <a:t>Normalize units and day boundaries before writing.</a:t>
            </a:r>
          </a:p>
          <a:p>
            <a:pPr>
              <a:spcAft>
                <a:spcPts val="1000"/>
              </a:spcAft>
              <a:defRPr sz="2000" b="0">
                <a:solidFill>
                  <a:srgbClr val="24394B"/>
                </a:solidFill>
                <a:latin typeface="Arial"/>
              </a:defRPr>
            </a:pPr>
            <a:r>
              <a:t>Sum cumulative metrics; average rates where appropriate.</a:t>
            </a:r>
          </a:p>
          <a:p>
            <a:pPr>
              <a:spcAft>
                <a:spcPts val="1000"/>
              </a:spcAft>
              <a:defRPr sz="2000" b="0">
                <a:solidFill>
                  <a:srgbClr val="24394B"/>
                </a:solidFill>
                <a:latin typeface="Arial"/>
              </a:defRPr>
            </a:pPr>
            <a:r>
              <a:t>Confirm the source HRV statistic. Missing values are not zero.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EXTEND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Register a source through approved mappings</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Mapping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Code mapping contract</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25</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Existing upload behavior</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Apple source codes are HealthKit identifiers; Garmin source codes are metric keys.</a:t>
            </a:r>
          </a:p>
          <a:p>
            <a:pPr>
              <a:spcAft>
                <a:spcPts val="1000"/>
              </a:spcAft>
              <a:defRPr sz="2100" b="0">
                <a:solidFill>
                  <a:srgbClr val="24394B"/>
                </a:solidFill>
                <a:latin typeface="Arial"/>
              </a:defRPr>
            </a:pPr>
            <a:r>
              <a:t>Approved source-code mappings supply the destination concept.</a:t>
            </a:r>
          </a:p>
          <a:p>
            <a:pPr>
              <a:spcAft>
                <a:spcPts val="1000"/>
              </a:spcAft>
              <a:defRPr sz="2100" b="0">
                <a:solidFill>
                  <a:srgbClr val="24394B"/>
                </a:solidFill>
                <a:latin typeface="Arial"/>
              </a:defRPr>
            </a:pPr>
            <a:r>
              <a:t>The destination domain selects Measurement or Observation.</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New-source implementation</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Add explicit device_type validation and parser dispatch.</a:t>
            </a:r>
          </a:p>
          <a:p>
            <a:pPr>
              <a:spcAft>
                <a:spcPts val="1000"/>
              </a:spcAft>
              <a:defRPr sz="2100" b="0">
                <a:solidFill>
                  <a:srgbClr val="24394B"/>
                </a:solidFill>
                <a:latin typeface="Arial"/>
              </a:defRPr>
            </a:pPr>
            <a:r>
              <a:t>Extend the mapping resolver for the new source vocabulary.</a:t>
            </a:r>
          </a:p>
          <a:p>
            <a:pPr>
              <a:spcAft>
                <a:spcPts val="1000"/>
              </a:spcAft>
              <a:defRPr sz="2100" b="0">
                <a:solidFill>
                  <a:srgbClr val="24394B"/>
                </a:solidFill>
                <a:latin typeface="Arial"/>
              </a:defRPr>
            </a:pPr>
            <a:r>
              <a:t>Arrange mapping review; do not introduce a fallback code map.</a:t>
            </a:r>
          </a:p>
          <a:p>
            <a:pPr>
              <a:spcAft>
                <a:spcPts val="1000"/>
              </a:spcAft>
              <a:defRPr sz="2100" b="0">
                <a:solidFill>
                  <a:srgbClr val="24394B"/>
                </a:solidFill>
                <a:latin typeface="Arial"/>
              </a:defRPr>
            </a:pPr>
            <a:r>
              <a:t>Report unsupported and unmapped samples.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EXTEND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A new metric is a separate extension</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Mapping implementation</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Wearable mapping reference</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26</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Required for stored facts</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Define the quantity, statistic, units and daily aggregation.</a:t>
            </a:r>
          </a:p>
          <a:p>
            <a:pPr>
              <a:spcAft>
                <a:spcPts val="1000"/>
              </a:spcAft>
              <a:defRPr sz="2100" b="0">
                <a:solidFill>
                  <a:srgbClr val="24394B"/>
                </a:solidFill>
                <a:latin typeface="Arial"/>
              </a:defRPr>
            </a:pPr>
            <a:r>
              <a:t>Add parser extraction and validation bounds.</a:t>
            </a:r>
          </a:p>
          <a:p>
            <a:pPr>
              <a:spcAft>
                <a:spcPts val="1000"/>
              </a:spcAft>
              <a:defRPr sz="2100" b="0">
                <a:solidFill>
                  <a:srgbClr val="24394B"/>
                </a:solidFill>
                <a:latin typeface="Arial"/>
              </a:defRPr>
            </a:pPr>
            <a:r>
              <a:t>Resolve an appropriate concept through mapping review; keep vendor scores distinct.</a:t>
            </a:r>
          </a:p>
          <a:p>
            <a:pPr>
              <a:spcAft>
                <a:spcPts val="1000"/>
              </a:spcAft>
              <a:defRPr sz="2100" b="0">
                <a:solidFill>
                  <a:srgbClr val="24394B"/>
                </a:solidFill>
                <a:latin typeface="Arial"/>
              </a:defRPr>
            </a:pPr>
            <a:r>
              <a:t>Verify domain routing and read-back.</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Optional summary support</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Only add a new PatientRecord summary if consumers need one.</a:t>
            </a:r>
          </a:p>
          <a:p>
            <a:pPr>
              <a:spcAft>
                <a:spcPts val="1000"/>
              </a:spcAft>
              <a:defRPr sz="2100" b="0">
                <a:solidFill>
                  <a:srgbClr val="24394B"/>
                </a:solidFill>
                <a:latin typeface="Arial"/>
              </a:defRPr>
            </a:pPr>
            <a:r>
              <a:t>Define the window, coverage and calculation first.</a:t>
            </a:r>
          </a:p>
          <a:p>
            <a:pPr>
              <a:spcAft>
                <a:spcPts val="1000"/>
              </a:spcAft>
              <a:defRPr sz="2100" b="0">
                <a:solidFill>
                  <a:srgbClr val="24394B"/>
                </a:solidFill>
                <a:latin typeface="Arial"/>
              </a:defRPr>
            </a:pPr>
            <a:r>
              <a:t>Then extend derivation and read-only exposure.</a:t>
            </a:r>
          </a:p>
          <a:p>
            <a:pPr>
              <a:spcAft>
                <a:spcPts val="1000"/>
              </a:spcAft>
              <a:defRPr sz="2100" b="0">
                <a:solidFill>
                  <a:srgbClr val="24394B"/>
                </a:solidFill>
                <a:latin typeface="Arial"/>
              </a:defRPr>
            </a:pPr>
            <a:r>
              <a:t>A new device using existing metrics needs no new summary field.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007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274320"/>
          </a:xfrm>
          <a:prstGeom prst="rect">
            <a:avLst/>
          </a:prstGeom>
          <a:noFill/>
        </p:spPr>
        <p:txBody>
          <a:bodyPr wrap="square" lIns="18288" rIns="18288" tIns="18288" bIns="18288">
            <a:spAutoFit/>
          </a:bodyPr>
          <a:lstStyle/>
          <a:p>
            <a:pPr>
              <a:spcAft>
                <a:spcPts val="1000"/>
              </a:spcAft>
              <a:defRPr sz="1100" b="1">
                <a:solidFill>
                  <a:srgbClr val="007F80"/>
                </a:solidFill>
                <a:latin typeface="Arial"/>
              </a:defRPr>
            </a:pPr>
            <a:r>
              <a:t>WEARABLES / EXTEND</a:t>
            </a:r>
          </a:p>
        </p:txBody>
      </p:sp>
      <p:sp>
        <p:nvSpPr>
          <p:cNvPr id="4" name="TextBox 3"/>
          <p:cNvSpPr txBox="1"/>
          <p:nvPr/>
        </p:nvSpPr>
        <p:spPr>
          <a:xfrm>
            <a:off x="594360" y="777240"/>
            <a:ext cx="10972800" cy="914400"/>
          </a:xfrm>
          <a:prstGeom prst="rect">
            <a:avLst/>
          </a:prstGeom>
          <a:noFill/>
        </p:spPr>
        <p:txBody>
          <a:bodyPr wrap="square" lIns="18288" rIns="18288" tIns="18288" bIns="18288">
            <a:spAutoFit/>
          </a:bodyPr>
          <a:lstStyle/>
          <a:p>
            <a:pPr>
              <a:spcAft>
                <a:spcPts val="1000"/>
              </a:spcAft>
              <a:defRPr sz="3100" b="1">
                <a:solidFill>
                  <a:srgbClr val="142C43"/>
                </a:solidFill>
                <a:latin typeface="Arial"/>
              </a:defRPr>
            </a:pPr>
            <a:r>
              <a:t>Verify the adapter and use the references</a:t>
            </a:r>
          </a:p>
        </p:txBody>
      </p:sp>
      <p:sp>
        <p:nvSpPr>
          <p:cNvPr id="5" name="Rectangle 4"/>
          <p:cNvSpPr/>
          <p:nvPr/>
        </p:nvSpPr>
        <p:spPr>
          <a:xfrm>
            <a:off x="594360" y="6327648"/>
            <a:ext cx="10972800" cy="10972"/>
          </a:xfrm>
          <a:prstGeom prst="rect">
            <a:avLst/>
          </a:prstGeom>
          <a:solidFill>
            <a:srgbClr val="D7E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2743200" cy="18288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PRomop  /  Developer guide</a:t>
            </a:r>
          </a:p>
        </p:txBody>
      </p:sp>
      <p:sp>
        <p:nvSpPr>
          <p:cNvPr id="7" name="TextBox 6"/>
          <p:cNvSpPr txBox="1"/>
          <p:nvPr/>
        </p:nvSpPr>
        <p:spPr>
          <a:xfrm>
            <a:off x="338328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2"/>
              </a:rPr>
              <a:t>Code mapping contract</a:t>
            </a:r>
          </a:p>
        </p:txBody>
      </p:sp>
      <p:sp>
        <p:nvSpPr>
          <p:cNvPr id="8" name="TextBox 7"/>
          <p:cNvSpPr txBox="1"/>
          <p:nvPr/>
        </p:nvSpPr>
        <p:spPr>
          <a:xfrm>
            <a:off x="6675120" y="6455664"/>
            <a:ext cx="3200400" cy="210312"/>
          </a:xfrm>
          <a:prstGeom prst="rect">
            <a:avLst/>
          </a:prstGeom>
          <a:noFill/>
        </p:spPr>
        <p:txBody>
          <a:bodyPr wrap="square" lIns="18288" rIns="18288" tIns="18288" bIns="18288">
            <a:spAutoFit/>
          </a:bodyPr>
          <a:lstStyle/>
          <a:p>
            <a:pPr>
              <a:spcAft>
                <a:spcPts val="1000"/>
              </a:spcAft>
              <a:defRPr sz="1000" b="0">
                <a:solidFill>
                  <a:srgbClr val="007F80"/>
                </a:solidFill>
                <a:latin typeface="Arial"/>
              </a:defRPr>
            </a:pPr>
            <a:r>
              <a:rPr>
                <a:hlinkClick r:id="rId3"/>
              </a:rPr>
              <a:t>Documentation index</a:t>
            </a:r>
          </a:p>
        </p:txBody>
      </p:sp>
      <p:sp>
        <p:nvSpPr>
          <p:cNvPr id="9" name="TextBox 8"/>
          <p:cNvSpPr txBox="1"/>
          <p:nvPr/>
        </p:nvSpPr>
        <p:spPr>
          <a:xfrm>
            <a:off x="11018520" y="6446520"/>
            <a:ext cx="548640" cy="228600"/>
          </a:xfrm>
          <a:prstGeom prst="rect">
            <a:avLst/>
          </a:prstGeom>
          <a:noFill/>
        </p:spPr>
        <p:txBody>
          <a:bodyPr wrap="square" lIns="18288" rIns="18288" tIns="18288" bIns="18288">
            <a:spAutoFit/>
          </a:bodyPr>
          <a:lstStyle/>
          <a:p>
            <a:pPr>
              <a:spcAft>
                <a:spcPts val="1000"/>
              </a:spcAft>
              <a:defRPr sz="1000" b="0">
                <a:solidFill>
                  <a:srgbClr val="52677A"/>
                </a:solidFill>
                <a:latin typeface="Arial"/>
              </a:defRPr>
            </a:pPr>
            <a:r>
              <a:t>27</a:t>
            </a:r>
          </a:p>
        </p:txBody>
      </p:sp>
      <p:sp>
        <p:nvSpPr>
          <p:cNvPr id="10" name="Rectangle 9"/>
          <p:cNvSpPr/>
          <p:nvPr/>
        </p:nvSpPr>
        <p:spPr>
          <a:xfrm>
            <a:off x="59436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Adapter acceptance checks</a:t>
            </a:r>
          </a:p>
        </p:txBody>
      </p:sp>
      <p:sp>
        <p:nvSpPr>
          <p:cNvPr id="12" name="TextBox 11"/>
          <p:cNvSpPr txBox="1"/>
          <p:nvPr/>
        </p:nvSpPr>
        <p:spPr>
          <a:xfrm>
            <a:off x="795528"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Fixture → expected daily samples, units and dates.</a:t>
            </a:r>
          </a:p>
          <a:p>
            <a:pPr>
              <a:spcAft>
                <a:spcPts val="1000"/>
              </a:spcAft>
              <a:defRPr sz="2100" b="0">
                <a:solidFill>
                  <a:srgbClr val="24394B"/>
                </a:solidFill>
                <a:latin typeface="Arial"/>
              </a:defRPr>
            </a:pPr>
            <a:r>
              <a:t>Mapping → expected OMOP domain and concept.</a:t>
            </a:r>
          </a:p>
          <a:p>
            <a:pPr>
              <a:spcAft>
                <a:spcPts val="1000"/>
              </a:spcAft>
              <a:defRPr sz="2100" b="0">
                <a:solidFill>
                  <a:srgbClr val="24394B"/>
                </a:solidFill>
                <a:latin typeface="Arial"/>
              </a:defRPr>
            </a:pPr>
            <a:r>
              <a:t>Repeat upload → inspect duplicates and changed readings.</a:t>
            </a:r>
          </a:p>
          <a:p>
            <a:pPr>
              <a:spcAft>
                <a:spcPts val="1000"/>
              </a:spcAft>
              <a:defRPr sz="2100" b="0">
                <a:solidFill>
                  <a:srgbClr val="24394B"/>
                </a:solidFill>
                <a:latin typeface="Arial"/>
              </a:defRPr>
            </a:pPr>
            <a:r>
              <a:t>Test sparse data, malformed files and unmapped metrics.</a:t>
            </a:r>
          </a:p>
        </p:txBody>
      </p:sp>
      <p:sp>
        <p:nvSpPr>
          <p:cNvPr id="13" name="Rectangle 12"/>
          <p:cNvSpPr/>
          <p:nvPr/>
        </p:nvSpPr>
        <p:spPr>
          <a:xfrm>
            <a:off x="6263640" y="1828800"/>
            <a:ext cx="5330952" cy="4096512"/>
          </a:xfrm>
          <a:prstGeom prst="rect">
            <a:avLst/>
          </a:prstGeom>
          <a:solidFill>
            <a:srgbClr val="EF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4807" y="2039112"/>
            <a:ext cx="4892040" cy="502920"/>
          </a:xfrm>
          <a:prstGeom prst="rect">
            <a:avLst/>
          </a:prstGeom>
          <a:noFill/>
        </p:spPr>
        <p:txBody>
          <a:bodyPr wrap="square" lIns="18288" rIns="18288" tIns="18288" bIns="18288">
            <a:spAutoFit/>
          </a:bodyPr>
          <a:lstStyle/>
          <a:p>
            <a:pPr>
              <a:spcAft>
                <a:spcPts val="1000"/>
              </a:spcAft>
              <a:defRPr sz="2200" b="1">
                <a:solidFill>
                  <a:srgbClr val="007F80"/>
                </a:solidFill>
                <a:latin typeface="Arial"/>
              </a:defRPr>
            </a:pPr>
            <a:r>
              <a:t>Keep these references close</a:t>
            </a:r>
          </a:p>
        </p:txBody>
      </p:sp>
      <p:sp>
        <p:nvSpPr>
          <p:cNvPr id="15" name="TextBox 14"/>
          <p:cNvSpPr txBox="1"/>
          <p:nvPr/>
        </p:nvSpPr>
        <p:spPr>
          <a:xfrm>
            <a:off x="6464807" y="2697480"/>
            <a:ext cx="4864608" cy="3017520"/>
          </a:xfrm>
          <a:prstGeom prst="rect">
            <a:avLst/>
          </a:prstGeom>
          <a:noFill/>
        </p:spPr>
        <p:txBody>
          <a:bodyPr wrap="square" lIns="18288" rIns="18288" tIns="18288" bIns="18288">
            <a:spAutoFit/>
          </a:bodyPr>
          <a:lstStyle/>
          <a:p>
            <a:pPr>
              <a:spcAft>
                <a:spcPts val="1000"/>
              </a:spcAft>
              <a:defRPr sz="2100" b="0">
                <a:solidFill>
                  <a:srgbClr val="24394B"/>
                </a:solidFill>
                <a:latin typeface="Arial"/>
              </a:defRPr>
            </a:pPr>
            <a:r>
              <a:t>API schema: /api/v1/schema/</a:t>
            </a:r>
          </a:p>
          <a:p>
            <a:pPr>
              <a:spcAft>
                <a:spcPts val="1000"/>
              </a:spcAft>
              <a:defRPr sz="2100" b="0">
                <a:solidFill>
                  <a:srgbClr val="24394B"/>
                </a:solidFill>
                <a:latin typeface="Arial"/>
              </a:defRPr>
            </a:pPr>
            <a:r>
              <a:t>Interactive API: /api/v1/docs/</a:t>
            </a:r>
          </a:p>
          <a:p>
            <a:pPr>
              <a:spcAft>
                <a:spcPts val="1000"/>
              </a:spcAft>
              <a:defRPr sz="2100" b="0">
                <a:solidFill>
                  <a:srgbClr val="24394B"/>
                </a:solidFill>
                <a:latin typeface="Arial"/>
              </a:defRPr>
            </a:pPr>
            <a:r>
              <a:t>Code Mapping API: ingest resolution.</a:t>
            </a:r>
          </a:p>
          <a:p>
            <a:pPr>
              <a:spcAft>
                <a:spcPts val="1000"/>
              </a:spcAft>
              <a:defRPr sz="2100" b="0">
                <a:solidFill>
                  <a:srgbClr val="24394B"/>
                </a:solidFill>
                <a:latin typeface="Arial"/>
              </a:defRPr>
            </a:pPr>
            <a:r>
              <a:t>PatientRecord writes: editor semantics.</a:t>
            </a:r>
          </a:p>
          <a:p>
            <a:pPr>
              <a:spcAft>
                <a:spcPts val="1000"/>
              </a:spcAft>
              <a:defRPr sz="2100" b="0">
                <a:solidFill>
                  <a:srgbClr val="24394B"/>
                </a:solidFill>
                <a:latin typeface="Arial"/>
              </a:defRPr>
            </a:pPr>
            <a:r>
              <a:t>Wearable parsers and mappings: extension contracts.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PRomop Developer Guide</dc:title>
  <dc:subject>Using PRomop to store and retrieve clinical data, and extend wearable imports</dc:subject>
  <dc:creator>PRomop</dc:creator>
  <cp:keywords>OMOP, FHIR, integration, wearable, PatientRecord</cp:keywords>
  <dc:description>Integration-focused revision. Examples checked against repository implementation; no live patient writes performed.</dc:description>
  <cp:lastModifiedBy>Steve Canny</cp:lastModifiedBy>
  <cp:revision>1</cp:revision>
  <dcterms:created xsi:type="dcterms:W3CDTF">2013-01-27T09:14:16Z</dcterms:created>
  <dcterms:modified xsi:type="dcterms:W3CDTF">2013-01-27T09:15:58Z</dcterms:modified>
  <cp:category/>
</cp:coreProperties>
</file>